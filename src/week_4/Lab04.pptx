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Times New Roman Bold" charset="1" panose="02020803070505020304"/>
      <p:regular r:id="rId49"/>
    </p:embeddedFont>
    <p:embeddedFont>
      <p:font typeface="Times New Roman" charset="1" panose="02020603050405020304"/>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embeddings/oleObject2.bin" Type="http://schemas.openxmlformats.org/officeDocument/2006/relationships/oleObject"/><Relationship Id="rId4" Target="../media/image5.png" Type="http://schemas.openxmlformats.org/officeDocument/2006/relationships/image"/><Relationship Id="rId5" Target="../embeddings/oleObject3.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4.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embeddings/oleObject5.bin" Type="http://schemas.openxmlformats.org/officeDocument/2006/relationships/oleObject"/><Relationship Id="rId4" Target="../media/image8.png" Type="http://schemas.openxmlformats.org/officeDocument/2006/relationships/image"/><Relationship Id="rId5" Target="../embeddings/oleObject6.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embeddings/oleObject7.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embeddings/oleObject8.bin" Type="http://schemas.openxmlformats.org/officeDocument/2006/relationships/oleObjec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embeddings/oleObject9.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0.bin" Type="http://schemas.openxmlformats.org/officeDocument/2006/relationships/oleObjec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embeddings/oleObject11.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2.bin" Type="http://schemas.openxmlformats.org/officeDocument/2006/relationships/oleObject"/><Relationship Id="rId4" Target="../media/image1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embeddings/oleObject13.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embeddings/oleObject14.bin" Type="http://schemas.openxmlformats.org/officeDocument/2006/relationships/oleObjec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embeddings/oleObject15.bin" Type="http://schemas.openxmlformats.org/officeDocument/2006/relationships/oleObject"/><Relationship Id="rId4" Target="../media/image2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embeddings/oleObject16.bin" Type="http://schemas.openxmlformats.org/officeDocument/2006/relationships/oleObjec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embeddings/oleObject17.bin" Type="http://schemas.openxmlformats.org/officeDocument/2006/relationships/oleObjec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33795" y="3577642"/>
            <a:ext cx="18966714" cy="10920189"/>
            <a:chOff x="0" y="0"/>
            <a:chExt cx="4995349" cy="2876099"/>
          </a:xfrm>
        </p:grpSpPr>
        <p:sp>
          <p:nvSpPr>
            <p:cNvPr name="Freeform 3" id="3"/>
            <p:cNvSpPr/>
            <p:nvPr/>
          </p:nvSpPr>
          <p:spPr>
            <a:xfrm flipH="false" flipV="false" rot="0">
              <a:off x="0" y="0"/>
              <a:ext cx="4995349" cy="2876099"/>
            </a:xfrm>
            <a:custGeom>
              <a:avLst/>
              <a:gdLst/>
              <a:ahLst/>
              <a:cxnLst/>
              <a:rect r="r" b="b" t="t" l="l"/>
              <a:pathLst>
                <a:path h="2876099" w="4995349">
                  <a:moveTo>
                    <a:pt x="0" y="0"/>
                  </a:moveTo>
                  <a:lnTo>
                    <a:pt x="4995349" y="0"/>
                  </a:lnTo>
                  <a:lnTo>
                    <a:pt x="4995349" y="2876099"/>
                  </a:lnTo>
                  <a:lnTo>
                    <a:pt x="0" y="2876099"/>
                  </a:lnTo>
                  <a:close/>
                </a:path>
              </a:pathLst>
            </a:custGeom>
            <a:solidFill>
              <a:srgbClr val="000000">
                <a:alpha val="0"/>
              </a:srgbClr>
            </a:solidFill>
            <a:ln w="552450" cap="sq">
              <a:solidFill>
                <a:srgbClr val="004AAD"/>
              </a:solidFill>
              <a:prstDash val="solid"/>
              <a:miter/>
            </a:ln>
          </p:spPr>
        </p:sp>
        <p:sp>
          <p:nvSpPr>
            <p:cNvPr name="TextBox 4" id="4"/>
            <p:cNvSpPr txBox="true"/>
            <p:nvPr/>
          </p:nvSpPr>
          <p:spPr>
            <a:xfrm>
              <a:off x="0" y="-38100"/>
              <a:ext cx="4995349" cy="291419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82863">
            <a:off x="9433337" y="2214631"/>
            <a:ext cx="7742573" cy="6319909"/>
          </a:xfrm>
          <a:custGeom>
            <a:avLst/>
            <a:gdLst/>
            <a:ahLst/>
            <a:cxnLst/>
            <a:rect r="r" b="b" t="t" l="l"/>
            <a:pathLst>
              <a:path h="6319909" w="7742573">
                <a:moveTo>
                  <a:pt x="0" y="0"/>
                </a:moveTo>
                <a:lnTo>
                  <a:pt x="7742573" y="0"/>
                </a:lnTo>
                <a:lnTo>
                  <a:pt x="7742573" y="6319909"/>
                </a:lnTo>
                <a:lnTo>
                  <a:pt x="0" y="6319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32055" y="2033500"/>
            <a:ext cx="8115300" cy="4903979"/>
          </a:xfrm>
          <a:prstGeom prst="rect">
            <a:avLst/>
          </a:prstGeom>
        </p:spPr>
        <p:txBody>
          <a:bodyPr anchor="t" rtlCol="false" tIns="0" lIns="0" bIns="0" rIns="0">
            <a:spAutoFit/>
          </a:bodyPr>
          <a:lstStyle/>
          <a:p>
            <a:pPr algn="l">
              <a:lnSpc>
                <a:spcPts val="9476"/>
              </a:lnSpc>
            </a:pPr>
            <a:r>
              <a:rPr lang="en-US" sz="9200" b="true">
                <a:solidFill>
                  <a:srgbClr val="004AAD"/>
                </a:solidFill>
                <a:latin typeface="Times New Roman Bold"/>
                <a:ea typeface="Times New Roman Bold"/>
                <a:cs typeface="Times New Roman Bold"/>
                <a:sym typeface="Times New Roman Bold"/>
              </a:rPr>
              <a:t>Giải các trò chơi bằng thuật toán search uncertainty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588717" y="2109538"/>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34008" y="429260"/>
            <a:ext cx="16316993" cy="11995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Mô tả trò chơi Tic-Tac-Toe và mô hình hóa bài toán tìm kiếm trong AI.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Mô hình hóa bài toán tìm kiếm (Search Problem Definition):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347154" y="1545971"/>
          <a:ext cx="3771900" cy="3143250"/>
        </p:xfrm>
        <a:graphic>
          <a:graphicData uri="http://schemas.openxmlformats.org/presentationml/2006/ole">
            <p:oleObj imgW="4521200" imgH="3886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41295" y="271690"/>
            <a:ext cx="5940028"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Các hàm trong mô hình trò chơi</a:t>
            </a:r>
          </a:p>
        </p:txBody>
      </p:sp>
      <p:sp>
        <p:nvSpPr>
          <p:cNvPr name="TextBox 4" id="4"/>
          <p:cNvSpPr txBox="true"/>
          <p:nvPr/>
        </p:nvSpPr>
        <p:spPr>
          <a:xfrm rot="0">
            <a:off x="7348839" y="271690"/>
            <a:ext cx="1065847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Ước lượng kích thước không gian trạng thái (State Space)</a:t>
            </a:r>
          </a:p>
        </p:txBody>
      </p:sp>
      <p:sp>
        <p:nvSpPr>
          <p:cNvPr name="TextBox 5" id="5"/>
          <p:cNvSpPr txBox="true"/>
          <p:nvPr/>
        </p:nvSpPr>
        <p:spPr>
          <a:xfrm rot="0">
            <a:off x="7671796" y="1154580"/>
            <a:ext cx="10028958" cy="299974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Times New Roman"/>
                <a:ea typeface="Times New Roman"/>
                <a:cs typeface="Times New Roman"/>
                <a:sym typeface="Times New Roman"/>
              </a:rPr>
              <a:t>· Mỗi ô trong bàn cờ có 3 trạng thái: 'x', 'o', ' '</a:t>
            </a:r>
          </a:p>
          <a:p>
            <a:pPr algn="l">
              <a:lnSpc>
                <a:spcPts val="4759"/>
              </a:lnSpc>
              <a:spcBef>
                <a:spcPct val="0"/>
              </a:spcBef>
            </a:pPr>
            <a:r>
              <a:rPr lang="en-US" sz="3399">
                <a:solidFill>
                  <a:srgbClr val="000000"/>
                </a:solidFill>
                <a:latin typeface="Times New Roman"/>
                <a:ea typeface="Times New Roman"/>
                <a:cs typeface="Times New Roman"/>
                <a:sym typeface="Times New Roman"/>
              </a:rPr>
              <a:t>→ Tổng số trạng thái tối đa: </a:t>
            </a:r>
          </a:p>
          <a:p>
            <a:pPr algn="l">
              <a:lnSpc>
                <a:spcPts val="4759"/>
              </a:lnSpc>
              <a:spcBef>
                <a:spcPct val="0"/>
              </a:spcBef>
            </a:pPr>
            <a:r>
              <a:rPr lang="en-US" sz="3399">
                <a:solidFill>
                  <a:srgbClr val="000000"/>
                </a:solidFill>
                <a:latin typeface="Times New Roman"/>
                <a:ea typeface="Times New Roman"/>
                <a:cs typeface="Times New Roman"/>
                <a:sym typeface="Times New Roman"/>
              </a:rPr>
              <a:t>· Tuy nhiên, nhiều trạng thái là không hợp lệ (ví dụ: cả hai người cùng thắng).</a:t>
            </a:r>
          </a:p>
          <a:p>
            <a:pPr algn="l">
              <a:lnSpc>
                <a:spcPts val="4759"/>
              </a:lnSpc>
              <a:spcBef>
                <a:spcPct val="0"/>
              </a:spcBef>
            </a:pPr>
            <a:r>
              <a:rPr lang="en-US" sz="3399">
                <a:solidFill>
                  <a:srgbClr val="000000"/>
                </a:solidFill>
                <a:latin typeface="Times New Roman"/>
                <a:ea typeface="Times New Roman"/>
                <a:cs typeface="Times New Roman"/>
                <a:sym typeface="Times New Roman"/>
              </a:rPr>
              <a:t>Do đó, số trạng thái thực tế &lt; 19,683.</a:t>
            </a:r>
          </a:p>
        </p:txBody>
      </p:sp>
      <p:graphicFrame>
        <p:nvGraphicFramePr>
          <p:cNvPr name="Object 6" id="6"/>
          <p:cNvGraphicFramePr/>
          <p:nvPr/>
        </p:nvGraphicFramePr>
        <p:xfrm>
          <a:off x="7871344" y="7340422"/>
          <a:ext cx="5657850" cy="1885950"/>
        </p:xfrm>
        <a:graphic>
          <a:graphicData uri="http://schemas.openxmlformats.org/presentationml/2006/ole">
            <p:oleObj imgW="6781800" imgH="3009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7652782" y="4341097"/>
            <a:ext cx="4042595" cy="466344"/>
          </a:xfrm>
          <a:prstGeom prst="rect">
            <a:avLst/>
          </a:prstGeom>
        </p:spPr>
        <p:txBody>
          <a:bodyPr anchor="t" rtlCol="false" tIns="0" lIns="0" bIns="0" rIns="0">
            <a:spAutoFit/>
          </a:bodyPr>
          <a:lstStyle/>
          <a:p>
            <a:pPr algn="l">
              <a:lnSpc>
                <a:spcPts val="3696"/>
              </a:lnSpc>
              <a:spcBef>
                <a:spcPct val="0"/>
              </a:spcBef>
            </a:pPr>
            <a:r>
              <a:rPr lang="en-US" b="true" sz="2640">
                <a:solidFill>
                  <a:srgbClr val="000000"/>
                </a:solidFill>
                <a:latin typeface="Times New Roman Bold"/>
                <a:ea typeface="Times New Roman Bold"/>
                <a:cs typeface="Times New Roman Bold"/>
                <a:sym typeface="Times New Roman Bold"/>
              </a:rPr>
              <a:t>Phân tích độ phức tạp</a:t>
            </a:r>
          </a:p>
        </p:txBody>
      </p:sp>
      <p:sp>
        <p:nvSpPr>
          <p:cNvPr name="TextBox 8" id="8"/>
          <p:cNvSpPr txBox="true"/>
          <p:nvPr/>
        </p:nvSpPr>
        <p:spPr>
          <a:xfrm rot="0">
            <a:off x="7652782" y="4994217"/>
            <a:ext cx="5037175" cy="1397445"/>
          </a:xfrm>
          <a:prstGeom prst="rect">
            <a:avLst/>
          </a:prstGeom>
        </p:spPr>
        <p:txBody>
          <a:bodyPr anchor="t" rtlCol="false" tIns="0" lIns="0" bIns="0" rIns="0">
            <a:spAutoFit/>
          </a:bodyPr>
          <a:lstStyle/>
          <a:p>
            <a:pPr algn="l">
              <a:lnSpc>
                <a:spcPts val="3696"/>
              </a:lnSpc>
              <a:spcBef>
                <a:spcPct val="0"/>
              </a:spcBef>
            </a:pPr>
            <a:r>
              <a:rPr lang="en-US" b="true" sz="2640">
                <a:solidFill>
                  <a:srgbClr val="000000"/>
                </a:solidFill>
                <a:latin typeface="Times New Roman Bold"/>
                <a:ea typeface="Times New Roman Bold"/>
                <a:cs typeface="Times New Roman Bold"/>
                <a:sym typeface="Times New Roman Bold"/>
              </a:rPr>
              <a:t>Cây tìm kiếm (Search Tree)</a:t>
            </a:r>
          </a:p>
          <a:p>
            <a:pPr algn="l">
              <a:lnSpc>
                <a:spcPts val="3696"/>
              </a:lnSpc>
              <a:spcBef>
                <a:spcPct val="0"/>
              </a:spcBef>
            </a:pPr>
            <a:r>
              <a:rPr lang="en-US" b="true" sz="2640">
                <a:solidFill>
                  <a:srgbClr val="000000"/>
                </a:solidFill>
                <a:latin typeface="Times New Roman Bold"/>
                <a:ea typeface="Times New Roman Bold"/>
                <a:cs typeface="Times New Roman Bold"/>
                <a:sym typeface="Times New Roman Bold"/>
              </a:rPr>
              <a:t>· Độ sâu cực đại: m=9</a:t>
            </a:r>
          </a:p>
          <a:p>
            <a:pPr algn="l">
              <a:lnSpc>
                <a:spcPts val="3696"/>
              </a:lnSpc>
              <a:spcBef>
                <a:spcPct val="0"/>
              </a:spcBef>
            </a:pPr>
            <a:r>
              <a:rPr lang="en-US" b="true" sz="2640">
                <a:solidFill>
                  <a:srgbClr val="000000"/>
                </a:solidFill>
                <a:latin typeface="Times New Roman Bold"/>
                <a:ea typeface="Times New Roman Bold"/>
                <a:cs typeface="Times New Roman Bold"/>
                <a:sym typeface="Times New Roman Bold"/>
              </a:rPr>
              <a:t>· Hệ số phân nhánh: b=9</a:t>
            </a:r>
          </a:p>
        </p:txBody>
      </p:sp>
      <p:sp>
        <p:nvSpPr>
          <p:cNvPr name="TextBox 9" id="9"/>
          <p:cNvSpPr txBox="true"/>
          <p:nvPr/>
        </p:nvSpPr>
        <p:spPr>
          <a:xfrm rot="0">
            <a:off x="7504032" y="6598636"/>
            <a:ext cx="2935064" cy="465561"/>
          </a:xfrm>
          <a:prstGeom prst="rect">
            <a:avLst/>
          </a:prstGeom>
        </p:spPr>
        <p:txBody>
          <a:bodyPr anchor="t" rtlCol="false" tIns="0" lIns="0" bIns="0" rIns="0">
            <a:spAutoFit/>
          </a:bodyPr>
          <a:lstStyle/>
          <a:p>
            <a:pPr algn="ctr">
              <a:lnSpc>
                <a:spcPts val="3696"/>
              </a:lnSpc>
              <a:spcBef>
                <a:spcPct val="0"/>
              </a:spcBef>
            </a:pPr>
            <a:r>
              <a:rPr lang="en-US" b="true" sz="2640">
                <a:solidFill>
                  <a:srgbClr val="000000"/>
                </a:solidFill>
                <a:latin typeface="Times New Roman Bold"/>
                <a:ea typeface="Times New Roman Bold"/>
                <a:cs typeface="Times New Roman Bold"/>
                <a:sym typeface="Times New Roman Bold"/>
              </a:rPr>
              <a:t>→ </a:t>
            </a:r>
            <a:r>
              <a:rPr lang="en-US" b="true" sz="2640">
                <a:solidFill>
                  <a:srgbClr val="000000"/>
                </a:solidFill>
                <a:latin typeface="Times New Roman Bold"/>
                <a:ea typeface="Times New Roman Bold"/>
                <a:cs typeface="Times New Roman Bold"/>
                <a:sym typeface="Times New Roman Bold"/>
              </a:rPr>
              <a:t>Độ phức tạp:</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34009" y="483527"/>
            <a:ext cx="11406251" cy="2748067"/>
          </a:xfrm>
          <a:prstGeom prst="rect">
            <a:avLst/>
          </a:prstGeom>
        </p:spPr>
        <p:txBody>
          <a:bodyPr anchor="t" rtlCol="false" tIns="0" lIns="0" bIns="0" rIns="0">
            <a:spAutoFit/>
          </a:bodyPr>
          <a:lstStyle/>
          <a:p>
            <a:pPr algn="l">
              <a:lnSpc>
                <a:spcPts val="4348"/>
              </a:lnSpc>
              <a:spcBef>
                <a:spcPct val="0"/>
              </a:spcBef>
            </a:pPr>
            <a:r>
              <a:rPr lang="en-US" b="true" sz="3106">
                <a:solidFill>
                  <a:srgbClr val="000000"/>
                </a:solidFill>
                <a:latin typeface="Times New Roman Bold"/>
                <a:ea typeface="Times New Roman Bold"/>
                <a:cs typeface="Times New Roman Bold"/>
                <a:sym typeface="Times New Roman Bold"/>
              </a:rPr>
              <a:t>Trình bày và trực quan hóa bàn cờ</a:t>
            </a:r>
          </a:p>
          <a:p>
            <a:pPr algn="l">
              <a:lnSpc>
                <a:spcPts val="4348"/>
              </a:lnSpc>
              <a:spcBef>
                <a:spcPct val="0"/>
              </a:spcBef>
            </a:pPr>
          </a:p>
          <a:p>
            <a:pPr algn="l">
              <a:lnSpc>
                <a:spcPts val="4348"/>
              </a:lnSpc>
              <a:spcBef>
                <a:spcPct val="0"/>
              </a:spcBef>
            </a:pPr>
            <a:r>
              <a:rPr lang="en-US" b="true" sz="3106">
                <a:solidFill>
                  <a:srgbClr val="000000"/>
                </a:solidFill>
                <a:latin typeface="Times New Roman Bold"/>
                <a:ea typeface="Times New Roman Bold"/>
                <a:cs typeface="Times New Roman Bold"/>
                <a:sym typeface="Times New Roman Bold"/>
              </a:rPr>
              <a:t>Notebook cung cấp 2 hàm hiển thị:</a:t>
            </a:r>
          </a:p>
          <a:p>
            <a:pPr algn="l">
              <a:lnSpc>
                <a:spcPts val="4348"/>
              </a:lnSpc>
              <a:spcBef>
                <a:spcPct val="0"/>
              </a:spcBef>
            </a:pPr>
            <a:r>
              <a:rPr lang="en-US" b="true" sz="3106">
                <a:solidFill>
                  <a:srgbClr val="000000"/>
                </a:solidFill>
                <a:latin typeface="Times New Roman Bold"/>
                <a:ea typeface="Times New Roman Bold"/>
                <a:cs typeface="Times New Roman Bold"/>
                <a:sym typeface="Times New Roman Bold"/>
              </a:rPr>
              <a:t>- show_board_text: In bàn cờ dạng text (ma trận 3x3).</a:t>
            </a:r>
          </a:p>
          <a:p>
            <a:pPr algn="l">
              <a:lnSpc>
                <a:spcPts val="4348"/>
              </a:lnSpc>
              <a:spcBef>
                <a:spcPct val="0"/>
              </a:spcBef>
            </a:pPr>
            <a:r>
              <a:rPr lang="en-US" b="true" sz="3106">
                <a:solidFill>
                  <a:srgbClr val="000000"/>
                </a:solidFill>
                <a:latin typeface="Times New Roman Bold"/>
                <a:ea typeface="Times New Roman Bold"/>
                <a:cs typeface="Times New Roman Bold"/>
                <a:sym typeface="Times New Roman Bold"/>
              </a:rPr>
              <a:t>- show_board: Hiển thị bàn cờ đồ họa sử dụng thư viện matplotlib.</a:t>
            </a:r>
          </a:p>
        </p:txBody>
      </p:sp>
      <p:sp>
        <p:nvSpPr>
          <p:cNvPr name="TextBox 3" id="3"/>
          <p:cNvSpPr txBox="true"/>
          <p:nvPr/>
        </p:nvSpPr>
        <p:spPr>
          <a:xfrm rot="0">
            <a:off x="734009" y="3798740"/>
            <a:ext cx="2923559" cy="614908"/>
          </a:xfrm>
          <a:prstGeom prst="rect">
            <a:avLst/>
          </a:prstGeom>
        </p:spPr>
        <p:txBody>
          <a:bodyPr anchor="t" rtlCol="false" tIns="0" lIns="0" bIns="0" rIns="0">
            <a:spAutoFit/>
          </a:bodyPr>
          <a:lstStyle/>
          <a:p>
            <a:pPr algn="ctr">
              <a:lnSpc>
                <a:spcPts val="4815"/>
              </a:lnSpc>
              <a:spcBef>
                <a:spcPct val="0"/>
              </a:spcBef>
            </a:pPr>
            <a:r>
              <a:rPr lang="en-US" b="true" sz="3439">
                <a:solidFill>
                  <a:srgbClr val="000000"/>
                </a:solidFill>
                <a:latin typeface="Times New Roman Bold"/>
                <a:ea typeface="Times New Roman Bold"/>
                <a:cs typeface="Times New Roman Bold"/>
                <a:sym typeface="Times New Roman Bold"/>
              </a:rPr>
              <a:t>Random Player</a:t>
            </a:r>
          </a:p>
        </p:txBody>
      </p:sp>
      <p:sp>
        <p:nvSpPr>
          <p:cNvPr name="TextBox 4" id="4"/>
          <p:cNvSpPr txBox="true"/>
          <p:nvPr/>
        </p:nvSpPr>
        <p:spPr>
          <a:xfrm rot="0">
            <a:off x="734009" y="4603995"/>
            <a:ext cx="11406251" cy="996792"/>
          </a:xfrm>
          <a:prstGeom prst="rect">
            <a:avLst/>
          </a:prstGeom>
        </p:spPr>
        <p:txBody>
          <a:bodyPr anchor="t" rtlCol="false" tIns="0" lIns="0" bIns="0" rIns="0">
            <a:spAutoFit/>
          </a:bodyPr>
          <a:lstStyle/>
          <a:p>
            <a:pPr algn="l">
              <a:lnSpc>
                <a:spcPts val="3965"/>
              </a:lnSpc>
              <a:spcBef>
                <a:spcPct val="0"/>
              </a:spcBef>
            </a:pPr>
            <a:r>
              <a:rPr lang="en-US" b="true" sz="2832">
                <a:solidFill>
                  <a:srgbClr val="000000"/>
                </a:solidFill>
                <a:latin typeface="Times New Roman Bold"/>
                <a:ea typeface="Times New Roman Bold"/>
                <a:cs typeface="Times New Roman Bold"/>
                <a:sym typeface="Times New Roman Bold"/>
              </a:rPr>
              <a:t>Hàm random_player() mô phỏng một người chơi chọn ngẫu nhiên ô trống:</a:t>
            </a:r>
          </a:p>
        </p:txBody>
      </p:sp>
      <p:sp>
        <p:nvSpPr>
          <p:cNvPr name="TextBox 5" id="5"/>
          <p:cNvSpPr txBox="true"/>
          <p:nvPr/>
        </p:nvSpPr>
        <p:spPr>
          <a:xfrm rot="0">
            <a:off x="734009" y="5794262"/>
            <a:ext cx="5853764" cy="800234"/>
          </a:xfrm>
          <a:prstGeom prst="rect">
            <a:avLst/>
          </a:prstGeom>
        </p:spPr>
        <p:txBody>
          <a:bodyPr anchor="t" rtlCol="false" tIns="0" lIns="0" bIns="0" rIns="0">
            <a:spAutoFit/>
          </a:bodyPr>
          <a:lstStyle/>
          <a:p>
            <a:pPr algn="ctr">
              <a:lnSpc>
                <a:spcPts val="3115"/>
              </a:lnSpc>
              <a:spcBef>
                <a:spcPct val="0"/>
              </a:spcBef>
            </a:pPr>
            <a:r>
              <a:rPr lang="en-US" b="true" sz="2225">
                <a:solidFill>
                  <a:srgbClr val="000000"/>
                </a:solidFill>
                <a:latin typeface="Times New Roman Bold"/>
                <a:ea typeface="Times New Roman Bold"/>
                <a:cs typeface="Times New Roman Bold"/>
                <a:sym typeface="Times New Roman Bold"/>
              </a:rPr>
              <a:t>def random_player(board, player=None):</a:t>
            </a:r>
          </a:p>
          <a:p>
            <a:pPr algn="ctr">
              <a:lnSpc>
                <a:spcPts val="3115"/>
              </a:lnSpc>
              <a:spcBef>
                <a:spcPct val="0"/>
              </a:spcBef>
            </a:pPr>
            <a:r>
              <a:rPr lang="en-US" b="true" sz="2225">
                <a:solidFill>
                  <a:srgbClr val="000000"/>
                </a:solidFill>
                <a:latin typeface="Times New Roman Bold"/>
                <a:ea typeface="Times New Roman Bold"/>
                <a:cs typeface="Times New Roman Bold"/>
                <a:sym typeface="Times New Roman Bold"/>
              </a:rPr>
              <a:t> return np.random.choice(actions(board))</a:t>
            </a:r>
          </a:p>
        </p:txBody>
      </p:sp>
      <p:sp>
        <p:nvSpPr>
          <p:cNvPr name="TextBox 6" id="6"/>
          <p:cNvSpPr txBox="true"/>
          <p:nvPr/>
        </p:nvSpPr>
        <p:spPr>
          <a:xfrm rot="0">
            <a:off x="734009" y="6759396"/>
            <a:ext cx="7978904" cy="614908"/>
          </a:xfrm>
          <a:prstGeom prst="rect">
            <a:avLst/>
          </a:prstGeom>
        </p:spPr>
        <p:txBody>
          <a:bodyPr anchor="t" rtlCol="false" tIns="0" lIns="0" bIns="0" rIns="0">
            <a:spAutoFit/>
          </a:bodyPr>
          <a:lstStyle/>
          <a:p>
            <a:pPr algn="ctr">
              <a:lnSpc>
                <a:spcPts val="4815"/>
              </a:lnSpc>
              <a:spcBef>
                <a:spcPct val="0"/>
              </a:spcBef>
            </a:pPr>
            <a:r>
              <a:rPr lang="en-US" b="true" sz="3439">
                <a:solidFill>
                  <a:srgbClr val="000000"/>
                </a:solidFill>
                <a:latin typeface="Times New Roman Bold"/>
                <a:ea typeface="Times New Roman Bold"/>
                <a:cs typeface="Times New Roman Bold"/>
                <a:sym typeface="Times New Roman Bold"/>
              </a:rPr>
              <a:t>Khi ghép 2 người chơi ngẫu nhiên đối đầu:</a:t>
            </a:r>
          </a:p>
        </p:txBody>
      </p:sp>
      <p:sp>
        <p:nvSpPr>
          <p:cNvPr name="TextBox 7" id="7"/>
          <p:cNvSpPr txBox="true"/>
          <p:nvPr/>
        </p:nvSpPr>
        <p:spPr>
          <a:xfrm rot="0">
            <a:off x="1230579" y="7567780"/>
            <a:ext cx="7978904" cy="405191"/>
          </a:xfrm>
          <a:prstGeom prst="rect">
            <a:avLst/>
          </a:prstGeom>
        </p:spPr>
        <p:txBody>
          <a:bodyPr anchor="t" rtlCol="false" tIns="0" lIns="0" bIns="0" rIns="0">
            <a:spAutoFit/>
          </a:bodyPr>
          <a:lstStyle/>
          <a:p>
            <a:pPr algn="l">
              <a:lnSpc>
                <a:spcPts val="3115"/>
              </a:lnSpc>
              <a:spcBef>
                <a:spcPct val="0"/>
              </a:spcBef>
            </a:pPr>
            <a:r>
              <a:rPr lang="en-US" b="true" sz="2225">
                <a:solidFill>
                  <a:srgbClr val="000000"/>
                </a:solidFill>
                <a:latin typeface="Times New Roman Bold"/>
                <a:ea typeface="Times New Roman Bold"/>
                <a:cs typeface="Times New Roman Bold"/>
                <a:sym typeface="Times New Roman Bold"/>
              </a:rPr>
              <a:t>play(random_player, random_player, N=100) </a:t>
            </a:r>
          </a:p>
        </p:txBody>
      </p:sp>
      <p:sp>
        <p:nvSpPr>
          <p:cNvPr name="TextBox 8" id="8"/>
          <p:cNvSpPr txBox="true"/>
          <p:nvPr/>
        </p:nvSpPr>
        <p:spPr>
          <a:xfrm rot="0">
            <a:off x="549227" y="8396709"/>
            <a:ext cx="11591033" cy="1149982"/>
          </a:xfrm>
          <a:prstGeom prst="rect">
            <a:avLst/>
          </a:prstGeom>
        </p:spPr>
        <p:txBody>
          <a:bodyPr anchor="t" rtlCol="false" tIns="0" lIns="0" bIns="0" rIns="0">
            <a:spAutoFit/>
          </a:bodyPr>
          <a:lstStyle/>
          <a:p>
            <a:pPr algn="l">
              <a:lnSpc>
                <a:spcPts val="4531"/>
              </a:lnSpc>
              <a:spcBef>
                <a:spcPct val="0"/>
              </a:spcBef>
            </a:pPr>
            <a:r>
              <a:rPr lang="en-US" b="true" sz="3237">
                <a:solidFill>
                  <a:srgbClr val="000000"/>
                </a:solidFill>
                <a:latin typeface="Times New Roman Bold"/>
                <a:ea typeface="Times New Roman Bold"/>
                <a:cs typeface="Times New Roman Bold"/>
                <a:sym typeface="Times New Roman Bold"/>
              </a:rPr>
              <a:t>→ </a:t>
            </a:r>
            <a:r>
              <a:rPr lang="en-US" b="true" sz="3237">
                <a:solidFill>
                  <a:srgbClr val="000000"/>
                </a:solidFill>
                <a:latin typeface="Times New Roman Bold"/>
                <a:ea typeface="Times New Roman Bold"/>
                <a:cs typeface="Times New Roman Bold"/>
                <a:sym typeface="Times New Roman Bold"/>
              </a:rPr>
              <a:t>Ta thu được thống kê số trận x thắng, o thắng, và hòa. Kết quả quan sát cho thấy người đi trước (x) có lợi thế nhỏ.</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88985" y="562201"/>
            <a:ext cx="15244287" cy="479996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luận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Tic-Tac-Toe là một bài toán nhỏ, có thể giải bằng tìm kiếm toàn bộ cây trạng thái.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Tuy nhiên, DFS không tối ưu, không đảm bảo thắng trong ít bước nhất.</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Thông qua ví dụ này, người học hiểu được:</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Cách mô hình hóa trò chơi như một bài toán tìm kiếm.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Cách tính kích thước không gian trạng thái.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Cách đánh giá độ phức tạp của thuật toán.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Cách cài đặt một môi trường chơi và mô phỏng bằng Python.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842689" y="2975579"/>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75003" y="429260"/>
            <a:ext cx="9479399"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Giải Trò Chơi TicTacToe Bằng And-Or Tree Search</a:t>
            </a:r>
          </a:p>
        </p:txBody>
      </p:sp>
      <p:sp>
        <p:nvSpPr>
          <p:cNvPr name="TextBox 4" id="4"/>
          <p:cNvSpPr txBox="true"/>
          <p:nvPr/>
        </p:nvSpPr>
        <p:spPr>
          <a:xfrm rot="0">
            <a:off x="375003" y="1449040"/>
            <a:ext cx="7605319" cy="1545590"/>
          </a:xfrm>
          <a:prstGeom prst="rect">
            <a:avLst/>
          </a:prstGeom>
        </p:spPr>
        <p:txBody>
          <a:bodyPr anchor="t" rtlCol="false" tIns="0" lIns="0" bIns="0" rIns="0">
            <a:spAutoFit/>
          </a:bodyPr>
          <a:lstStyle/>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Mô hình hóa vấn đề trong môi trường không xác định</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Trong trò chơi hai người như Tic-Tac-Toe:</a:t>
            </a:r>
          </a:p>
        </p:txBody>
      </p:sp>
      <p:sp>
        <p:nvSpPr>
          <p:cNvPr name="TextBox 5" id="5"/>
          <p:cNvSpPr txBox="true"/>
          <p:nvPr/>
        </p:nvSpPr>
        <p:spPr>
          <a:xfrm rot="0">
            <a:off x="9004016" y="1439515"/>
            <a:ext cx="593014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Nguyên lý của AND-OR Tree Search</a:t>
            </a:r>
          </a:p>
        </p:txBody>
      </p:sp>
      <p:sp>
        <p:nvSpPr>
          <p:cNvPr name="TextBox 6" id="6"/>
          <p:cNvSpPr txBox="true"/>
          <p:nvPr/>
        </p:nvSpPr>
        <p:spPr>
          <a:xfrm rot="0">
            <a:off x="8643855" y="2908904"/>
            <a:ext cx="9464065" cy="54870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Thuật toán AND-OR Tree Search được sử dụng cho các môi trường không xác định hoặc nhiều tác nhân.</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Cấu trúc cây:</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OR-nodes: Lựa chọn của người chơi hiện tại (agent).</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Mỗi nhánh là một hành động có thể thực hiện.</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AND-nodes: Các kết quả có thể xảy ra sau khi đối thủ (hoặc môi trường) phản ứng.</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Mỗi nhánh đại diện cho một trạng thái kết quả có thể.</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Mục tiêu:</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Tìm được một cây con (subtree) bắt đầu từ hành động đầu tiên sao cho mọi đường đi trong cây con đều dẫn đến trạng thái thắng hoặc hòa.</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5078" y="429260"/>
            <a:ext cx="851892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Cấu trúc của thuật toán AND-OR Tree Search</a:t>
            </a:r>
          </a:p>
        </p:txBody>
      </p:sp>
      <p:sp>
        <p:nvSpPr>
          <p:cNvPr name="TextBox 3" id="3"/>
          <p:cNvSpPr txBox="true"/>
          <p:nvPr/>
        </p:nvSpPr>
        <p:spPr>
          <a:xfrm rot="0">
            <a:off x="619026" y="1212296"/>
            <a:ext cx="17467184"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chính and_or_search, khởi động tìm kiếm và trả về conditional plan (kế hoạch điều kiện).</a:t>
            </a:r>
          </a:p>
        </p:txBody>
      </p:sp>
      <p:sp>
        <p:nvSpPr>
          <p:cNvPr name="TextBox 4" id="4"/>
          <p:cNvSpPr txBox="true"/>
          <p:nvPr/>
        </p:nvSpPr>
        <p:spPr>
          <a:xfrm rot="0">
            <a:off x="619026" y="2144733"/>
            <a:ext cx="3121343"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or_search()</a:t>
            </a:r>
          </a:p>
        </p:txBody>
      </p:sp>
      <p:sp>
        <p:nvSpPr>
          <p:cNvPr name="TextBox 5" id="5"/>
          <p:cNvSpPr txBox="true"/>
          <p:nvPr/>
        </p:nvSpPr>
        <p:spPr>
          <a:xfrm rot="0">
            <a:off x="619026" y="2944198"/>
            <a:ext cx="17049948" cy="950595"/>
          </a:xfrm>
          <a:prstGeom prst="rect">
            <a:avLst/>
          </a:prstGeom>
        </p:spPr>
        <p:txBody>
          <a:bodyPr anchor="t" rtlCol="false" tIns="0" lIns="0" bIns="0" rIns="0">
            <a:spAutoFit/>
          </a:bodyPr>
          <a:lstStyle/>
          <a:p>
            <a:pPr algn="l">
              <a:lnSpc>
                <a:spcPts val="3780"/>
              </a:lnSpc>
              <a:spcBef>
                <a:spcPct val="0"/>
              </a:spcBef>
            </a:pPr>
            <a:r>
              <a:rPr lang="en-US" b="true" sz="2700">
                <a:solidFill>
                  <a:srgbClr val="000000"/>
                </a:solidFill>
                <a:latin typeface="Times New Roman Bold"/>
                <a:ea typeface="Times New Roman Bold"/>
                <a:cs typeface="Times New Roman Bold"/>
                <a:sym typeface="Times New Roman Bold"/>
              </a:rPr>
              <a:t>Đại diện cho lượt của người chơi hiện tại. Thử tất cả các hành động có thể và tìm hành động đầu tiên đảm bảo rằng mọi phản ứng của đối thủ đều dẫn đến trạng thái thắng/hòa.</a:t>
            </a:r>
          </a:p>
        </p:txBody>
      </p:sp>
      <p:sp>
        <p:nvSpPr>
          <p:cNvPr name="TextBox 6" id="6"/>
          <p:cNvSpPr txBox="true"/>
          <p:nvPr/>
        </p:nvSpPr>
        <p:spPr>
          <a:xfrm rot="0">
            <a:off x="655629" y="4075768"/>
            <a:ext cx="340995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and_search()</a:t>
            </a:r>
          </a:p>
        </p:txBody>
      </p:sp>
      <p:sp>
        <p:nvSpPr>
          <p:cNvPr name="TextBox 7" id="7"/>
          <p:cNvSpPr txBox="true"/>
          <p:nvPr/>
        </p:nvSpPr>
        <p:spPr>
          <a:xfrm rot="0">
            <a:off x="619026" y="4985115"/>
            <a:ext cx="17259300" cy="950595"/>
          </a:xfrm>
          <a:prstGeom prst="rect">
            <a:avLst/>
          </a:prstGeom>
        </p:spPr>
        <p:txBody>
          <a:bodyPr anchor="t" rtlCol="false" tIns="0" lIns="0" bIns="0" rIns="0">
            <a:spAutoFit/>
          </a:bodyPr>
          <a:lstStyle/>
          <a:p>
            <a:pPr algn="l">
              <a:lnSpc>
                <a:spcPts val="3780"/>
              </a:lnSpc>
              <a:spcBef>
                <a:spcPct val="0"/>
              </a:spcBef>
            </a:pPr>
            <a:r>
              <a:rPr lang="en-US" b="true" sz="2700">
                <a:solidFill>
                  <a:srgbClr val="000000"/>
                </a:solidFill>
                <a:latin typeface="Times New Roman Bold"/>
                <a:ea typeface="Times New Roman Bold"/>
                <a:cs typeface="Times New Roman Bold"/>
                <a:sym typeface="Times New Roman Bold"/>
              </a:rPr>
              <a:t>Đại diện cho lượt phản ứng của đối thủ (môi trường). Ta phải kiểm tra tất cả các trạng thái phản ứng; chỉ khi tất cả đều dẫn đến thắng/hòa, ta mới chấp nhận hành động ban đầu.</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95770" y="429260"/>
            <a:ext cx="8267343"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Đối đầu: AND-OR Search vs Random Player</a:t>
            </a:r>
          </a:p>
        </p:txBody>
      </p:sp>
      <p:sp>
        <p:nvSpPr>
          <p:cNvPr name="TextBox 3" id="3"/>
          <p:cNvSpPr txBox="true"/>
          <p:nvPr/>
        </p:nvSpPr>
        <p:spPr>
          <a:xfrm rot="0">
            <a:off x="395770" y="1311387"/>
            <a:ext cx="5731431" cy="1505863"/>
          </a:xfrm>
          <a:prstGeom prst="rect">
            <a:avLst/>
          </a:prstGeom>
        </p:spPr>
        <p:txBody>
          <a:bodyPr anchor="t" rtlCol="false" tIns="0" lIns="0" bIns="0" rIns="0">
            <a:spAutoFit/>
          </a:bodyPr>
          <a:lstStyle/>
          <a:p>
            <a:pPr algn="l">
              <a:lnSpc>
                <a:spcPts val="3999"/>
              </a:lnSpc>
              <a:spcBef>
                <a:spcPct val="0"/>
              </a:spcBef>
            </a:pPr>
            <a:r>
              <a:rPr lang="en-US" b="true" sz="2856">
                <a:solidFill>
                  <a:srgbClr val="000000"/>
                </a:solidFill>
                <a:latin typeface="Times New Roman Bold"/>
                <a:ea typeface="Times New Roman Bold"/>
                <a:cs typeface="Times New Roman Bold"/>
                <a:sym typeface="Times New Roman Bold"/>
              </a:rPr>
              <a:t>So sánh:</a:t>
            </a:r>
          </a:p>
          <a:p>
            <a:pPr algn="l">
              <a:lnSpc>
                <a:spcPts val="3999"/>
              </a:lnSpc>
              <a:spcBef>
                <a:spcPct val="0"/>
              </a:spcBef>
            </a:pPr>
            <a:r>
              <a:rPr lang="en-US" b="true" sz="2856">
                <a:solidFill>
                  <a:srgbClr val="000000"/>
                </a:solidFill>
                <a:latin typeface="Times New Roman Bold"/>
                <a:ea typeface="Times New Roman Bold"/>
                <a:cs typeface="Times New Roman Bold"/>
                <a:sym typeface="Times New Roman Bold"/>
              </a:rPr>
              <a:t>play(and_or_player, random_player)</a:t>
            </a:r>
          </a:p>
          <a:p>
            <a:pPr algn="l">
              <a:lnSpc>
                <a:spcPts val="3999"/>
              </a:lnSpc>
              <a:spcBef>
                <a:spcPct val="0"/>
              </a:spcBef>
            </a:pPr>
            <a:r>
              <a:rPr lang="en-US" b="true" sz="2856">
                <a:solidFill>
                  <a:srgbClr val="000000"/>
                </a:solidFill>
                <a:latin typeface="Times New Roman Bold"/>
                <a:ea typeface="Times New Roman Bold"/>
                <a:cs typeface="Times New Roman Bold"/>
                <a:sym typeface="Times New Roman Bold"/>
              </a:rPr>
              <a:t>play(random_player, and_or_player)</a:t>
            </a:r>
          </a:p>
        </p:txBody>
      </p:sp>
      <p:sp>
        <p:nvSpPr>
          <p:cNvPr name="TextBox 4" id="4"/>
          <p:cNvSpPr txBox="true"/>
          <p:nvPr/>
        </p:nvSpPr>
        <p:spPr>
          <a:xfrm rot="0">
            <a:off x="395770" y="3698670"/>
            <a:ext cx="7954295" cy="2142264"/>
          </a:xfrm>
          <a:prstGeom prst="rect">
            <a:avLst/>
          </a:prstGeom>
        </p:spPr>
        <p:txBody>
          <a:bodyPr anchor="t" rtlCol="false" tIns="0" lIns="0" bIns="0" rIns="0">
            <a:spAutoFit/>
          </a:bodyPr>
          <a:lstStyle/>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and-or-search vs. random:</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{'x': 92, 'o': 0, 'd': 8}</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CPU times: user 2.49 s, sys: 3.09 ms, total: 2.49 s</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Wall time: 2.5 s</a:t>
            </a:r>
          </a:p>
        </p:txBody>
      </p:sp>
      <p:sp>
        <p:nvSpPr>
          <p:cNvPr name="TextBox 5" id="5"/>
          <p:cNvSpPr txBox="true"/>
          <p:nvPr/>
        </p:nvSpPr>
        <p:spPr>
          <a:xfrm rot="0">
            <a:off x="9696946" y="3698670"/>
            <a:ext cx="7562354" cy="2142264"/>
          </a:xfrm>
          <a:prstGeom prst="rect">
            <a:avLst/>
          </a:prstGeom>
        </p:spPr>
        <p:txBody>
          <a:bodyPr anchor="t" rtlCol="false" tIns="0" lIns="0" bIns="0" rIns="0">
            <a:spAutoFit/>
          </a:bodyPr>
          <a:lstStyle/>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random vs. and-or-search</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{'x': 0, 'o': 69, 'd': 31}</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CPU times: user 4.85 s, sys: 63 μs, total: 4.85 s</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Wall time: 4.85 s</a:t>
            </a:r>
          </a:p>
        </p:txBody>
      </p:sp>
      <p:sp>
        <p:nvSpPr>
          <p:cNvPr name="TextBox 6" id="6"/>
          <p:cNvSpPr txBox="true"/>
          <p:nvPr/>
        </p:nvSpPr>
        <p:spPr>
          <a:xfrm rot="0">
            <a:off x="395770" y="6007714"/>
            <a:ext cx="14395709" cy="1606459"/>
          </a:xfrm>
          <a:prstGeom prst="rect">
            <a:avLst/>
          </a:prstGeom>
        </p:spPr>
        <p:txBody>
          <a:bodyPr anchor="t" rtlCol="false" tIns="0" lIns="0" bIns="0" rIns="0">
            <a:spAutoFit/>
          </a:bodyPr>
          <a:lstStyle/>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Kết quả:</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 and_or_player thắng tất cả trận.</a:t>
            </a:r>
          </a:p>
          <a:p>
            <a:pPr algn="l">
              <a:lnSpc>
                <a:spcPts val="4252"/>
              </a:lnSpc>
              <a:spcBef>
                <a:spcPct val="0"/>
              </a:spcBef>
            </a:pPr>
            <a:r>
              <a:rPr lang="en-US" b="true" sz="3037">
                <a:solidFill>
                  <a:srgbClr val="000000"/>
                </a:solidFill>
                <a:latin typeface="Times New Roman Bold"/>
                <a:ea typeface="Times New Roman Bold"/>
                <a:cs typeface="Times New Roman Bold"/>
                <a:sym typeface="Times New Roman Bold"/>
              </a:rPr>
              <a:t>· Rất chậm, vì thuật toán duyệt toàn bộ cây trò chơi và tái tính toán kế hoạch mỗi lần.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356928" y="1319240"/>
          <a:ext cx="7543800" cy="1885950"/>
        </p:xfrm>
        <a:graphic>
          <a:graphicData uri="http://schemas.openxmlformats.org/presentationml/2006/ole">
            <p:oleObj imgW="9042400" imgH="3390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423008" y="6384814"/>
          <a:ext cx="3771900" cy="2514600"/>
        </p:xfrm>
        <a:graphic>
          <a:graphicData uri="http://schemas.openxmlformats.org/presentationml/2006/ole">
            <p:oleObj imgW="4521200" imgH="32639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356928" y="226670"/>
            <a:ext cx="3347799"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So sánh hiệu năng</a:t>
            </a:r>
          </a:p>
        </p:txBody>
      </p:sp>
      <p:sp>
        <p:nvSpPr>
          <p:cNvPr name="TextBox 5" id="5"/>
          <p:cNvSpPr txBox="true"/>
          <p:nvPr/>
        </p:nvSpPr>
        <p:spPr>
          <a:xfrm rot="0">
            <a:off x="356928" y="4515167"/>
            <a:ext cx="17321094" cy="5429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a:t>
            </a:r>
            <a:r>
              <a:rPr lang="en-US" b="true" sz="3000">
                <a:solidFill>
                  <a:srgbClr val="000000"/>
                </a:solidFill>
                <a:latin typeface="Times New Roman Bold"/>
                <a:ea typeface="Times New Roman Bold"/>
                <a:cs typeface="Times New Roman Bold"/>
                <a:sym typeface="Times New Roman Bold"/>
              </a:rPr>
              <a:t>Thuật toán có độ chính xác cao nhưng không phù hợp cho trò chơi lớn do độ phức tạp thời gian rất cao.</a:t>
            </a:r>
          </a:p>
        </p:txBody>
      </p:sp>
      <p:sp>
        <p:nvSpPr>
          <p:cNvPr name="TextBox 6" id="6"/>
          <p:cNvSpPr txBox="true"/>
          <p:nvPr/>
        </p:nvSpPr>
        <p:spPr>
          <a:xfrm rot="0">
            <a:off x="356928" y="5467666"/>
            <a:ext cx="383798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Nhận xét &amp; Kết luận</a:t>
            </a:r>
          </a:p>
        </p:txBody>
      </p:sp>
      <p:sp>
        <p:nvSpPr>
          <p:cNvPr name="TextBox 7" id="7"/>
          <p:cNvSpPr txBox="true"/>
          <p:nvPr/>
        </p:nvSpPr>
        <p:spPr>
          <a:xfrm rot="0">
            <a:off x="9017475" y="5734049"/>
            <a:ext cx="9074534" cy="3871234"/>
          </a:xfrm>
          <a:prstGeom prst="rect">
            <a:avLst/>
          </a:prstGeom>
        </p:spPr>
        <p:txBody>
          <a:bodyPr anchor="t" rtlCol="false" tIns="0" lIns="0" bIns="0" rIns="0">
            <a:spAutoFit/>
          </a:bodyPr>
          <a:lstStyle/>
          <a:p>
            <a:pPr algn="l">
              <a:lnSpc>
                <a:spcPts val="3834"/>
              </a:lnSpc>
              <a:spcBef>
                <a:spcPct val="0"/>
              </a:spcBef>
            </a:pPr>
            <a:r>
              <a:rPr lang="en-US" b="true" sz="2738">
                <a:solidFill>
                  <a:srgbClr val="000000"/>
                </a:solidFill>
                <a:latin typeface="Times New Roman Bold"/>
                <a:ea typeface="Times New Roman Bold"/>
                <a:cs typeface="Times New Roman Bold"/>
                <a:sym typeface="Times New Roman Bold"/>
              </a:rPr>
              <a:t>Bài học rút ra:</a:t>
            </a:r>
          </a:p>
          <a:p>
            <a:pPr algn="l">
              <a:lnSpc>
                <a:spcPts val="3834"/>
              </a:lnSpc>
              <a:spcBef>
                <a:spcPct val="0"/>
              </a:spcBef>
            </a:pPr>
            <a:r>
              <a:rPr lang="en-US" b="true" sz="2738">
                <a:solidFill>
                  <a:srgbClr val="000000"/>
                </a:solidFill>
                <a:latin typeface="Times New Roman Bold"/>
                <a:ea typeface="Times New Roman Bold"/>
                <a:cs typeface="Times New Roman Bold"/>
                <a:sym typeface="Times New Roman Bold"/>
              </a:rPr>
              <a:t>· AND-OR Tree Search cho phép mô hình hóa trò chơi như một bài toán không xác định.</a:t>
            </a:r>
          </a:p>
          <a:p>
            <a:pPr algn="l">
              <a:lnSpc>
                <a:spcPts val="3834"/>
              </a:lnSpc>
              <a:spcBef>
                <a:spcPct val="0"/>
              </a:spcBef>
            </a:pPr>
            <a:r>
              <a:rPr lang="en-US" b="true" sz="2738">
                <a:solidFill>
                  <a:srgbClr val="000000"/>
                </a:solidFill>
                <a:latin typeface="Times New Roman Bold"/>
                <a:ea typeface="Times New Roman Bold"/>
                <a:cs typeface="Times New Roman Bold"/>
                <a:sym typeface="Times New Roman Bold"/>
              </a:rPr>
              <a:t>· Nó tạo ra conditional plan thay vì một chuỗi hành động cố định.</a:t>
            </a:r>
          </a:p>
          <a:p>
            <a:pPr algn="l">
              <a:lnSpc>
                <a:spcPts val="3834"/>
              </a:lnSpc>
              <a:spcBef>
                <a:spcPct val="0"/>
              </a:spcBef>
            </a:pPr>
            <a:r>
              <a:rPr lang="en-US" b="true" sz="2738">
                <a:solidFill>
                  <a:srgbClr val="000000"/>
                </a:solidFill>
                <a:latin typeface="Times New Roman Bold"/>
                <a:ea typeface="Times New Roman Bold"/>
                <a:cs typeface="Times New Roman Bold"/>
                <a:sym typeface="Times New Roman Bold"/>
              </a:rPr>
              <a:t>· Tuy nhiên, thực tế cần các phương pháp hiệu quả hơn như Minimax, Alpha-Beta Pruning, hoặc Monte Carlo Tree Search (MCTS).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597525" y="4723386"/>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61254" y="429260"/>
            <a:ext cx="998220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Adversarial Search (Minimax và Alpha-Beta Pruning)</a:t>
            </a:r>
          </a:p>
        </p:txBody>
      </p:sp>
      <p:sp>
        <p:nvSpPr>
          <p:cNvPr name="TextBox 4" id="4"/>
          <p:cNvSpPr txBox="true"/>
          <p:nvPr/>
        </p:nvSpPr>
        <p:spPr>
          <a:xfrm rot="0">
            <a:off x="461254" y="1319557"/>
            <a:ext cx="10668357" cy="1799590"/>
          </a:xfrm>
          <a:prstGeom prst="rect">
            <a:avLst/>
          </a:prstGeom>
        </p:spPr>
        <p:txBody>
          <a:bodyPr anchor="t" rtlCol="false" tIns="0" lIns="0" bIns="0" rIns="0">
            <a:spAutoFit/>
          </a:bodyPr>
          <a:lstStyle/>
          <a:p>
            <a:pPr algn="l">
              <a:lnSpc>
                <a:spcPts val="4759"/>
              </a:lnSpc>
            </a:pPr>
            <a:r>
              <a:rPr lang="en-US" b="true" sz="3399">
                <a:solidFill>
                  <a:srgbClr val="000000"/>
                </a:solidFill>
                <a:latin typeface="Times New Roman Bold"/>
                <a:ea typeface="Times New Roman Bold"/>
                <a:cs typeface="Times New Roman Bold"/>
                <a:sym typeface="Times New Roman Bold"/>
              </a:rPr>
              <a:t> Minimax Search (DFS toàn bộ cây trò chơi)</a:t>
            </a:r>
          </a:p>
          <a:p>
            <a:pPr algn="l">
              <a:lnSpc>
                <a:spcPts val="4759"/>
              </a:lnSpc>
            </a:pPr>
            <a:r>
              <a:rPr lang="en-US" b="true" sz="3399">
                <a:solidFill>
                  <a:srgbClr val="000000"/>
                </a:solidFill>
                <a:latin typeface="Times New Roman Bold"/>
                <a:ea typeface="Times New Roman Bold"/>
                <a:cs typeface="Times New Roman Bold"/>
                <a:sym typeface="Times New Roman Bold"/>
              </a:rPr>
              <a:t> Alpha-Beta Pruning (tối ưu hoá Minimax bằng cắt tỉa)</a:t>
            </a:r>
          </a:p>
          <a:p>
            <a:pPr algn="l">
              <a:lnSpc>
                <a:spcPts val="4759"/>
              </a:lnSpc>
            </a:pPr>
            <a:r>
              <a:rPr lang="en-US" b="true" sz="3399">
                <a:solidFill>
                  <a:srgbClr val="000000"/>
                </a:solidFill>
                <a:latin typeface="Times New Roman Bold"/>
                <a:ea typeface="Times New Roman Bold"/>
                <a:cs typeface="Times New Roman Bold"/>
                <a:sym typeface="Times New Roman Bold"/>
              </a:rPr>
              <a:t> Move Ordering (sắp xếp nước đi để tăng hiệu quả cắt tỉa)</a:t>
            </a:r>
          </a:p>
        </p:txBody>
      </p:sp>
      <p:sp>
        <p:nvSpPr>
          <p:cNvPr name="TextBox 5" id="5"/>
          <p:cNvSpPr txBox="true"/>
          <p:nvPr/>
        </p:nvSpPr>
        <p:spPr>
          <a:xfrm rot="0">
            <a:off x="461254" y="3742946"/>
            <a:ext cx="639544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Khác biệt so với AND-OR Search: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6842" y="5143500"/>
            <a:ext cx="2630866" cy="2630866"/>
          </a:xfrm>
          <a:custGeom>
            <a:avLst/>
            <a:gdLst/>
            <a:ahLst/>
            <a:cxnLst/>
            <a:rect r="r" b="b" t="t" l="l"/>
            <a:pathLst>
              <a:path h="2630866" w="2630866">
                <a:moveTo>
                  <a:pt x="0" y="0"/>
                </a:moveTo>
                <a:lnTo>
                  <a:pt x="2630866" y="0"/>
                </a:lnTo>
                <a:lnTo>
                  <a:pt x="2630866" y="2630866"/>
                </a:lnTo>
                <a:lnTo>
                  <a:pt x="0" y="2630866"/>
                </a:lnTo>
                <a:lnTo>
                  <a:pt x="0" y="0"/>
                </a:lnTo>
                <a:close/>
              </a:path>
            </a:pathLst>
          </a:custGeom>
          <a:blipFill>
            <a:blip r:embed="rId2"/>
            <a:stretch>
              <a:fillRect l="0" t="0" r="0" b="0"/>
            </a:stretch>
          </a:blipFill>
        </p:spPr>
      </p:sp>
      <p:sp>
        <p:nvSpPr>
          <p:cNvPr name="TextBox 3" id="3"/>
          <p:cNvSpPr txBox="true"/>
          <p:nvPr/>
        </p:nvSpPr>
        <p:spPr>
          <a:xfrm rot="0">
            <a:off x="373290" y="204160"/>
            <a:ext cx="5115878"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Kiểm thử cục bộ (unit tests)</a:t>
            </a:r>
          </a:p>
        </p:txBody>
      </p:sp>
      <p:sp>
        <p:nvSpPr>
          <p:cNvPr name="TextBox 4" id="4"/>
          <p:cNvSpPr txBox="true"/>
          <p:nvPr/>
        </p:nvSpPr>
        <p:spPr>
          <a:xfrm rot="0">
            <a:off x="446842" y="942975"/>
            <a:ext cx="1163717"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Ví dụ:</a:t>
            </a:r>
          </a:p>
        </p:txBody>
      </p:sp>
      <p:sp>
        <p:nvSpPr>
          <p:cNvPr name="TextBox 5" id="5"/>
          <p:cNvSpPr txBox="true"/>
          <p:nvPr/>
        </p:nvSpPr>
        <p:spPr>
          <a:xfrm rot="0">
            <a:off x="446842" y="1704340"/>
            <a:ext cx="4928711" cy="32010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 = empty_board()</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board[0] = 'x'</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board[1] = 'o'</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board[3] = 'o'</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board[4] = 'x'</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show_board(board)</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display(alpha_beta_search(board))</a:t>
            </a:r>
          </a:p>
        </p:txBody>
      </p:sp>
      <p:sp>
        <p:nvSpPr>
          <p:cNvPr name="TextBox 6" id="6"/>
          <p:cNvSpPr txBox="true"/>
          <p:nvPr/>
        </p:nvSpPr>
        <p:spPr>
          <a:xfrm rot="0">
            <a:off x="373290" y="8085145"/>
            <a:ext cx="7357943" cy="18294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Number of nodes searched: 61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{'move': 2, 'value': 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CPU times: user 7.28 ms, sys: 8.41 ms, total: 15.7 ms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Wall time: 5.2 ms</a:t>
            </a:r>
          </a:p>
        </p:txBody>
      </p:sp>
      <p:sp>
        <p:nvSpPr>
          <p:cNvPr name="TextBox 7" id="7"/>
          <p:cNvSpPr txBox="true"/>
          <p:nvPr/>
        </p:nvSpPr>
        <p:spPr>
          <a:xfrm rot="0">
            <a:off x="9853739" y="204160"/>
            <a:ext cx="3629858"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Thi đấu giữa agent:</a:t>
            </a:r>
          </a:p>
        </p:txBody>
      </p:sp>
      <p:sp>
        <p:nvSpPr>
          <p:cNvPr name="TextBox 8" id="8"/>
          <p:cNvSpPr txBox="true"/>
          <p:nvPr/>
        </p:nvSpPr>
        <p:spPr>
          <a:xfrm rot="0">
            <a:off x="9853739" y="962025"/>
            <a:ext cx="7259955" cy="22866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def alpha_beta_player(board, player='x'):</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return alpha_beta_search(board, player)["move"]</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play(alpha_beta_player, random_player)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play(random_player, alpha_beta_player)</a:t>
            </a:r>
          </a:p>
        </p:txBody>
      </p:sp>
      <p:sp>
        <p:nvSpPr>
          <p:cNvPr name="TextBox 9" id="9"/>
          <p:cNvSpPr txBox="true"/>
          <p:nvPr/>
        </p:nvSpPr>
        <p:spPr>
          <a:xfrm rot="0">
            <a:off x="9853739" y="3585375"/>
            <a:ext cx="428196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alpha-beta vs. random:</a:t>
            </a:r>
          </a:p>
        </p:txBody>
      </p:sp>
      <p:sp>
        <p:nvSpPr>
          <p:cNvPr name="TextBox 10" id="10"/>
          <p:cNvSpPr txBox="true"/>
          <p:nvPr/>
        </p:nvSpPr>
        <p:spPr>
          <a:xfrm rot="0">
            <a:off x="9853739" y="4537240"/>
            <a:ext cx="6807756" cy="13722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{'x': 100, 'o': 0, 'd': 0}</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CPU times: user 15.5 s, sys: 1.96 ms, total: 15.5 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Wall time: 15.5 s</a:t>
            </a:r>
          </a:p>
        </p:txBody>
      </p:sp>
      <p:sp>
        <p:nvSpPr>
          <p:cNvPr name="TextBox 11" id="11"/>
          <p:cNvSpPr txBox="true"/>
          <p:nvPr/>
        </p:nvSpPr>
        <p:spPr>
          <a:xfrm rot="0">
            <a:off x="9853739" y="6121461"/>
            <a:ext cx="6807756" cy="198120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random vs. alpha-beta:</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{'x': 0, 'o': 84, 'd': 16}</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CPU times: user 5.16 s, sys: 7.74 ms, total: 5.16 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Wall time: 5.17 s</a:t>
            </a:r>
          </a:p>
        </p:txBody>
      </p:sp>
      <p:sp>
        <p:nvSpPr>
          <p:cNvPr name="TextBox 12" id="12"/>
          <p:cNvSpPr txBox="true"/>
          <p:nvPr/>
        </p:nvSpPr>
        <p:spPr>
          <a:xfrm rot="0">
            <a:off x="9853739" y="8321736"/>
            <a:ext cx="7918728" cy="1545590"/>
          </a:xfrm>
          <a:prstGeom prst="rect">
            <a:avLst/>
          </a:prstGeom>
        </p:spPr>
        <p:txBody>
          <a:bodyPr anchor="t" rtlCol="false" tIns="0" lIns="0" bIns="0" rIns="0">
            <a:spAutoFit/>
          </a:bodyPr>
          <a:lstStyle/>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Kết quả:</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alpha_beta_player không bao giờ thua.</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Số node duyệt giảm mạnh so với Minimax thuần.</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0468" y="249180"/>
            <a:ext cx="619196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Heuristic Alpha-Beta Tree Search</a:t>
            </a:r>
          </a:p>
        </p:txBody>
      </p:sp>
      <p:sp>
        <p:nvSpPr>
          <p:cNvPr name="TextBox 3" id="3"/>
          <p:cNvSpPr txBox="true"/>
          <p:nvPr/>
        </p:nvSpPr>
        <p:spPr>
          <a:xfrm rot="0">
            <a:off x="330468" y="1139766"/>
            <a:ext cx="17189248"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Ở đây, ta thêm hai yếu tố mới: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Cắt độ sâu (cutoff): dừng tìm kiếm khi đạt độ sâu nhất định</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Hàm heuristic: ước lượng giá trị của trạng thái khi không duyệt đến lá</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quả:</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Tốc độ tăng rất mạnh (từ exponential xuống gần polynomial).</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Độ chính xác giảm nhẹ (vì chỉ ước lượng chứ không duyệt hết).</a:t>
            </a:r>
          </a:p>
        </p:txBody>
      </p:sp>
      <p:sp>
        <p:nvSpPr>
          <p:cNvPr name="TextBox 4" id="4"/>
          <p:cNvSpPr txBox="true"/>
          <p:nvPr/>
        </p:nvSpPr>
        <p:spPr>
          <a:xfrm rot="0">
            <a:off x="330468" y="5388364"/>
            <a:ext cx="15728276"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Alpha-Beta Search with Cutoff</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Đây là phiên bản mở rộng của alpha_beta_search() từ phần trước — thêm hai yếu tố:</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1. Cutoff depth</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Dừng đệ quy nếu depth &gt;= cutoff.</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2. Heuristic backup</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Nếu cắt, ta không trả về utility() nữa mà dùng eval_fun().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7071" y="329405"/>
            <a:ext cx="15728276"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Alpha-Beta Search with Cutoff</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Đây là phiên bản mở rộng của alpha_beta_search() từ phần trước — thêm hai yếu tố:</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1. Cutoff depth</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Dừng đệ quy nếu depth &gt;= cutoff.</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2. Heuristic backup</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Nếu cắt, ta không trả về utility() nữa mà dùng eval_fun().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481" y="5033034"/>
            <a:ext cx="3137342" cy="3137342"/>
          </a:xfrm>
          <a:custGeom>
            <a:avLst/>
            <a:gdLst/>
            <a:ahLst/>
            <a:cxnLst/>
            <a:rect r="r" b="b" t="t" l="l"/>
            <a:pathLst>
              <a:path h="3137342" w="3137342">
                <a:moveTo>
                  <a:pt x="0" y="0"/>
                </a:moveTo>
                <a:lnTo>
                  <a:pt x="3137342" y="0"/>
                </a:lnTo>
                <a:lnTo>
                  <a:pt x="3137342" y="3137342"/>
                </a:lnTo>
                <a:lnTo>
                  <a:pt x="0" y="3137342"/>
                </a:lnTo>
                <a:lnTo>
                  <a:pt x="0" y="0"/>
                </a:lnTo>
                <a:close/>
              </a:path>
            </a:pathLst>
          </a:custGeom>
          <a:blipFill>
            <a:blip r:embed="rId2"/>
            <a:stretch>
              <a:fillRect l="0" t="0" r="0" b="0"/>
            </a:stretch>
          </a:blipFill>
        </p:spPr>
      </p:sp>
      <p:sp>
        <p:nvSpPr>
          <p:cNvPr name="TextBox 3" id="3"/>
          <p:cNvSpPr txBox="true"/>
          <p:nvPr/>
        </p:nvSpPr>
        <p:spPr>
          <a:xfrm rot="0">
            <a:off x="361340" y="261586"/>
            <a:ext cx="8223653" cy="179959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Thử nghiệm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So sánh hiệu quả khi cutoff = 2, 4 và không giới hạn:</a:t>
            </a:r>
          </a:p>
        </p:txBody>
      </p:sp>
      <p:sp>
        <p:nvSpPr>
          <p:cNvPr name="TextBox 4" id="4"/>
          <p:cNvSpPr txBox="true"/>
          <p:nvPr/>
        </p:nvSpPr>
        <p:spPr>
          <a:xfrm rot="0">
            <a:off x="361340" y="1841524"/>
            <a:ext cx="7653933" cy="27438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 = empty_board() </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board[0], board[1], board[3], board[4] = 'x', 'o', 'o', 'x'</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alpha_beta_search(board, 2)</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alpha_beta_search(board, 4)</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alpha_beta_search(board)</a:t>
            </a:r>
          </a:p>
        </p:txBody>
      </p:sp>
      <p:sp>
        <p:nvSpPr>
          <p:cNvPr name="TextBox 5" id="5"/>
          <p:cNvSpPr txBox="true"/>
          <p:nvPr/>
        </p:nvSpPr>
        <p:spPr>
          <a:xfrm rot="0">
            <a:off x="9144000" y="434769"/>
            <a:ext cx="8232766" cy="7185780"/>
          </a:xfrm>
          <a:prstGeom prst="rect">
            <a:avLst/>
          </a:prstGeom>
        </p:spPr>
        <p:txBody>
          <a:bodyPr anchor="t" rtlCol="false" tIns="0" lIns="0" bIns="0" rIns="0">
            <a:spAutoFit/>
          </a:bodyPr>
          <a:lstStyle/>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Number of nodes searched (cutoff = 2): 13</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{'move': 8, 'value': 1}</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CPU times: user 2.84 ms, sys: 2.62 ms, total: 5.46 ms</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Wall time: 1.79 ms</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 </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Number of nodes searched (cutoff = 4): 47</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{'move': 2, 'value': 1}</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CPU times: user 7.77 ms, sys: 3.76 ms, total: 11.5 ms</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Wall time: 3.82 ms</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 </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Number of nodes searched (cutoff = None): 61</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{'move': 2, 'value': 1}</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CPU times: user 7.86 ms, sys: 3.84 ms, total: 11.7 ms</a:t>
            </a:r>
          </a:p>
          <a:p>
            <a:pPr algn="l">
              <a:lnSpc>
                <a:spcPts val="4072"/>
              </a:lnSpc>
              <a:spcBef>
                <a:spcPct val="0"/>
              </a:spcBef>
            </a:pPr>
            <a:r>
              <a:rPr lang="en-US" b="true" sz="2908">
                <a:solidFill>
                  <a:srgbClr val="000000"/>
                </a:solidFill>
                <a:latin typeface="Times New Roman Bold"/>
                <a:ea typeface="Times New Roman Bold"/>
                <a:cs typeface="Times New Roman Bold"/>
                <a:sym typeface="Times New Roman Bold"/>
              </a:rPr>
              <a:t>Wall time: 3.92 ms</a:t>
            </a:r>
          </a:p>
        </p:txBody>
      </p:sp>
      <p:sp>
        <p:nvSpPr>
          <p:cNvPr name="TextBox 6" id="6"/>
          <p:cNvSpPr txBox="true"/>
          <p:nvPr/>
        </p:nvSpPr>
        <p:spPr>
          <a:xfrm rot="0">
            <a:off x="9126260" y="7767320"/>
            <a:ext cx="8779070" cy="19862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Kết quả:</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Cutoff nhỏ → nhanh nhưng đôi khi chọn nước chưa tối ưu.</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Cutoff lớn → chậm hơn nhưng chính xác hơn.</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93087" y="251020"/>
            <a:ext cx="7027307" cy="582930"/>
          </a:xfrm>
          <a:prstGeom prst="rect">
            <a:avLst/>
          </a:prstGeom>
        </p:spPr>
        <p:txBody>
          <a:bodyPr anchor="t" rtlCol="false" tIns="0" lIns="0" bIns="0" rIns="0">
            <a:spAutoFit/>
          </a:bodyPr>
          <a:lstStyle/>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Đấu thử nghiệm - Heuristic vs Random</a:t>
            </a:r>
          </a:p>
        </p:txBody>
      </p:sp>
      <p:sp>
        <p:nvSpPr>
          <p:cNvPr name="TextBox 3" id="3"/>
          <p:cNvSpPr txBox="true"/>
          <p:nvPr/>
        </p:nvSpPr>
        <p:spPr>
          <a:xfrm rot="0">
            <a:off x="493087" y="1188444"/>
            <a:ext cx="5600581" cy="91503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play(heuristic2_player, random_player)</a:t>
            </a:r>
          </a:p>
          <a:p>
            <a:pPr algn="ctr">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play(heuristic4_player, random_player)</a:t>
            </a:r>
          </a:p>
        </p:txBody>
      </p:sp>
      <p:sp>
        <p:nvSpPr>
          <p:cNvPr name="TextBox 4" id="4"/>
          <p:cNvSpPr txBox="true"/>
          <p:nvPr/>
        </p:nvSpPr>
        <p:spPr>
          <a:xfrm rot="0">
            <a:off x="493087" y="2446379"/>
            <a:ext cx="7027307" cy="49580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heuristic2 vs. random:</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{'x': 93, 'o': 0, 'd': 7}</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CPU times: user 393 ms, sys: 1.38 ms, total: 394 ms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Wall time: 387 ms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heuristic4 vs. random:</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{'x': 99, 'o': 0, 'd': 1}</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CPU times: user 4.92 s, sys: 0 ns, total: 4.92 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Wall time: 4.92 s</a:t>
            </a:r>
          </a:p>
        </p:txBody>
      </p:sp>
      <p:sp>
        <p:nvSpPr>
          <p:cNvPr name="TextBox 5" id="5"/>
          <p:cNvSpPr txBox="true"/>
          <p:nvPr/>
        </p:nvSpPr>
        <p:spPr>
          <a:xfrm rot="0">
            <a:off x="493087" y="7499669"/>
            <a:ext cx="8032457" cy="19862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Đánh giá:</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heuristic2 (cutoff=2): phản ứng nhanh, có thể mắc sai lầm.</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heuristic4: chơi thông minh gần như hoàn hảo.</a:t>
            </a:r>
          </a:p>
        </p:txBody>
      </p:sp>
      <p:sp>
        <p:nvSpPr>
          <p:cNvPr name="TextBox 6" id="6"/>
          <p:cNvSpPr txBox="true"/>
          <p:nvPr/>
        </p:nvSpPr>
        <p:spPr>
          <a:xfrm rot="0">
            <a:off x="10449846" y="234510"/>
            <a:ext cx="5241131"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Heuristic vs Full Alpha-Beta</a:t>
            </a:r>
          </a:p>
        </p:txBody>
      </p:sp>
      <p:sp>
        <p:nvSpPr>
          <p:cNvPr name="TextBox 7" id="7"/>
          <p:cNvSpPr txBox="true"/>
          <p:nvPr/>
        </p:nvSpPr>
        <p:spPr>
          <a:xfrm rot="0">
            <a:off x="10449846" y="1188444"/>
            <a:ext cx="6041112" cy="91503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play(heuristic2_player, alpha_beta_player)</a:t>
            </a:r>
          </a:p>
          <a:p>
            <a:pPr algn="ctr">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play(alpha_beta_player, heuristic4_player)</a:t>
            </a:r>
          </a:p>
        </p:txBody>
      </p:sp>
      <p:sp>
        <p:nvSpPr>
          <p:cNvPr name="TextBox 8" id="8"/>
          <p:cNvSpPr txBox="true"/>
          <p:nvPr/>
        </p:nvSpPr>
        <p:spPr>
          <a:xfrm rot="0">
            <a:off x="10449846" y="2446379"/>
            <a:ext cx="7202686" cy="44627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heuristic2 vs. alpha_beta:</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{'x': 0, 'o': 0, 'd': 1}</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CPU times: user 131 ms, sys: 0 ns, total: 131 ms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Wall time: 130 ms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alpha_beta vs. heuristic4:</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{'x': 0, 'o': 0, 'd': 1}</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CPU times: user 973 ms, sys: 0 ns, total: 973 ms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Wall time: 973 ms</a:t>
            </a:r>
          </a:p>
        </p:txBody>
      </p:sp>
      <p:sp>
        <p:nvSpPr>
          <p:cNvPr name="TextBox 9" id="9"/>
          <p:cNvSpPr txBox="true"/>
          <p:nvPr/>
        </p:nvSpPr>
        <p:spPr>
          <a:xfrm rot="0">
            <a:off x="10314785" y="7499669"/>
            <a:ext cx="7202686" cy="14909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Đánh giá:</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Dù heuristic có thể thua, nhưng tốc độ lại nhanh hơn hàng trăm lần.</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4052" y="614917"/>
            <a:ext cx="10657166" cy="60001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Heuristic vs Heuristic</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play(heuristic2_player, heuristic4_player)</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heuristic2 vs. heuristic4:</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{'x': 0, 'o': 0, 'd': 1}</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CPU times: user 27.5 ms, sys: 0 ns, total: 27.5 ms</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Wall time: 27.1 ms</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Đánh giá:</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Cả hai có thể hoà hoặc bên cutoff sâu hơn thường thắng.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567398" y="1815276"/>
          <a:ext cx="9429750" cy="2514600"/>
        </p:xfrm>
        <a:graphic>
          <a:graphicData uri="http://schemas.openxmlformats.org/presentationml/2006/ole">
            <p:oleObj imgW="11315700" imgH="4394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67398" y="429260"/>
            <a:ext cx="346710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Phân tích hiệu quả</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865199" y="5534025"/>
          <a:ext cx="3771900" cy="3143250"/>
        </p:xfrm>
        <a:graphic>
          <a:graphicData uri="http://schemas.openxmlformats.org/presentationml/2006/ole">
            <p:oleObj imgW="4521200" imgH="3886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683538" y="429260"/>
            <a:ext cx="846046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Tictactoe Monte Carlo Tree Search Restricted</a:t>
            </a:r>
          </a:p>
        </p:txBody>
      </p:sp>
      <p:sp>
        <p:nvSpPr>
          <p:cNvPr name="TextBox 4" id="4"/>
          <p:cNvSpPr txBox="true"/>
          <p:nvPr/>
        </p:nvSpPr>
        <p:spPr>
          <a:xfrm rot="0">
            <a:off x="683538" y="1261841"/>
            <a:ext cx="17604462" cy="29768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Bài toán nghiên cứu cách áp dụng thuật toán tìm kiếm đối kháng (Adversarial Search) vào trò chơi Tic-Tac-Toe (Caro 3x3).</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Trò chơi này là zero-sum game:</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Người chơi X (Max) cố gắng tối đa hóa điểm số.</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Người chơi O (Min) cố gắng tối thiểu hóa điểm số.</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Kết quả thắng: X = +1, O = –1, Hòa = 0.</a:t>
            </a:r>
          </a:p>
        </p:txBody>
      </p:sp>
      <p:sp>
        <p:nvSpPr>
          <p:cNvPr name="TextBox 5" id="5"/>
          <p:cNvSpPr txBox="true"/>
          <p:nvPr/>
        </p:nvSpPr>
        <p:spPr>
          <a:xfrm rot="0">
            <a:off x="683538" y="4544060"/>
            <a:ext cx="736282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Các phương pháp tìm kiếm trong game.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4350" y="3505239"/>
            <a:ext cx="11237823" cy="965300"/>
          </a:xfrm>
          <a:custGeom>
            <a:avLst/>
            <a:gdLst/>
            <a:ahLst/>
            <a:cxnLst/>
            <a:rect r="r" b="b" t="t" l="l"/>
            <a:pathLst>
              <a:path h="965300" w="11237823">
                <a:moveTo>
                  <a:pt x="0" y="0"/>
                </a:moveTo>
                <a:lnTo>
                  <a:pt x="11237823" y="0"/>
                </a:lnTo>
                <a:lnTo>
                  <a:pt x="11237823" y="965300"/>
                </a:lnTo>
                <a:lnTo>
                  <a:pt x="0" y="965300"/>
                </a:lnTo>
                <a:lnTo>
                  <a:pt x="0" y="0"/>
                </a:lnTo>
                <a:close/>
              </a:path>
            </a:pathLst>
          </a:custGeom>
          <a:blipFill>
            <a:blip r:embed="rId2"/>
            <a:stretch>
              <a:fillRect l="0" t="0" r="0" b="0"/>
            </a:stretch>
          </a:blipFill>
        </p:spPr>
      </p:sp>
      <p:sp>
        <p:nvSpPr>
          <p:cNvPr name="TextBox 3" id="3"/>
          <p:cNvSpPr txBox="true"/>
          <p:nvPr/>
        </p:nvSpPr>
        <p:spPr>
          <a:xfrm rot="0">
            <a:off x="514350" y="231958"/>
            <a:ext cx="16322635" cy="209296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Mục tiêu của notebook.</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Cài đặt Monte Carlo Tree Search (MCTS) phiên bản đơn giản hóa – Restricted MCTS.</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Cải thiện Pure Monte Carlo Search bằng cách áp dụng Upper Confidence Bound (UCB1) để chọn nước đi.</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Không xây cây đầy đủ (UCT) mà chỉ dùng độ sâu = 1, giúp chương trình đơn giản và nhanh hơn.</a:t>
            </a:r>
          </a:p>
        </p:txBody>
      </p:sp>
      <p:sp>
        <p:nvSpPr>
          <p:cNvPr name="TextBox 4" id="4"/>
          <p:cNvSpPr txBox="true"/>
          <p:nvPr/>
        </p:nvSpPr>
        <p:spPr>
          <a:xfrm rot="0">
            <a:off x="514350" y="2572424"/>
            <a:ext cx="969502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Notebook import các hàm cơ bản từ file tictactoe.py:</a:t>
            </a:r>
          </a:p>
        </p:txBody>
      </p:sp>
      <p:sp>
        <p:nvSpPr>
          <p:cNvPr name="TextBox 5" id="5"/>
          <p:cNvSpPr txBox="true"/>
          <p:nvPr/>
        </p:nvSpPr>
        <p:spPr>
          <a:xfrm rot="0">
            <a:off x="514350" y="4874315"/>
            <a:ext cx="11779345" cy="2763434"/>
          </a:xfrm>
          <a:prstGeom prst="rect">
            <a:avLst/>
          </a:prstGeom>
        </p:spPr>
        <p:txBody>
          <a:bodyPr anchor="t" rtlCol="false" tIns="0" lIns="0" bIns="0" rIns="0">
            <a:spAutoFit/>
          </a:bodyPr>
          <a:lstStyle/>
          <a:p>
            <a:pPr algn="l">
              <a:lnSpc>
                <a:spcPts val="5075"/>
              </a:lnSpc>
              <a:spcBef>
                <a:spcPct val="0"/>
              </a:spcBef>
            </a:pPr>
            <a:r>
              <a:rPr lang="en-US" b="true" sz="3625">
                <a:solidFill>
                  <a:srgbClr val="000000"/>
                </a:solidFill>
                <a:latin typeface="Times New Roman Bold"/>
                <a:ea typeface="Times New Roman Bold"/>
                <a:cs typeface="Times New Roman Bold"/>
                <a:sym typeface="Times New Roman Bold"/>
              </a:rPr>
              <a:t>Quy trình thuật toán Monte Carlo Tree Search (Restricted):</a:t>
            </a:r>
          </a:p>
          <a:p>
            <a:pPr algn="l">
              <a:lnSpc>
                <a:spcPts val="4179"/>
              </a:lnSpc>
              <a:spcBef>
                <a:spcPct val="0"/>
              </a:spcBef>
            </a:pPr>
            <a:r>
              <a:rPr lang="en-US" b="true" sz="2985">
                <a:solidFill>
                  <a:srgbClr val="000000"/>
                </a:solidFill>
                <a:latin typeface="Times New Roman Bold"/>
                <a:ea typeface="Times New Roman Bold"/>
                <a:cs typeface="Times New Roman Bold"/>
                <a:sym typeface="Times New Roman Bold"/>
              </a:rPr>
              <a:t>1. Initialization: Tạo danh sách các hành động hợp lệ.</a:t>
            </a:r>
          </a:p>
          <a:p>
            <a:pPr algn="l">
              <a:lnSpc>
                <a:spcPts val="4179"/>
              </a:lnSpc>
              <a:spcBef>
                <a:spcPct val="0"/>
              </a:spcBef>
            </a:pPr>
            <a:r>
              <a:rPr lang="en-US" b="true" sz="2985">
                <a:solidFill>
                  <a:srgbClr val="000000"/>
                </a:solidFill>
                <a:latin typeface="Times New Roman Bold"/>
                <a:ea typeface="Times New Roman Bold"/>
                <a:cs typeface="Times New Roman Bold"/>
                <a:sym typeface="Times New Roman Bold"/>
              </a:rPr>
              <a:t>2. Simulation: Thực hiện nhiều ván chơi ngẫu nhiên để thu thập kết quả.</a:t>
            </a:r>
          </a:p>
          <a:p>
            <a:pPr algn="l">
              <a:lnSpc>
                <a:spcPts val="4179"/>
              </a:lnSpc>
              <a:spcBef>
                <a:spcPct val="0"/>
              </a:spcBef>
            </a:pPr>
            <a:r>
              <a:rPr lang="en-US" b="true" sz="2985">
                <a:solidFill>
                  <a:srgbClr val="000000"/>
                </a:solidFill>
                <a:latin typeface="Times New Roman Bold"/>
                <a:ea typeface="Times New Roman Bold"/>
                <a:cs typeface="Times New Roman Bold"/>
                <a:sym typeface="Times New Roman Bold"/>
              </a:rPr>
              <a:t>3. Evaluation: Tính giá trị trung bình cho mỗi hành động.</a:t>
            </a:r>
          </a:p>
          <a:p>
            <a:pPr algn="l">
              <a:lnSpc>
                <a:spcPts val="4179"/>
              </a:lnSpc>
              <a:spcBef>
                <a:spcPct val="0"/>
              </a:spcBef>
            </a:pPr>
            <a:r>
              <a:rPr lang="en-US" b="true" sz="2985">
                <a:solidFill>
                  <a:srgbClr val="000000"/>
                </a:solidFill>
                <a:latin typeface="Times New Roman Bold"/>
                <a:ea typeface="Times New Roman Bold"/>
                <a:cs typeface="Times New Roman Bold"/>
                <a:sym typeface="Times New Roman Bold"/>
              </a:rPr>
              <a:t>4. Selection: Dùng UCB1 để chọn nước đi tốt nhất.</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942975"/>
            <a:ext cx="17773650" cy="720026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Kết quả mô phỏng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Khi chạy 1000 lượt mô phỏng: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Agent với UCB1 thắng nhiều hơn so với agent random.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Hiệu suất gần tương đương Minimax ở bàn cờ nhỏ.</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UCB1 giúp thu hẹp không gian tìm kiếm mà vẫn duy trì hiệu quả chiến lược.</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luận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MCTS Restricted với UCB1 là phiên bản nhẹ và hiệu quả cho các trò chơi đơn giản như Tic-Tac-Toe.</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Tuy không đầy đủ như UCT, nhưng nó cải thiện đáng kể so với tìm kiếm ngẫu nhiên.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Có thể mở rộng cho game phức tạp hơn như Connect Four hoặc Dots and Boxes bằng cách tăng độ sâu và tái sử dụng cây tìm kiếm.</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25251" y="429260"/>
            <a:ext cx="652272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Tictactoe Pure Monte Carlo Search</a:t>
            </a:r>
          </a:p>
        </p:txBody>
      </p:sp>
      <p:sp>
        <p:nvSpPr>
          <p:cNvPr name="TextBox 3" id="3"/>
          <p:cNvSpPr txBox="true"/>
          <p:nvPr/>
        </p:nvSpPr>
        <p:spPr>
          <a:xfrm rot="0">
            <a:off x="525251" y="1117256"/>
            <a:ext cx="16315016" cy="29997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Là phiên bản cơ bản nhất của Monte Carlo Search.</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Ở mỗi trạng thái: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1. Thực hiện N lượt mô phỏng ngẫu nhiên (random playouts) cho từng hành động có thể.</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2. Tính giá trị trung bình của các kết quả (thắng = +1, thua = –1, hòa = 0).</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3. Chọn hành động có điểm trung bình cao nhất.</a:t>
            </a:r>
          </a:p>
        </p:txBody>
      </p:sp>
      <p:sp>
        <p:nvSpPr>
          <p:cNvPr name="TextBox 4" id="4"/>
          <p:cNvSpPr txBox="true"/>
          <p:nvPr/>
        </p:nvSpPr>
        <p:spPr>
          <a:xfrm rot="0">
            <a:off x="327957" y="4351006"/>
            <a:ext cx="17632085" cy="179959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mô phỏng (Playout Function)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Mục đích: Thực hiện một ván chơi ngẫu nhiên hoàn chỉnh từ trạng thái hiện tại cho đến khi kết thúc.</a:t>
            </a:r>
          </a:p>
        </p:txBody>
      </p:sp>
      <p:sp>
        <p:nvSpPr>
          <p:cNvPr name="TextBox 5" id="5"/>
          <p:cNvSpPr txBox="true"/>
          <p:nvPr/>
        </p:nvSpPr>
        <p:spPr>
          <a:xfrm rot="0">
            <a:off x="327957" y="6388721"/>
            <a:ext cx="7048138" cy="29997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Thử nghiệm: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Notebook chạy mô phỏng giữa:</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Pure Monte Carlo Agent (chọn theo kết quả mô phỏng)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Random Agent (chọn ngẫu nhiên)</a:t>
            </a:r>
          </a:p>
        </p:txBody>
      </p:sp>
      <p:sp>
        <p:nvSpPr>
          <p:cNvPr name="TextBox 6" id="6"/>
          <p:cNvSpPr txBox="true"/>
          <p:nvPr/>
        </p:nvSpPr>
        <p:spPr>
          <a:xfrm rot="0">
            <a:off x="8682759" y="6388721"/>
            <a:ext cx="8705853"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quả:</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Khi số lượng mô phỏng N tăng: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Tỉ lệ thắng của Monte Carlo Agent tăng lên rõ rệt.</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Khi N = 1000, agent này gần như không thua trong Tic-Tac-Toe.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422807" y="1511391"/>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22807" y="429260"/>
            <a:ext cx="1595318"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luận</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6658" y="1176801"/>
            <a:ext cx="412575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Assignment Connect 4</a:t>
            </a:r>
          </a:p>
        </p:txBody>
      </p:sp>
      <p:sp>
        <p:nvSpPr>
          <p:cNvPr name="TextBox 3" id="3"/>
          <p:cNvSpPr txBox="true"/>
          <p:nvPr/>
        </p:nvSpPr>
        <p:spPr>
          <a:xfrm rot="0">
            <a:off x="446658" y="429260"/>
            <a:ext cx="3203019"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Phần Assignment</a:t>
            </a:r>
          </a:p>
        </p:txBody>
      </p:sp>
      <p:sp>
        <p:nvSpPr>
          <p:cNvPr name="TextBox 4" id="4"/>
          <p:cNvSpPr txBox="true"/>
          <p:nvPr/>
        </p:nvSpPr>
        <p:spPr>
          <a:xfrm rot="0">
            <a:off x="446658" y="2145022"/>
            <a:ext cx="17841342" cy="21431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Phần này giới thiệu Pure Monte Carlo Search (PMCS) – một chiến lược đơn giản nhưng rất mạnh trong các trò chơi có không gian trạng thái khổng lồ như Connect-4.</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Thay vì duyệt toàn bộ cây trò chơi như minimax, PMCS đánh giá mỗi nước đi bằng mô phỏng ngẫu nhiên (random rollouts).</a:t>
            </a:r>
          </a:p>
        </p:txBody>
      </p:sp>
      <p:sp>
        <p:nvSpPr>
          <p:cNvPr name="TextBox 5" id="5"/>
          <p:cNvSpPr txBox="true"/>
          <p:nvPr/>
        </p:nvSpPr>
        <p:spPr>
          <a:xfrm rot="0">
            <a:off x="446658" y="4659622"/>
            <a:ext cx="17841342" cy="4650105"/>
          </a:xfrm>
          <a:prstGeom prst="rect">
            <a:avLst/>
          </a:prstGeom>
        </p:spPr>
        <p:txBody>
          <a:bodyPr anchor="t" rtlCol="false" tIns="0" lIns="0" bIns="0" rIns="0">
            <a:spAutoFit/>
          </a:bodyPr>
          <a:lstStyle/>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Ý tưởng cốt lõi</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Giả sử bạn đang ở một trạng thái (một bàn cờ).</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Từ mỗi hành động hợp lệ :</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 Thực hiện nước đó → ra trạng thái mới .</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Từ , chơi ngẫu nhiên cho đến hết ván (gọi là rollout).</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Ghi lại kết quả (thắng/thua/hòa).</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Lặp lại hàng trăm/lần cho mỗi hành động.</a:t>
            </a:r>
          </a:p>
          <a:p>
            <a:pPr algn="l">
              <a:lnSpc>
                <a:spcPts val="4620"/>
              </a:lnSpc>
              <a:spcBef>
                <a:spcPct val="0"/>
              </a:spcBef>
            </a:pPr>
            <a:r>
              <a:rPr lang="en-US" b="true" sz="3300">
                <a:solidFill>
                  <a:srgbClr val="000000"/>
                </a:solidFill>
                <a:latin typeface="Times New Roman Bold"/>
                <a:ea typeface="Times New Roman Bold"/>
                <a:cs typeface="Times New Roman Bold"/>
                <a:sym typeface="Times New Roman Bold"/>
              </a:rPr>
              <a:t>- Chọn hành động có tỷ lệ thắng cao nhất.</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7661" y="181610"/>
            <a:ext cx="7399497"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random_playout(board, to_move):</a:t>
            </a:r>
          </a:p>
        </p:txBody>
      </p:sp>
      <p:sp>
        <p:nvSpPr>
          <p:cNvPr name="TextBox 3" id="3"/>
          <p:cNvSpPr txBox="true"/>
          <p:nvPr/>
        </p:nvSpPr>
        <p:spPr>
          <a:xfrm rot="0">
            <a:off x="257661" y="942975"/>
            <a:ext cx="15068431" cy="599363"/>
          </a:xfrm>
          <a:prstGeom prst="rect">
            <a:avLst/>
          </a:prstGeom>
        </p:spPr>
        <p:txBody>
          <a:bodyPr anchor="t" rtlCol="false" tIns="0" lIns="0" bIns="0" rIns="0">
            <a:spAutoFit/>
          </a:bodyPr>
          <a:lstStyle/>
          <a:p>
            <a:pPr algn="l">
              <a:lnSpc>
                <a:spcPts val="4764"/>
              </a:lnSpc>
              <a:spcBef>
                <a:spcPct val="0"/>
              </a:spcBef>
            </a:pPr>
            <a:r>
              <a:rPr lang="en-US" b="true" sz="3403">
                <a:solidFill>
                  <a:srgbClr val="000000"/>
                </a:solidFill>
                <a:latin typeface="Times New Roman Bold"/>
                <a:ea typeface="Times New Roman Bold"/>
                <a:cs typeface="Times New Roman Bold"/>
                <a:sym typeface="Times New Roman Bold"/>
              </a:rPr>
              <a:t>Hàm này thực hiện một mô phỏng random từ trạng thái hiện tại đến khi kết thúc:</a:t>
            </a:r>
          </a:p>
        </p:txBody>
      </p:sp>
      <p:sp>
        <p:nvSpPr>
          <p:cNvPr name="TextBox 4" id="4"/>
          <p:cNvSpPr txBox="true"/>
          <p:nvPr/>
        </p:nvSpPr>
        <p:spPr>
          <a:xfrm rot="0">
            <a:off x="257661" y="1704263"/>
            <a:ext cx="9533692"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pure_monte_carlo_agent(board, player, sims):</a:t>
            </a:r>
          </a:p>
        </p:txBody>
      </p:sp>
      <p:sp>
        <p:nvSpPr>
          <p:cNvPr name="TextBox 5" id="5"/>
          <p:cNvSpPr txBox="true"/>
          <p:nvPr/>
        </p:nvSpPr>
        <p:spPr>
          <a:xfrm rot="0">
            <a:off x="257661" y="2465629"/>
            <a:ext cx="17314664"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Agent này chọn nước đi bằng cách mô phỏng Monte Carlo, sau khi hoàn tất sẽ tính tỷ lệ thắng</a:t>
            </a:r>
          </a:p>
        </p:txBody>
      </p:sp>
      <p:sp>
        <p:nvSpPr>
          <p:cNvPr name="TextBox 6" id="6"/>
          <p:cNvSpPr txBox="true"/>
          <p:nvPr/>
        </p:nvSpPr>
        <p:spPr>
          <a:xfrm rot="0">
            <a:off x="257661" y="3367971"/>
            <a:ext cx="17473017" cy="11995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bọc make_montecarlo_agent(sims):</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Giúp tạo agent có đúng interface agent(board, player) giống các agent khác (random/minimax)</a:t>
            </a:r>
          </a:p>
        </p:txBody>
      </p:sp>
      <p:sp>
        <p:nvSpPr>
          <p:cNvPr name="TextBox 7" id="7"/>
          <p:cNvSpPr txBox="true"/>
          <p:nvPr/>
        </p:nvSpPr>
        <p:spPr>
          <a:xfrm rot="0">
            <a:off x="257661" y="4729411"/>
            <a:ext cx="304228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Kiểm thử nhanh</a:t>
            </a:r>
          </a:p>
        </p:txBody>
      </p:sp>
      <p:sp>
        <p:nvSpPr>
          <p:cNvPr name="TextBox 8" id="8"/>
          <p:cNvSpPr txBox="true"/>
          <p:nvPr/>
        </p:nvSpPr>
        <p:spPr>
          <a:xfrm rot="0">
            <a:off x="375909" y="5590467"/>
            <a:ext cx="7198638" cy="13722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b0 = empty_board((4,5))</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best_first = mc(b0, 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print("Monte Carlo chọn cột đầu tiên:", best_first)</a:t>
            </a:r>
          </a:p>
        </p:txBody>
      </p:sp>
      <p:sp>
        <p:nvSpPr>
          <p:cNvPr name="TextBox 9" id="9"/>
          <p:cNvSpPr txBox="true"/>
          <p:nvPr/>
        </p:nvSpPr>
        <p:spPr>
          <a:xfrm rot="0">
            <a:off x="375909" y="7014886"/>
            <a:ext cx="17259300" cy="26765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quả phụ thuộc vào:</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Số mô phỏng (sims)</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Random seed (vì rollout là ngẫu nhiên)</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Nếu chạy nhiều lần, kết quả có thể hơi dao động, nhưng các cột giữa (đặc biệt là trung tâm) thường được chọn, vì trung tâm cho nhiều hướng kết nối hơn → xác suất thắng cao hơn.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669948" y="1725236"/>
          <a:ext cx="9429750" cy="2514600"/>
        </p:xfrm>
        <a:graphic>
          <a:graphicData uri="http://schemas.openxmlformats.org/presentationml/2006/ole">
            <p:oleObj imgW="11315700" imgH="4394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37224" y="429260"/>
            <a:ext cx="570833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So sánh với Heuristic Minimax</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3284" y="127104"/>
            <a:ext cx="13723264" cy="42767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Ứng dụng: “Best First Move”</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Mục tiêu: Tìm nước đi đầu tiên tốt nhất cho Red (player=1) bằng Pure Monte Carlo.</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Cách làm:</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1. Tạo board trống.</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2. Cho mỗi cột hợp lệ, mô phỏng nhiều rollout.</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3. Tính tỷ lệ thắng sau khi đi nước đó.</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4. Chọn cột có tỷ lệ thắng cao nhất.</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Ví dụ:</a:t>
            </a:r>
          </a:p>
        </p:txBody>
      </p:sp>
      <p:sp>
        <p:nvSpPr>
          <p:cNvPr name="TextBox 3" id="3"/>
          <p:cNvSpPr txBox="true"/>
          <p:nvPr/>
        </p:nvSpPr>
        <p:spPr>
          <a:xfrm rot="0">
            <a:off x="353284" y="4520219"/>
            <a:ext cx="6661785" cy="18294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mc = make_montecarlo_agent(sims=2000)</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b0 = empty_board((6,7))</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best = mc(b0, 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print("Best first move (MC sims=2000):", best)</a:t>
            </a:r>
          </a:p>
        </p:txBody>
      </p:sp>
      <p:sp>
        <p:nvSpPr>
          <p:cNvPr name="TextBox 4" id="4"/>
          <p:cNvSpPr txBox="true"/>
          <p:nvPr/>
        </p:nvSpPr>
        <p:spPr>
          <a:xfrm rot="0">
            <a:off x="303516" y="6766987"/>
            <a:ext cx="13423106" cy="16097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quả điển hình:</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Best first move: 3</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vì cột giữa (index 3) cho khả năng tạo kết nối nhiều hướng nhất (ngang, dọc, chéo).</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34461" y="429260"/>
            <a:ext cx="5288756"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Assignment Mean Connect 4</a:t>
            </a:r>
          </a:p>
        </p:txBody>
      </p:sp>
      <p:sp>
        <p:nvSpPr>
          <p:cNvPr name="TextBox 3" id="3"/>
          <p:cNvSpPr txBox="true"/>
          <p:nvPr/>
        </p:nvSpPr>
        <p:spPr>
          <a:xfrm rot="0">
            <a:off x="514350" y="1627580"/>
            <a:ext cx="17259300" cy="419989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Connect 4 là trò chơi 2 người, mỗi người lần lượt thả quân vào 7 cột, mỗi cột cao 6 ô. Ai tạo được 4 quân liên tiếp (ngang, dọc, chéo) trước là thắng.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“Mean” Connect 4 thêm luật đặc biệt:</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Mỗi lượt, thay vì thả quân mới, người chơi có thể “steal” — lấy một quân của đối thủ ở hàng đáy, rồi đặt lại vào bất kỳ cột nào. Các quân phía trên quân bị lấy sẽ rơi xuống.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Luật này làm game khó hơn nhiều, vì trạng thái có thể đảo lộn — do đó cây tìm kiếm trở nên phức tạp hơn.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482528" y="1389217"/>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4506932" y="6172556"/>
            <a:ext cx="4382754" cy="3754283"/>
          </a:xfrm>
          <a:custGeom>
            <a:avLst/>
            <a:gdLst/>
            <a:ahLst/>
            <a:cxnLst/>
            <a:rect r="r" b="b" t="t" l="l"/>
            <a:pathLst>
              <a:path h="3754283" w="4382754">
                <a:moveTo>
                  <a:pt x="0" y="0"/>
                </a:moveTo>
                <a:lnTo>
                  <a:pt x="4382753" y="0"/>
                </a:lnTo>
                <a:lnTo>
                  <a:pt x="4382753" y="3754283"/>
                </a:lnTo>
                <a:lnTo>
                  <a:pt x="0" y="3754283"/>
                </a:lnTo>
                <a:lnTo>
                  <a:pt x="0" y="0"/>
                </a:lnTo>
                <a:close/>
              </a:path>
            </a:pathLst>
          </a:custGeom>
          <a:blipFill>
            <a:blip r:embed="rId4"/>
            <a:stretch>
              <a:fillRect l="0" t="0" r="0" b="0"/>
            </a:stretch>
          </a:blipFill>
        </p:spPr>
      </p:sp>
      <p:sp>
        <p:nvSpPr>
          <p:cNvPr name="TextBox 4" id="4"/>
          <p:cNvSpPr txBox="true"/>
          <p:nvPr/>
        </p:nvSpPr>
        <p:spPr>
          <a:xfrm rot="0">
            <a:off x="334848" y="271690"/>
            <a:ext cx="676846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1: Defining the Search Problem</a:t>
            </a:r>
          </a:p>
        </p:txBody>
      </p:sp>
      <p:sp>
        <p:nvSpPr>
          <p:cNvPr name="TextBox 5" id="5"/>
          <p:cNvSpPr txBox="true"/>
          <p:nvPr/>
        </p:nvSpPr>
        <p:spPr>
          <a:xfrm rot="0">
            <a:off x="334848" y="7134663"/>
            <a:ext cx="3939064" cy="9150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board = empty_board((6,7))</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visualize(board)</a:t>
            </a:r>
          </a:p>
        </p:txBody>
      </p:sp>
      <p:sp>
        <p:nvSpPr>
          <p:cNvPr name="TextBox 6" id="6"/>
          <p:cNvSpPr txBox="true"/>
          <p:nvPr/>
        </p:nvSpPr>
        <p:spPr>
          <a:xfrm rot="0">
            <a:off x="334848" y="6279625"/>
            <a:ext cx="1428750"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quả:</a:t>
            </a:r>
          </a:p>
        </p:txBody>
      </p:sp>
      <p:sp>
        <p:nvSpPr>
          <p:cNvPr name="TextBox 7" id="7"/>
          <p:cNvSpPr txBox="true"/>
          <p:nvPr/>
        </p:nvSpPr>
        <p:spPr>
          <a:xfrm rot="0">
            <a:off x="9889992" y="333179"/>
            <a:ext cx="8165553" cy="7292339"/>
          </a:xfrm>
          <a:prstGeom prst="rect">
            <a:avLst/>
          </a:prstGeom>
        </p:spPr>
        <p:txBody>
          <a:bodyPr anchor="t" rtlCol="false" tIns="0" lIns="0" bIns="0" rIns="0">
            <a:spAutoFit/>
          </a:bodyPr>
          <a:lstStyle/>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State space estimate</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Mỗi ô: 3 giá trị {1, -1, 0}.</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Với 42 ô ⇒ tối đa trạng thái.</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Nhưng do trọng lực + luật chơi xen kẽ ⇒ thực tế nhỏ hơn (~10¹³–10¹⁵).</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“Mean” rule tăng khả năng sinh ra nhiều trạng thái khác biệt ⇒ không thể duyệt hết.</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Game tree size</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Branching factor ~7 (chỉ drop).</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Nhưng có steal: tối đa ~7×7=49 hành động.</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 Độ sâu ~42 ⇒ cây lý thuyết tới trạng thái — vô cùng lớn, nên cần:</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o alpha-beta pruning</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o heuristic cutoff</a:t>
            </a:r>
          </a:p>
          <a:p>
            <a:pPr algn="l">
              <a:lnSpc>
                <a:spcPts val="3867"/>
              </a:lnSpc>
              <a:spcBef>
                <a:spcPct val="0"/>
              </a:spcBef>
            </a:pPr>
            <a:r>
              <a:rPr lang="en-US" b="true" sz="2762">
                <a:solidFill>
                  <a:srgbClr val="000000"/>
                </a:solidFill>
                <a:latin typeface="Times New Roman Bold"/>
                <a:ea typeface="Times New Roman Bold"/>
                <a:cs typeface="Times New Roman Bold"/>
                <a:sym typeface="Times New Roman Bold"/>
              </a:rPr>
              <a:t>o hoặc Monte Carlo Search.</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0231" y="179531"/>
            <a:ext cx="8555402" cy="441007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2: Game Environment and Random Agent</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Environment functions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Đã định nghĩa:</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actions(board, 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result(board, player, action)</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terminal(board)</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utility(board, root_player)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Kiểm tra hoạt động đúng với mọi kích thước bàn.</a:t>
            </a:r>
          </a:p>
        </p:txBody>
      </p:sp>
      <p:sp>
        <p:nvSpPr>
          <p:cNvPr name="TextBox 3" id="3"/>
          <p:cNvSpPr txBox="true"/>
          <p:nvPr/>
        </p:nvSpPr>
        <p:spPr>
          <a:xfrm rot="0">
            <a:off x="210231" y="4800917"/>
            <a:ext cx="2698671"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Random agent</a:t>
            </a:r>
          </a:p>
        </p:txBody>
      </p:sp>
      <p:sp>
        <p:nvSpPr>
          <p:cNvPr name="TextBox 4" id="4"/>
          <p:cNvSpPr txBox="true"/>
          <p:nvPr/>
        </p:nvSpPr>
        <p:spPr>
          <a:xfrm rot="0">
            <a:off x="210231" y="5871845"/>
            <a:ext cx="5864900" cy="18294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def random_player(board, player=None):</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acts = actions(board, 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return random.choice(acts)</a:t>
            </a:r>
          </a:p>
          <a:p>
            <a:pPr algn="l">
              <a:lnSpc>
                <a:spcPts val="3640"/>
              </a:lnSpc>
              <a:spcBef>
                <a:spcPct val="0"/>
              </a:spcBef>
            </a:pPr>
          </a:p>
        </p:txBody>
      </p:sp>
      <p:sp>
        <p:nvSpPr>
          <p:cNvPr name="TextBox 5" id="5"/>
          <p:cNvSpPr txBox="true"/>
          <p:nvPr/>
        </p:nvSpPr>
        <p:spPr>
          <a:xfrm rot="0">
            <a:off x="9541244" y="942975"/>
            <a:ext cx="8521656" cy="593852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Tournament simulation</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res = run_tournament(random_player, random_player, n=1000)</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print("Kết quả 1000 trận:", res)</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quả thực tế (ví dụ chạy):</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quả 1000 trận (random v random): </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{1: 790, -1: 210, 0: 0}</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Nhận xét:</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Player 1 thắng nhiều hơn vì đi trước có lợi thế chiến thuật.</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Không có hòa vì random dễ tạo kết nối sớm.</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1240" y="180975"/>
            <a:ext cx="9131022" cy="16097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Task 3: Minimax Search with Alpha-Beta Pruning</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Heuristic evaluation</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Dựa trên số lượng quân liên tiếp và các “cửa sổ” dài 4 ô.</a:t>
            </a:r>
          </a:p>
        </p:txBody>
      </p:sp>
      <p:sp>
        <p:nvSpPr>
          <p:cNvPr name="TextBox 3" id="3"/>
          <p:cNvSpPr txBox="true"/>
          <p:nvPr/>
        </p:nvSpPr>
        <p:spPr>
          <a:xfrm rot="0">
            <a:off x="301240" y="2081439"/>
            <a:ext cx="8322469" cy="186499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def heuristic_eval_mean(board, root_player, connect_k=4):</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return math.tanh(raw / 1000.0)</a:t>
            </a:r>
          </a:p>
          <a:p>
            <a:pPr algn="l">
              <a:lnSpc>
                <a:spcPts val="3920"/>
              </a:lnSpc>
              <a:spcBef>
                <a:spcPct val="0"/>
              </a:spcBef>
            </a:pPr>
          </a:p>
        </p:txBody>
      </p:sp>
      <p:sp>
        <p:nvSpPr>
          <p:cNvPr name="TextBox 4" id="4"/>
          <p:cNvSpPr txBox="true"/>
          <p:nvPr/>
        </p:nvSpPr>
        <p:spPr>
          <a:xfrm rot="0">
            <a:off x="509651" y="3678401"/>
            <a:ext cx="9918168" cy="5072926"/>
          </a:xfrm>
          <a:prstGeom prst="rect">
            <a:avLst/>
          </a:prstGeom>
        </p:spPr>
        <p:txBody>
          <a:bodyPr anchor="t" rtlCol="false" tIns="0" lIns="0" bIns="0" rIns="0">
            <a:spAutoFit/>
          </a:bodyPr>
          <a:lstStyle/>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Đặc biệt thêm:</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Phạt nhẹ nếu đối thủ có nhiều quân ở hàng đáy (vì dễ bị steal).</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Minimax Agent (Alpha-Beta Cutoff)</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Cài đặt lớp MinimaxMeanAgent, với:</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depth cutoff</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move_ordering</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alpha-beta pruning</a:t>
            </a:r>
          </a:p>
          <a:p>
            <a:pPr algn="l">
              <a:lnSpc>
                <a:spcPts val="4023"/>
              </a:lnSpc>
              <a:spcBef>
                <a:spcPct val="0"/>
              </a:spcBef>
            </a:pPr>
            <a:r>
              <a:rPr lang="en-US" b="true" sz="2874">
                <a:solidFill>
                  <a:srgbClr val="000000"/>
                </a:solidFill>
                <a:latin typeface="Times New Roman Bold"/>
                <a:ea typeface="Times New Roman Bold"/>
                <a:cs typeface="Times New Roman Bold"/>
                <a:sym typeface="Times New Roman Bold"/>
              </a:rPr>
              <a:t> </a:t>
            </a:r>
          </a:p>
          <a:p>
            <a:pPr algn="l">
              <a:lnSpc>
                <a:spcPts val="4023"/>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462465" y="1673377"/>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62465" y="5628281"/>
            <a:ext cx="2482930"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Thời gian xử lý</a:t>
            </a:r>
          </a:p>
        </p:txBody>
      </p:sp>
      <p:sp>
        <p:nvSpPr>
          <p:cNvPr name="TextBox 4" id="4"/>
          <p:cNvSpPr txBox="true"/>
          <p:nvPr/>
        </p:nvSpPr>
        <p:spPr>
          <a:xfrm rot="0">
            <a:off x="462465" y="6665513"/>
            <a:ext cx="14488588" cy="2842868"/>
          </a:xfrm>
          <a:prstGeom prst="rect">
            <a:avLst/>
          </a:prstGeom>
        </p:spPr>
        <p:txBody>
          <a:bodyPr anchor="t" rtlCol="false" tIns="0" lIns="0" bIns="0" rIns="0">
            <a:spAutoFit/>
          </a:bodyPr>
          <a:lstStyle/>
          <a:p>
            <a:pPr algn="l">
              <a:lnSpc>
                <a:spcPts val="3761"/>
              </a:lnSpc>
              <a:spcBef>
                <a:spcPct val="0"/>
              </a:spcBef>
            </a:pPr>
            <a:r>
              <a:rPr lang="en-US" b="true" sz="2686">
                <a:solidFill>
                  <a:srgbClr val="000000"/>
                </a:solidFill>
                <a:latin typeface="Times New Roman Bold"/>
                <a:ea typeface="Times New Roman Bold"/>
                <a:cs typeface="Times New Roman Bold"/>
                <a:sym typeface="Times New Roman Bold"/>
              </a:rPr>
              <a:t>for rows, cols in [(4,4),(4,6),(6,7)]:</a:t>
            </a:r>
          </a:p>
          <a:p>
            <a:pPr algn="l">
              <a:lnSpc>
                <a:spcPts val="3761"/>
              </a:lnSpc>
              <a:spcBef>
                <a:spcPct val="0"/>
              </a:spcBef>
            </a:pPr>
            <a:r>
              <a:rPr lang="en-US" b="true" sz="2686">
                <a:solidFill>
                  <a:srgbClr val="000000"/>
                </a:solidFill>
                <a:latin typeface="Times New Roman Bold"/>
                <a:ea typeface="Times New Roman Bold"/>
                <a:cs typeface="Times New Roman Bold"/>
                <a:sym typeface="Times New Roman Bold"/>
              </a:rPr>
              <a:t>  for depth in [2,4,6]:</a:t>
            </a:r>
          </a:p>
          <a:p>
            <a:pPr algn="l">
              <a:lnSpc>
                <a:spcPts val="3761"/>
              </a:lnSpc>
              <a:spcBef>
                <a:spcPct val="0"/>
              </a:spcBef>
            </a:pPr>
            <a:r>
              <a:rPr lang="en-US" b="true" sz="2686">
                <a:solidFill>
                  <a:srgbClr val="000000"/>
                </a:solidFill>
                <a:latin typeface="Times New Roman Bold"/>
                <a:ea typeface="Times New Roman Bold"/>
                <a:cs typeface="Times New Roman Bold"/>
                <a:sym typeface="Times New Roman Bold"/>
              </a:rPr>
              <a:t>    ag = make_minimax_mean_agent(depth=depth, move_ordering=True)</a:t>
            </a:r>
          </a:p>
          <a:p>
            <a:pPr algn="l">
              <a:lnSpc>
                <a:spcPts val="3761"/>
              </a:lnSpc>
              <a:spcBef>
                <a:spcPct val="0"/>
              </a:spcBef>
            </a:pPr>
            <a:r>
              <a:rPr lang="en-US" b="true" sz="2686">
                <a:solidFill>
                  <a:srgbClr val="000000"/>
                </a:solidFill>
                <a:latin typeface="Times New Roman Bold"/>
                <a:ea typeface="Times New Roman Bold"/>
                <a:cs typeface="Times New Roman Bold"/>
                <a:sym typeface="Times New Roman Bold"/>
              </a:rPr>
              <a:t>    t, nodes = time_agent_on_board(ag, rows, cols, trials=1)</a:t>
            </a:r>
          </a:p>
          <a:p>
            <a:pPr algn="l">
              <a:lnSpc>
                <a:spcPts val="3761"/>
              </a:lnSpc>
              <a:spcBef>
                <a:spcPct val="0"/>
              </a:spcBef>
            </a:pPr>
            <a:r>
              <a:rPr lang="en-US" b="true" sz="2686">
                <a:solidFill>
                  <a:srgbClr val="000000"/>
                </a:solidFill>
                <a:latin typeface="Times New Roman Bold"/>
                <a:ea typeface="Times New Roman Bold"/>
                <a:cs typeface="Times New Roman Bold"/>
                <a:sym typeface="Times New Roman Bold"/>
              </a:rPr>
              <a:t>    print(f"board={rows}x{cols}, depth={depth}: time≈{t:.4f}s, nodes_expanded_snapshot={nodes}")</a:t>
            </a:r>
          </a:p>
          <a:p>
            <a:pPr algn="l">
              <a:lnSpc>
                <a:spcPts val="3761"/>
              </a:lnSpc>
              <a:spcBef>
                <a:spcPct val="0"/>
              </a:spcBef>
            </a:pPr>
          </a:p>
        </p:txBody>
      </p:sp>
      <p:sp>
        <p:nvSpPr>
          <p:cNvPr name="TextBox 5" id="5"/>
          <p:cNvSpPr txBox="true"/>
          <p:nvPr/>
        </p:nvSpPr>
        <p:spPr>
          <a:xfrm rot="0">
            <a:off x="462465" y="26684"/>
            <a:ext cx="4600218" cy="11995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Kiểm thử các board mẫu</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Ví dụ kết quả:</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11683" y="369425"/>
            <a:ext cx="11492865" cy="5660390"/>
          </a:xfrm>
          <a:prstGeom prst="rect">
            <a:avLst/>
          </a:prstGeom>
        </p:spPr>
        <p:txBody>
          <a:bodyPr anchor="t" rtlCol="false" tIns="0" lIns="0" bIns="0" rIns="0">
            <a:spAutoFit/>
          </a:bodyPr>
          <a:lstStyle/>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Kết quả:</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board=4x4, depth=2: time≈0.0121s, nodes_expanded_snapshot=28</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board=4x4, depth=4: time≈0.4101s, nodes_expanded_snapshot=548</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board=4x4, depth=6: time≈6.6160s, nodes_expanded_snapshot=8334</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board=4x6, depth=2: time≈0.0684s, nodes_expanded_snapshot=23</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board=4x6, depth=4: time≈3.5637s, nodes_expanded_snapshot=1120</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board=4x6, depth=6: time≈48.9341s, nodes_expanded_snapshot=14605</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board=6x7, depth=2: time≈0.2350s, nodes_expanded_snapshot=27</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board=6x7, depth=4: time≈8.3281s, nodes_expanded_snapshot=699</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board=6x7, depth=6: time≈207.3598s, nodes_expanded_snapshot=14314</a:t>
            </a:r>
          </a:p>
          <a:p>
            <a:pPr algn="l">
              <a:lnSpc>
                <a:spcPts val="4060"/>
              </a:lnSpc>
              <a:spcBef>
                <a:spcPct val="0"/>
              </a:spcBef>
            </a:pPr>
            <a:r>
              <a:rPr lang="en-US" b="true" sz="2900">
                <a:solidFill>
                  <a:srgbClr val="000000"/>
                </a:solidFill>
                <a:latin typeface="Times New Roman Bold"/>
                <a:ea typeface="Times New Roman Bold"/>
                <a:cs typeface="Times New Roman Bold"/>
                <a:sym typeface="Times New Roman Bold"/>
              </a:rPr>
              <a:t>→ Tăng theo cấp số nhân với depth và kích thước bàn.</a:t>
            </a:r>
          </a:p>
        </p:txBody>
      </p:sp>
      <p:graphicFrame>
        <p:nvGraphicFramePr>
          <p:cNvPr name="Object 3" id="3"/>
          <p:cNvGraphicFramePr/>
          <p:nvPr/>
        </p:nvGraphicFramePr>
        <p:xfrm>
          <a:off x="511683" y="7668838"/>
          <a:ext cx="3771900" cy="1885950"/>
        </p:xfrm>
        <a:graphic>
          <a:graphicData uri="http://schemas.openxmlformats.org/presentationml/2006/ole">
            <p:oleObj imgW="4521200" imgH="2628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 id="4"/>
          <p:cNvSpPr txBox="true"/>
          <p:nvPr/>
        </p:nvSpPr>
        <p:spPr>
          <a:xfrm rot="0">
            <a:off x="511683" y="6311208"/>
            <a:ext cx="6125766" cy="9956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Move Ordering</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So sánh có và không sắp xếp hành động:</a:t>
            </a:r>
          </a:p>
        </p:txBody>
      </p:sp>
      <p:sp>
        <p:nvSpPr>
          <p:cNvPr name="TextBox 5" id="5"/>
          <p:cNvSpPr txBox="true"/>
          <p:nvPr/>
        </p:nvSpPr>
        <p:spPr>
          <a:xfrm rot="0">
            <a:off x="6637448" y="8722360"/>
            <a:ext cx="7796133" cy="9956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Hiệu quả rõ rệt — vì cắt tỉa alpha-beta mạnh hơn khi hành động tốt được duyệt trước</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416929" y="3283598"/>
          <a:ext cx="3771900" cy="2514600"/>
        </p:xfrm>
        <a:graphic>
          <a:graphicData uri="http://schemas.openxmlformats.org/presentationml/2006/ole">
            <p:oleObj imgW="4521200" imgH="326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10284823" y="1351808"/>
            <a:ext cx="7357148" cy="5789415"/>
          </a:xfrm>
          <a:custGeom>
            <a:avLst/>
            <a:gdLst/>
            <a:ahLst/>
            <a:cxnLst/>
            <a:rect r="r" b="b" t="t" l="l"/>
            <a:pathLst>
              <a:path h="5789415" w="7357148">
                <a:moveTo>
                  <a:pt x="0" y="0"/>
                </a:moveTo>
                <a:lnTo>
                  <a:pt x="7357148" y="0"/>
                </a:lnTo>
                <a:lnTo>
                  <a:pt x="7357148" y="5789415"/>
                </a:lnTo>
                <a:lnTo>
                  <a:pt x="0" y="5789415"/>
                </a:lnTo>
                <a:lnTo>
                  <a:pt x="0" y="0"/>
                </a:lnTo>
                <a:close/>
              </a:path>
            </a:pathLst>
          </a:custGeom>
          <a:blipFill>
            <a:blip r:embed="rId4"/>
            <a:stretch>
              <a:fillRect l="0" t="0" r="0" b="0"/>
            </a:stretch>
          </a:blipFill>
        </p:spPr>
      </p:sp>
      <p:sp>
        <p:nvSpPr>
          <p:cNvPr name="TextBox 4" id="4"/>
          <p:cNvSpPr txBox="true"/>
          <p:nvPr/>
        </p:nvSpPr>
        <p:spPr>
          <a:xfrm rot="0">
            <a:off x="416929" y="294200"/>
            <a:ext cx="7639764"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4: Heuristic Alpha-Beta Tree Search</a:t>
            </a:r>
          </a:p>
        </p:txBody>
      </p:sp>
      <p:sp>
        <p:nvSpPr>
          <p:cNvPr name="TextBox 5" id="5"/>
          <p:cNvSpPr txBox="true"/>
          <p:nvPr/>
        </p:nvSpPr>
        <p:spPr>
          <a:xfrm rot="0">
            <a:off x="416929" y="942975"/>
            <a:ext cx="7639764" cy="11995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Heuristic function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Đã có mô tả và có thêm yếu tố steal.</a:t>
            </a:r>
          </a:p>
        </p:txBody>
      </p:sp>
      <p:sp>
        <p:nvSpPr>
          <p:cNvPr name="TextBox 6" id="6"/>
          <p:cNvSpPr txBox="true"/>
          <p:nvPr/>
        </p:nvSpPr>
        <p:spPr>
          <a:xfrm rot="0">
            <a:off x="416929" y="2369833"/>
            <a:ext cx="450830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Depth cutoff experiment</a:t>
            </a:r>
          </a:p>
        </p:txBody>
      </p:sp>
      <p:sp>
        <p:nvSpPr>
          <p:cNvPr name="TextBox 7" id="7"/>
          <p:cNvSpPr txBox="true"/>
          <p:nvPr/>
        </p:nvSpPr>
        <p:spPr>
          <a:xfrm rot="0">
            <a:off x="416929" y="6826898"/>
            <a:ext cx="8103513"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Depth=4 là cân bằng tốt giữa tốc độ và chất lượng</a:t>
            </a:r>
          </a:p>
        </p:txBody>
      </p:sp>
      <p:sp>
        <p:nvSpPr>
          <p:cNvPr name="TextBox 8" id="8"/>
          <p:cNvSpPr txBox="true"/>
          <p:nvPr/>
        </p:nvSpPr>
        <p:spPr>
          <a:xfrm rot="0">
            <a:off x="403951" y="7607948"/>
            <a:ext cx="9042559" cy="19862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Heuristic Agents vs nhau</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winner, final_board = play_game(agB, agA, rows=4, cols=5)</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Kết quả:</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agB (depth6) thắng agA (depth4)</a:t>
            </a:r>
          </a:p>
        </p:txBody>
      </p:sp>
      <p:sp>
        <p:nvSpPr>
          <p:cNvPr name="TextBox 9" id="9"/>
          <p:cNvSpPr txBox="true"/>
          <p:nvPr/>
        </p:nvSpPr>
        <p:spPr>
          <a:xfrm rot="0">
            <a:off x="11036007" y="429260"/>
            <a:ext cx="292739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Hình minh họa:</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9741" y="271690"/>
            <a:ext cx="8839319"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5: Monte Carlo Search (Graduate / Bonus)</a:t>
            </a:r>
          </a:p>
        </p:txBody>
      </p:sp>
      <p:sp>
        <p:nvSpPr>
          <p:cNvPr name="TextBox 3" id="3"/>
          <p:cNvSpPr txBox="true"/>
          <p:nvPr/>
        </p:nvSpPr>
        <p:spPr>
          <a:xfrm rot="0">
            <a:off x="439741" y="1012513"/>
            <a:ext cx="4464487"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Pure Monte Carlo agent</a:t>
            </a:r>
          </a:p>
        </p:txBody>
      </p:sp>
      <p:sp>
        <p:nvSpPr>
          <p:cNvPr name="TextBox 4" id="4"/>
          <p:cNvSpPr txBox="true"/>
          <p:nvPr/>
        </p:nvSpPr>
        <p:spPr>
          <a:xfrm rot="0">
            <a:off x="439741" y="1773878"/>
            <a:ext cx="9884807" cy="7315835"/>
          </a:xfrm>
          <a:prstGeom prst="rect">
            <a:avLst/>
          </a:prstGeom>
        </p:spPr>
        <p:txBody>
          <a:bodyPr anchor="t" rtlCol="false" tIns="0" lIns="0" bIns="0" rIns="0">
            <a:spAutoFit/>
          </a:bodyPr>
          <a:lstStyle/>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def pure_montecarlo_agent(board, player=1, sims=200, connect_k=4):</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legal = actions(board, 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best, best_rate = None, -1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for a in legal:</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wins = 0</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for _ in range(sims):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nb = result(board, player, a)</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w = random_playout_mean(nb, -player, connect_k=connect_k)</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if w == player:</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wins += 1</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rate = wins / sims</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if rate &gt; best_rate:</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best_rate = rate</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best = a</a:t>
            </a:r>
          </a:p>
          <a:p>
            <a:pPr algn="l">
              <a:lnSpc>
                <a:spcPts val="3640"/>
              </a:lnSpc>
              <a:spcBef>
                <a:spcPct val="0"/>
              </a:spcBef>
            </a:pPr>
            <a:r>
              <a:rPr lang="en-US" b="true" sz="2600">
                <a:solidFill>
                  <a:srgbClr val="000000"/>
                </a:solidFill>
                <a:latin typeface="Times New Roman Bold"/>
                <a:ea typeface="Times New Roman Bold"/>
                <a:cs typeface="Times New Roman Bold"/>
                <a:sym typeface="Times New Roman Bold"/>
              </a:rPr>
              <a:t>  return best</a:t>
            </a:r>
          </a:p>
          <a:p>
            <a:pPr algn="l">
              <a:lnSpc>
                <a:spcPts val="3640"/>
              </a:lnSpc>
              <a:spcBef>
                <a:spcPct val="0"/>
              </a:spcBef>
            </a:pPr>
          </a:p>
        </p:txBody>
      </p:sp>
      <p:sp>
        <p:nvSpPr>
          <p:cNvPr name="TextBox 5" id="5"/>
          <p:cNvSpPr txBox="true"/>
          <p:nvPr/>
        </p:nvSpPr>
        <p:spPr>
          <a:xfrm rot="0">
            <a:off x="439741" y="8932228"/>
            <a:ext cx="14207133" cy="56642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Mỗi hành động được đánh giá bằng xác suất thắng trong nhiều rollout ngẫu nhiên</a:t>
            </a: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1241" y="429260"/>
            <a:ext cx="356937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Test best first move</a:t>
            </a:r>
          </a:p>
        </p:txBody>
      </p:sp>
      <p:sp>
        <p:nvSpPr>
          <p:cNvPr name="TextBox 3" id="3"/>
          <p:cNvSpPr txBox="true"/>
          <p:nvPr/>
        </p:nvSpPr>
        <p:spPr>
          <a:xfrm rot="0">
            <a:off x="471241" y="1087560"/>
            <a:ext cx="8672759" cy="19862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mc = make_montecarlo_agent(sims=500)</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b0 = empty_board((6,7))</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best_first = mc(b0, 1)</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print("Best first move:", best_first)</a:t>
            </a:r>
          </a:p>
        </p:txBody>
      </p:sp>
      <p:sp>
        <p:nvSpPr>
          <p:cNvPr name="TextBox 4" id="4"/>
          <p:cNvSpPr txBox="true"/>
          <p:nvPr/>
        </p:nvSpPr>
        <p:spPr>
          <a:xfrm rot="0">
            <a:off x="471241" y="3255710"/>
            <a:ext cx="16591121" cy="281432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Kết quả:</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Best first move: ('drop', 3)</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Giải thích:</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 Cột giữa (3) có xác suất thắng cao nhất khi chơi random vì tạo được nhiều hướng kết nối nhất.</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Kết quả phù hợp với lý thuyết (và solver Connect-4 cổ điển)</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13793" y="429260"/>
            <a:ext cx="516993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Assignment Dots And Boxes</a:t>
            </a:r>
          </a:p>
        </p:txBody>
      </p:sp>
      <p:sp>
        <p:nvSpPr>
          <p:cNvPr name="TextBox 3" id="3"/>
          <p:cNvSpPr txBox="true"/>
          <p:nvPr/>
        </p:nvSpPr>
        <p:spPr>
          <a:xfrm rot="0">
            <a:off x="413793" y="1103009"/>
            <a:ext cx="12130207" cy="29768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Giới thiệu trò chơi</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Dots and Boxes là trò chơi trên giấy dành cho hai người:</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Người chơi lần lượt nối hai điểm liền kề bằng một đoạn thẳng ngang hoặc dọc.</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Ai hoàn thành ô vuông 1×1 sẽ được điểm và đi tiếp một lượt.</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Trò chơi kết thúc khi không còn đường nào có thể nối.</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o Người thắng là người có nhiều ô vuông (điểm) nhất.</a:t>
            </a:r>
          </a:p>
        </p:txBody>
      </p:sp>
      <p:sp>
        <p:nvSpPr>
          <p:cNvPr name="TextBox 4" id="4"/>
          <p:cNvSpPr txBox="true"/>
          <p:nvPr/>
        </p:nvSpPr>
        <p:spPr>
          <a:xfrm rot="0">
            <a:off x="413793" y="4363980"/>
            <a:ext cx="676846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1: Defining the Search Problem</a:t>
            </a:r>
          </a:p>
        </p:txBody>
      </p:sp>
      <p:sp>
        <p:nvSpPr>
          <p:cNvPr name="TextBox 5" id="5"/>
          <p:cNvSpPr txBox="true"/>
          <p:nvPr/>
        </p:nvSpPr>
        <p:spPr>
          <a:xfrm rot="0">
            <a:off x="413793" y="5057775"/>
            <a:ext cx="164270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Mụ</a:t>
            </a:r>
            <a:r>
              <a:rPr lang="en-US" b="true" sz="3399">
                <a:solidFill>
                  <a:srgbClr val="000000"/>
                </a:solidFill>
                <a:latin typeface="Times New Roman Bold"/>
                <a:ea typeface="Times New Roman Bold"/>
                <a:cs typeface="Times New Roman Bold"/>
                <a:sym typeface="Times New Roman Bold"/>
              </a:rPr>
              <a:t>c tiêu</a:t>
            </a:r>
          </a:p>
        </p:txBody>
      </p:sp>
      <p:sp>
        <p:nvSpPr>
          <p:cNvPr name="TextBox 6" id="6"/>
          <p:cNvSpPr txBox="true"/>
          <p:nvPr/>
        </p:nvSpPr>
        <p:spPr>
          <a:xfrm rot="0">
            <a:off x="413793" y="5942965"/>
            <a:ext cx="18137192" cy="179959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Trong phần này, sinh viên cần xác định các thành phần cơ bản của bài toán tìm kiếm (Search Problem) áp dụng cho trò chơi Dots and Boxes, từ đó chuẩn bị nền tảng cho việc triển khai các thuật toán tìm kiếm đối kháng như Minimax và Alpha–Beta Pruning ở các phần sau.</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389146" y="1371600"/>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89146" y="294200"/>
            <a:ext cx="706505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Các thành phần của bài toán tìm kiếm</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5867" y="3342640"/>
            <a:ext cx="3431887" cy="803208"/>
          </a:xfrm>
          <a:custGeom>
            <a:avLst/>
            <a:gdLst/>
            <a:ahLst/>
            <a:cxnLst/>
            <a:rect r="r" b="b" t="t" l="l"/>
            <a:pathLst>
              <a:path h="803208" w="3431887">
                <a:moveTo>
                  <a:pt x="0" y="0"/>
                </a:moveTo>
                <a:lnTo>
                  <a:pt x="3431887" y="0"/>
                </a:lnTo>
                <a:lnTo>
                  <a:pt x="3431887" y="803208"/>
                </a:lnTo>
                <a:lnTo>
                  <a:pt x="0" y="803208"/>
                </a:lnTo>
                <a:lnTo>
                  <a:pt x="0" y="0"/>
                </a:lnTo>
                <a:close/>
              </a:path>
            </a:pathLst>
          </a:custGeom>
          <a:blipFill>
            <a:blip r:embed="rId2"/>
            <a:stretch>
              <a:fillRect l="0" t="0" r="0" b="0"/>
            </a:stretch>
          </a:blipFill>
        </p:spPr>
      </p:sp>
      <p:sp>
        <p:nvSpPr>
          <p:cNvPr name="TextBox 3" id="3"/>
          <p:cNvSpPr txBox="true"/>
          <p:nvPr/>
        </p:nvSpPr>
        <p:spPr>
          <a:xfrm rot="0">
            <a:off x="267369" y="231380"/>
            <a:ext cx="2266355"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State Space:</a:t>
            </a:r>
          </a:p>
        </p:txBody>
      </p:sp>
      <p:sp>
        <p:nvSpPr>
          <p:cNvPr name="TextBox 4" id="4"/>
          <p:cNvSpPr txBox="true"/>
          <p:nvPr/>
        </p:nvSpPr>
        <p:spPr>
          <a:xfrm rot="0">
            <a:off x="339283" y="942975"/>
            <a:ext cx="17259300" cy="239966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Với bàn cờ có kích thước n× n ô vuông, có tổng cộng:</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Số cạnh = 2n(n + 1) </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Mỗi cạnh có thể ở 2 trạng thái (được nối hoặc chưa), do đó không gian trạng thái ước lượng là:</a:t>
            </a:r>
          </a:p>
        </p:txBody>
      </p:sp>
      <p:sp>
        <p:nvSpPr>
          <p:cNvPr name="TextBox 5" id="5"/>
          <p:cNvSpPr txBox="true"/>
          <p:nvPr/>
        </p:nvSpPr>
        <p:spPr>
          <a:xfrm rot="0">
            <a:off x="267369" y="4260148"/>
            <a:ext cx="335732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Game Tree Space:</a:t>
            </a:r>
          </a:p>
        </p:txBody>
      </p:sp>
      <p:sp>
        <p:nvSpPr>
          <p:cNvPr name="TextBox 6" id="6"/>
          <p:cNvSpPr txBox="true"/>
          <p:nvPr/>
        </p:nvSpPr>
        <p:spPr>
          <a:xfrm rot="0">
            <a:off x="339283" y="5348854"/>
            <a:ext cx="10726102" cy="1690370"/>
          </a:xfrm>
          <a:prstGeom prst="rect">
            <a:avLst/>
          </a:prstGeom>
        </p:spPr>
        <p:txBody>
          <a:bodyPr anchor="t" rtlCol="false" tIns="0" lIns="0" bIns="0" rIns="0">
            <a:spAutoFit/>
          </a:bodyPr>
          <a:lstStyle/>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 Ở trạng thái ban đầu, có E=2n(n+1) hành động hợp lệ.</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 Mỗi lần chọn một hành động, số hành động hợp lệ giảm đi 1.</a:t>
            </a:r>
          </a:p>
          <a:p>
            <a:pPr algn="l">
              <a:lnSpc>
                <a:spcPts val="4480"/>
              </a:lnSpc>
              <a:spcBef>
                <a:spcPct val="0"/>
              </a:spcBef>
            </a:pPr>
            <a:r>
              <a:rPr lang="en-US" b="true" sz="3200">
                <a:solidFill>
                  <a:srgbClr val="000000"/>
                </a:solidFill>
                <a:latin typeface="Times New Roman Bold"/>
                <a:ea typeface="Times New Roman Bold"/>
                <a:cs typeface="Times New Roman Bold"/>
                <a:sym typeface="Times New Roman Bold"/>
              </a:rPr>
              <a:t>· Số nút trong cây trò chơi (khi không cắt tỉa) xấp xỉ: E! </a:t>
            </a:r>
          </a:p>
        </p:txBody>
      </p:sp>
      <p:sp>
        <p:nvSpPr>
          <p:cNvPr name="TextBox 7" id="7"/>
          <p:cNvSpPr txBox="true"/>
          <p:nvPr/>
        </p:nvSpPr>
        <p:spPr>
          <a:xfrm rot="0">
            <a:off x="339283" y="7262745"/>
            <a:ext cx="15262146" cy="26765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Kết luận</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Task 1 giúp sinh viên:</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Hiểu cấu trúc bài toán tìm kiếm trong trò chơi đối kháng.</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Nhận ra độ phức tạp tăng theo cấp số mũ của không gian trạng thái.</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Chuẩn bị nền tảng cho việc triển khai Minimax và Alpha–Beta Pruning ở các phần tiếp theo.</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63498" y="253890"/>
            <a:ext cx="878050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2: Game Environment and Random Agent</a:t>
            </a:r>
          </a:p>
        </p:txBody>
      </p:sp>
      <p:sp>
        <p:nvSpPr>
          <p:cNvPr name="TextBox 3" id="3"/>
          <p:cNvSpPr txBox="true"/>
          <p:nvPr/>
        </p:nvSpPr>
        <p:spPr>
          <a:xfrm rot="0">
            <a:off x="363498" y="952500"/>
            <a:ext cx="16515398" cy="24815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Trong Task 2, sinh viên cần xây dựng môi trường trò chơi (game environment) cho Dots and Boxes, bao gồm:</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Cấu trúc dữ liệu để biểu diễn bàn cờ.</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Các hàm xử lý hành động (vẽ cạnh, cập nhật ô vuông, kiểm tra hợp lệ).</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Viết hàm hiển thị bàn cờ (display).</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Tạo Random Agent — tác tử chọn hành động ngẫu nhiên để chơi thử.</a:t>
            </a:r>
          </a:p>
        </p:txBody>
      </p:sp>
      <p:sp>
        <p:nvSpPr>
          <p:cNvPr name="TextBox 4" id="4"/>
          <p:cNvSpPr txBox="true"/>
          <p:nvPr/>
        </p:nvSpPr>
        <p:spPr>
          <a:xfrm rot="0">
            <a:off x="363498" y="3853890"/>
            <a:ext cx="9308187"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3: Minimax Search with Alpha–Beta Pruning</a:t>
            </a:r>
          </a:p>
        </p:txBody>
      </p:sp>
      <p:sp>
        <p:nvSpPr>
          <p:cNvPr name="TextBox 5" id="5"/>
          <p:cNvSpPr txBox="true"/>
          <p:nvPr/>
        </p:nvSpPr>
        <p:spPr>
          <a:xfrm rot="0">
            <a:off x="363498" y="4725096"/>
            <a:ext cx="14966276" cy="19862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Trong phần này, sinh viên cần:</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Cài đặt thuật toán Minimax để chọn hành động tối ưu cho người chơi.</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Bổ sung kỹ thuật cắt tỉa Alpha–Beta để giảm số lượng nút cần duyệt trong cây tìm kiếm.</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Tạo Minimax Agent có thể chơi Dots and Boxes dựa trên trạng thái bàn cờ và người chơi hiện tại.</a:t>
            </a:r>
          </a:p>
        </p:txBody>
      </p:sp>
      <p:sp>
        <p:nvSpPr>
          <p:cNvPr name="TextBox 6" id="6"/>
          <p:cNvSpPr txBox="true"/>
          <p:nvPr/>
        </p:nvSpPr>
        <p:spPr>
          <a:xfrm rot="0">
            <a:off x="363498" y="6987601"/>
            <a:ext cx="15955804" cy="2481580"/>
          </a:xfrm>
          <a:prstGeom prst="rect">
            <a:avLst/>
          </a:prstGeom>
        </p:spPr>
        <p:txBody>
          <a:bodyPr anchor="t" rtlCol="false" tIns="0" lIns="0" bIns="0" rIns="0">
            <a:spAutoFit/>
          </a:bodyPr>
          <a:lstStyle/>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Hàm agent phải có cùng dạng với random_player() ở Task 2, để đảm bảo các tác tử có thể đấu với nhau.</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Trò chơi Dots and Boxes khác với Tic-Tac-Toe ở chỗ:</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Người chơi được đi thêm lượt nếu hoàn thành một ô vuông.</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Vì vậy, cần điều chỉnh thuật toán Minimax để phản ánh đúng quy tắc này.</a:t>
            </a:r>
          </a:p>
          <a:p>
            <a:pPr algn="l">
              <a:lnSpc>
                <a:spcPts val="3920"/>
              </a:lnSpc>
              <a:spcBef>
                <a:spcPct val="0"/>
              </a:spcBef>
            </a:pPr>
            <a:r>
              <a:rPr lang="en-US" b="true" sz="2800">
                <a:solidFill>
                  <a:srgbClr val="000000"/>
                </a:solidFill>
                <a:latin typeface="Times New Roman Bold"/>
                <a:ea typeface="Times New Roman Bold"/>
                <a:cs typeface="Times New Roman Bold"/>
                <a:sym typeface="Times New Roman Bold"/>
              </a:rPr>
              <a:t>· Với bàn lớn, không gian tìm kiếm rất lớn → nên giới hạn độ sâu tìm kiếm (max_depth).</a:t>
            </a:r>
          </a:p>
        </p:txBody>
      </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3439" y="539980"/>
            <a:ext cx="16321803" cy="60001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Mô phỏng và kết quả thử nghiệm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Khi chạy thử Minimax Player đấu với Random Player:</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Minimax thường thắng nhờ chọn nước đi tối ưu hơn.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Với bàn 2×2 hoặc 3×3, thời gian chạy chấp nhận được.</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o Với bàn &gt;4×4, cần giảm max_depth để tránh tốn thời gian quá lâu.</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luận: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3 giúp sinh viên: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Hiểu rõ nguyên lý tìm kiếm đối kháng trong AI.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Ứng dụng Alpha–Beta Pruning để tối ưu hiệu năng tìm kiếm.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Hoàn thiện một tác tử Minimax có khả năng chơi chiến thuật trong trò Dots and Boxes.</a:t>
            </a:r>
          </a:p>
        </p:txBody>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80853" y="294200"/>
            <a:ext cx="7711916"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Task 4: Heuristic Alpha–Beta Tree Search</a:t>
            </a:r>
          </a:p>
        </p:txBody>
      </p:sp>
      <p:sp>
        <p:nvSpPr>
          <p:cNvPr name="TextBox 3" id="3"/>
          <p:cNvSpPr txBox="true"/>
          <p:nvPr/>
        </p:nvSpPr>
        <p:spPr>
          <a:xfrm rot="0">
            <a:off x="380853" y="1229806"/>
            <a:ext cx="17259300"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Trong phần này, sinh viên cần: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Xây dựng hàm đánh giá heuristic để ước lượng chất lượng của trạng thái bàn cờ khi chưa kết thúc trò chơi.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Kết hợp hàm này vào thuật toán Alpha–Beta Search, cho phép cắt tỉa thông minh và ra quyết định nhanh hơn mà không cần duyệt toàn bộ cây trò chơi.</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Tạo Heuristic Agent có thể chơi hiệu quả trên bàn lớn.</a:t>
            </a:r>
          </a:p>
        </p:txBody>
      </p:sp>
      <p:sp>
        <p:nvSpPr>
          <p:cNvPr name="TextBox 4" id="4"/>
          <p:cNvSpPr txBox="true"/>
          <p:nvPr/>
        </p:nvSpPr>
        <p:spPr>
          <a:xfrm rot="0">
            <a:off x="380853" y="5363668"/>
            <a:ext cx="456950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Hàm đánh giá Heuristic:</a:t>
            </a:r>
          </a:p>
        </p:txBody>
      </p:sp>
      <p:sp>
        <p:nvSpPr>
          <p:cNvPr name="TextBox 5" id="5"/>
          <p:cNvSpPr txBox="true"/>
          <p:nvPr/>
        </p:nvSpPr>
        <p:spPr>
          <a:xfrm rot="0">
            <a:off x="380853" y="6296484"/>
            <a:ext cx="13033534" cy="239966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Đây là phần cốt lõi của Task 4 — ước lượng giá trị trạng thái dựa trên: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Số ô mà người chơi đã chiếm.</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Số ô “sắp hoàn thành” (có 3 cạnh đã được vẽ).</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Mức độ tiến triển của ván chơi (tổng số cạnh đã được vẽ).</a:t>
            </a: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20223" y="429260"/>
            <a:ext cx="530078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Heuristic Alpha–Beta Agent:</a:t>
            </a:r>
          </a:p>
        </p:txBody>
      </p:sp>
      <p:sp>
        <p:nvSpPr>
          <p:cNvPr name="TextBox 3" id="3"/>
          <p:cNvSpPr txBox="true"/>
          <p:nvPr/>
        </p:nvSpPr>
        <p:spPr>
          <a:xfrm rot="0">
            <a:off x="420223" y="1281944"/>
            <a:ext cx="17259300" cy="11995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Agent này sử dụng thuật toán tìm kiếm Alpha–Beta, nhưng thay vì đi đến trạng thái cuối cùng, nó dừng ở độ sâu giới hạn và đánh giá bằng hàm heuristic.</a:t>
            </a:r>
          </a:p>
        </p:txBody>
      </p:sp>
      <p:sp>
        <p:nvSpPr>
          <p:cNvPr name="TextBox 4" id="4"/>
          <p:cNvSpPr txBox="true"/>
          <p:nvPr/>
        </p:nvSpPr>
        <p:spPr>
          <a:xfrm rot="0">
            <a:off x="420223" y="2738634"/>
            <a:ext cx="17259300" cy="3599815"/>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quả và đánh giá</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Khi chạy thử:</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Heuristic Agent chơi nhanh hơn đáng kể so với Minimax đầy đủ.</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Hiệu suất được cải thiện rõ rệt trên bàn 4×4 hoặc lớn hơn.</a:t>
            </a:r>
          </a:p>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Các nước đi thể hiện chiến lược thông minh hơn Random Player, đặc biệt trong giai đoạn giữa và cuối trận.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371297" y="1388401"/>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71297" y="429260"/>
            <a:ext cx="3454122" cy="599440"/>
          </a:xfrm>
          <a:prstGeom prst="rect">
            <a:avLst/>
          </a:prstGeom>
        </p:spPr>
        <p:txBody>
          <a:bodyPr anchor="t" rtlCol="false" tIns="0" lIns="0" bIns="0" rIns="0">
            <a:spAutoFit/>
          </a:bodyPr>
          <a:lstStyle/>
          <a:p>
            <a:pPr algn="l">
              <a:lnSpc>
                <a:spcPts val="4759"/>
              </a:lnSpc>
              <a:spcBef>
                <a:spcPct val="0"/>
              </a:spcBef>
            </a:pPr>
            <a:r>
              <a:rPr lang="en-US" b="true" sz="3399">
                <a:solidFill>
                  <a:srgbClr val="000000"/>
                </a:solidFill>
                <a:latin typeface="Times New Roman Bold"/>
                <a:ea typeface="Times New Roman Bold"/>
                <a:cs typeface="Times New Roman Bold"/>
                <a:sym typeface="Times New Roman Bold"/>
              </a:rPr>
              <a:t> Kết luận tổng thể:</a:t>
            </a:r>
          </a:p>
        </p:txBody>
      </p:sp>
      <p:sp>
        <p:nvSpPr>
          <p:cNvPr name="TextBox 4" id="4"/>
          <p:cNvSpPr txBox="true"/>
          <p:nvPr/>
        </p:nvSpPr>
        <p:spPr>
          <a:xfrm rot="0">
            <a:off x="473407" y="6968840"/>
            <a:ext cx="14817805" cy="26765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Tổng kết:</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Qua 4 task, sinh viên đã:</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Hiểu cơ chế tìm kiếm đối kháng (Adversarial Search).</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Cài đặt được thuật toán Minimax và Alpha–Beta Pruning.</a:t>
            </a:r>
          </a:p>
          <a:p>
            <a:pPr algn="l">
              <a:lnSpc>
                <a:spcPts val="4200"/>
              </a:lnSpc>
              <a:spcBef>
                <a:spcPct val="0"/>
              </a:spcBef>
            </a:pPr>
            <a:r>
              <a:rPr lang="en-US" b="true" sz="3000">
                <a:solidFill>
                  <a:srgbClr val="000000"/>
                </a:solidFill>
                <a:latin typeface="Times New Roman Bold"/>
                <a:ea typeface="Times New Roman Bold"/>
                <a:cs typeface="Times New Roman Bold"/>
                <a:sym typeface="Times New Roman Bold"/>
              </a:rPr>
              <a:t>· Tự thiết kế hàm heuristic và agent thông minh có khả năng chơi Dots and Boxes hiệu quả.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DAG198KEsYI</dc:identifier>
  <dcterms:modified xsi:type="dcterms:W3CDTF">2011-08-01T06:04:30Z</dcterms:modified>
  <cp:revision>1</cp:revision>
  <dc:title>Lab04</dc:title>
</cp:coreProperties>
</file>