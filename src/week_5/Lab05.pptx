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x="18288000" cy="10287000"/>
  <p:notesSz cx="6858000" cy="9144000"/>
  <p:embeddedFontLst>
    <p:embeddedFont>
      <p:font typeface="Kollektif Bold" charset="1" panose="020B0604020101010102"/>
      <p:regular r:id="rId38"/>
    </p:embeddedFont>
    <p:embeddedFont>
      <p:font typeface="DM Sans" charset="1" panose="00000000000000000000"/>
      <p:regular r:id="rId39"/>
    </p:embeddedFont>
    <p:embeddedFont>
      <p:font typeface="DM Sans Bold" charset="1" panose="00000000000000000000"/>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embeddings/oleObject1.bin" Type="http://schemas.openxmlformats.org/officeDocument/2006/relationships/oleObjec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embeddings/oleObject2.bin" Type="http://schemas.openxmlformats.org/officeDocument/2006/relationships/oleObjec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embeddings/oleObject3.bin" Type="http://schemas.openxmlformats.org/officeDocument/2006/relationships/oleObjec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 Id="rId4" Target="../media/image25.png" Type="http://schemas.openxmlformats.org/officeDocument/2006/relationships/image"/><Relationship Id="rId5" Target="../media/image26.pn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grpSp>
        <p:nvGrpSpPr>
          <p:cNvPr name="Group 2" id="2"/>
          <p:cNvGrpSpPr/>
          <p:nvPr/>
        </p:nvGrpSpPr>
        <p:grpSpPr>
          <a:xfrm rot="-2700000">
            <a:off x="11386843" y="7201845"/>
            <a:ext cx="7415398" cy="3565095"/>
            <a:chOff x="0" y="0"/>
            <a:chExt cx="660400" cy="317500"/>
          </a:xfrm>
        </p:grpSpPr>
        <p:sp>
          <p:nvSpPr>
            <p:cNvPr name="Freeform 3" id="3"/>
            <p:cNvSpPr/>
            <p:nvPr/>
          </p:nvSpPr>
          <p:spPr>
            <a:xfrm flipH="false" flipV="false" rot="0">
              <a:off x="0" y="0"/>
              <a:ext cx="660400" cy="317500"/>
            </a:xfrm>
            <a:custGeom>
              <a:avLst/>
              <a:gdLst/>
              <a:ahLst/>
              <a:cxnLst/>
              <a:rect r="r" b="b" t="t" l="l"/>
              <a:pathLst>
                <a:path h="317500"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000000">
                <a:alpha val="0"/>
              </a:srgbClr>
            </a:solidFill>
            <a:ln w="28575" cap="sq">
              <a:solidFill>
                <a:srgbClr val="8CA9AD"/>
              </a:solidFill>
              <a:prstDash val="solid"/>
              <a:miter/>
            </a:ln>
          </p:spPr>
        </p:sp>
        <p:sp>
          <p:nvSpPr>
            <p:cNvPr name="TextBox 4" id="4"/>
            <p:cNvSpPr txBox="true"/>
            <p:nvPr/>
          </p:nvSpPr>
          <p:spPr>
            <a:xfrm>
              <a:off x="0" y="146050"/>
              <a:ext cx="660400" cy="171450"/>
            </a:xfrm>
            <a:prstGeom prst="rect">
              <a:avLst/>
            </a:prstGeom>
          </p:spPr>
          <p:txBody>
            <a:bodyPr anchor="ctr" rtlCol="false" tIns="50800" lIns="50800" bIns="50800" rIns="50800"/>
            <a:lstStyle/>
            <a:p>
              <a:pPr algn="ctr">
                <a:lnSpc>
                  <a:spcPts val="2553"/>
                </a:lnSpc>
              </a:pPr>
            </a:p>
          </p:txBody>
        </p:sp>
      </p:grpSp>
      <p:sp>
        <p:nvSpPr>
          <p:cNvPr name="AutoShape 5" id="5"/>
          <p:cNvSpPr/>
          <p:nvPr/>
        </p:nvSpPr>
        <p:spPr>
          <a:xfrm flipV="true">
            <a:off x="14131544" y="7969488"/>
            <a:ext cx="5132702" cy="5185216"/>
          </a:xfrm>
          <a:prstGeom prst="line">
            <a:avLst/>
          </a:prstGeom>
          <a:ln cap="flat" w="28575">
            <a:solidFill>
              <a:srgbClr val="8CA9AD"/>
            </a:solidFill>
            <a:prstDash val="solid"/>
            <a:headEnd type="none" len="sm" w="sm"/>
            <a:tailEnd type="none" len="sm" w="sm"/>
          </a:ln>
        </p:spPr>
      </p:sp>
      <p:sp>
        <p:nvSpPr>
          <p:cNvPr name="AutoShape 6" id="6"/>
          <p:cNvSpPr/>
          <p:nvPr/>
        </p:nvSpPr>
        <p:spPr>
          <a:xfrm flipV="true">
            <a:off x="14444220" y="8329798"/>
            <a:ext cx="5038853" cy="5038853"/>
          </a:xfrm>
          <a:prstGeom prst="line">
            <a:avLst/>
          </a:prstGeom>
          <a:ln cap="flat" w="28575">
            <a:solidFill>
              <a:srgbClr val="8CA9AD"/>
            </a:solidFill>
            <a:prstDash val="solid"/>
            <a:headEnd type="none" len="sm" w="sm"/>
            <a:tailEnd type="none" len="sm" w="sm"/>
          </a:ln>
        </p:spPr>
      </p:sp>
      <p:sp>
        <p:nvSpPr>
          <p:cNvPr name="AutoShape 7" id="7"/>
          <p:cNvSpPr/>
          <p:nvPr/>
        </p:nvSpPr>
        <p:spPr>
          <a:xfrm flipV="true">
            <a:off x="14802690" y="8681112"/>
            <a:ext cx="4867141" cy="4867141"/>
          </a:xfrm>
          <a:prstGeom prst="line">
            <a:avLst/>
          </a:prstGeom>
          <a:ln cap="flat" w="28575">
            <a:solidFill>
              <a:srgbClr val="8CA9AD"/>
            </a:solidFill>
            <a:prstDash val="solid"/>
            <a:headEnd type="none" len="sm" w="sm"/>
            <a:tailEnd type="none" len="sm" w="sm"/>
          </a:ln>
        </p:spPr>
      </p:sp>
      <p:sp>
        <p:nvSpPr>
          <p:cNvPr name="TextBox 8" id="8"/>
          <p:cNvSpPr txBox="true"/>
          <p:nvPr/>
        </p:nvSpPr>
        <p:spPr>
          <a:xfrm rot="0">
            <a:off x="3613470" y="2858930"/>
            <a:ext cx="11315247" cy="4054474"/>
          </a:xfrm>
          <a:prstGeom prst="rect">
            <a:avLst/>
          </a:prstGeom>
        </p:spPr>
        <p:txBody>
          <a:bodyPr anchor="t" rtlCol="false" tIns="0" lIns="0" bIns="0" rIns="0">
            <a:spAutoFit/>
          </a:bodyPr>
          <a:lstStyle/>
          <a:p>
            <a:pPr algn="ctr">
              <a:lnSpc>
                <a:spcPts val="9999"/>
              </a:lnSpc>
            </a:pPr>
            <a:r>
              <a:rPr lang="en-US" b="true" sz="9999">
                <a:solidFill>
                  <a:srgbClr val="227C9D"/>
                </a:solidFill>
                <a:latin typeface="Kollektif Bold"/>
                <a:ea typeface="Kollektif Bold"/>
                <a:cs typeface="Kollektif Bold"/>
                <a:sym typeface="Kollektif Bold"/>
              </a:rPr>
              <a:t>CSP GRAPH COLORING EXAMPLE</a:t>
            </a:r>
          </a:p>
        </p:txBody>
      </p:sp>
      <p:sp>
        <p:nvSpPr>
          <p:cNvPr name="Freeform 9" id="9"/>
          <p:cNvSpPr/>
          <p:nvPr/>
        </p:nvSpPr>
        <p:spPr>
          <a:xfrm flipH="false" flipV="false" rot="-10800000">
            <a:off x="9525" y="6358355"/>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083809" y="6386930"/>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0" y="7470739"/>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10800000">
            <a:off x="0" y="8554548"/>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5400000">
            <a:off x="1083809" y="8554548"/>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10800000">
            <a:off x="1083809" y="9623721"/>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10800000">
            <a:off x="3321750" y="8583123"/>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0">
            <a:off x="3321750" y="7499314"/>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5400000">
            <a:off x="4405559" y="8583123"/>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2237941" y="9666932"/>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9" id="19"/>
          <p:cNvSpPr/>
          <p:nvPr/>
        </p:nvSpPr>
        <p:spPr>
          <a:xfrm flipH="false" flipV="false" rot="0">
            <a:off x="3321750" y="9666932"/>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0" id="20"/>
          <p:cNvSpPr/>
          <p:nvPr/>
        </p:nvSpPr>
        <p:spPr>
          <a:xfrm flipH="false" flipV="false" rot="5400000">
            <a:off x="0" y="9638357"/>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1" id="21"/>
          <p:cNvSpPr/>
          <p:nvPr/>
        </p:nvSpPr>
        <p:spPr>
          <a:xfrm flipH="false" flipV="false" rot="-5400000">
            <a:off x="15470622" y="0"/>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2" id="22"/>
          <p:cNvSpPr/>
          <p:nvPr/>
        </p:nvSpPr>
        <p:spPr>
          <a:xfrm flipH="false" flipV="false" rot="-5400000">
            <a:off x="16554431" y="0"/>
            <a:ext cx="1083809" cy="1083809"/>
          </a:xfrm>
          <a:custGeom>
            <a:avLst/>
            <a:gdLst/>
            <a:ahLst/>
            <a:cxnLst/>
            <a:rect r="r" b="b" t="t" l="l"/>
            <a:pathLst>
              <a:path h="1083809" w="1083809">
                <a:moveTo>
                  <a:pt x="0" y="0"/>
                </a:moveTo>
                <a:lnTo>
                  <a:pt x="1083808" y="0"/>
                </a:lnTo>
                <a:lnTo>
                  <a:pt x="1083808"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3" id="23"/>
          <p:cNvSpPr/>
          <p:nvPr/>
        </p:nvSpPr>
        <p:spPr>
          <a:xfrm flipH="true" flipV="true" rot="0">
            <a:off x="17638239" y="0"/>
            <a:ext cx="1083809" cy="1083809"/>
          </a:xfrm>
          <a:custGeom>
            <a:avLst/>
            <a:gdLst/>
            <a:ahLst/>
            <a:cxnLst/>
            <a:rect r="r" b="b" t="t" l="l"/>
            <a:pathLst>
              <a:path h="1083809" w="1083809">
                <a:moveTo>
                  <a:pt x="1083809" y="1083809"/>
                </a:moveTo>
                <a:lnTo>
                  <a:pt x="0" y="1083809"/>
                </a:lnTo>
                <a:lnTo>
                  <a:pt x="0" y="0"/>
                </a:lnTo>
                <a:lnTo>
                  <a:pt x="1083809" y="0"/>
                </a:lnTo>
                <a:lnTo>
                  <a:pt x="1083809" y="1083809"/>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4" id="24"/>
          <p:cNvSpPr/>
          <p:nvPr/>
        </p:nvSpPr>
        <p:spPr>
          <a:xfrm flipH="false" flipV="false" rot="-5400000">
            <a:off x="14386813" y="1083809"/>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5" id="25"/>
          <p:cNvSpPr/>
          <p:nvPr/>
        </p:nvSpPr>
        <p:spPr>
          <a:xfrm flipH="false" flipV="false" rot="-5400000">
            <a:off x="15470622" y="1083809"/>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6" id="26"/>
          <p:cNvSpPr/>
          <p:nvPr/>
        </p:nvSpPr>
        <p:spPr>
          <a:xfrm flipH="false" flipV="false" rot="0">
            <a:off x="16554431" y="2167618"/>
            <a:ext cx="1083809" cy="1083809"/>
          </a:xfrm>
          <a:custGeom>
            <a:avLst/>
            <a:gdLst/>
            <a:ahLst/>
            <a:cxnLst/>
            <a:rect r="r" b="b" t="t" l="l"/>
            <a:pathLst>
              <a:path h="1083809" w="1083809">
                <a:moveTo>
                  <a:pt x="0" y="0"/>
                </a:moveTo>
                <a:lnTo>
                  <a:pt x="1083808" y="0"/>
                </a:lnTo>
                <a:lnTo>
                  <a:pt x="1083808"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7" id="27"/>
          <p:cNvSpPr/>
          <p:nvPr/>
        </p:nvSpPr>
        <p:spPr>
          <a:xfrm flipH="false" flipV="false" rot="5400000">
            <a:off x="17638239" y="1083809"/>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8" id="28"/>
          <p:cNvSpPr/>
          <p:nvPr/>
        </p:nvSpPr>
        <p:spPr>
          <a:xfrm flipH="true" flipV="true" rot="5400000">
            <a:off x="17638239" y="2167618"/>
            <a:ext cx="1083809" cy="1083809"/>
          </a:xfrm>
          <a:custGeom>
            <a:avLst/>
            <a:gdLst/>
            <a:ahLst/>
            <a:cxnLst/>
            <a:rect r="r" b="b" t="t" l="l"/>
            <a:pathLst>
              <a:path h="1083809" w="1083809">
                <a:moveTo>
                  <a:pt x="1083809" y="1083809"/>
                </a:moveTo>
                <a:lnTo>
                  <a:pt x="0" y="1083809"/>
                </a:lnTo>
                <a:lnTo>
                  <a:pt x="0" y="0"/>
                </a:lnTo>
                <a:lnTo>
                  <a:pt x="1083809" y="0"/>
                </a:lnTo>
                <a:lnTo>
                  <a:pt x="1083809" y="108380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9" id="29"/>
          <p:cNvSpPr/>
          <p:nvPr/>
        </p:nvSpPr>
        <p:spPr>
          <a:xfrm flipH="true" flipV="true" rot="0">
            <a:off x="15470622" y="4433486"/>
            <a:ext cx="1083809" cy="1083809"/>
          </a:xfrm>
          <a:custGeom>
            <a:avLst/>
            <a:gdLst/>
            <a:ahLst/>
            <a:cxnLst/>
            <a:rect r="r" b="b" t="t" l="l"/>
            <a:pathLst>
              <a:path h="1083809" w="1083809">
                <a:moveTo>
                  <a:pt x="1083809" y="1083809"/>
                </a:moveTo>
                <a:lnTo>
                  <a:pt x="0" y="1083809"/>
                </a:lnTo>
                <a:lnTo>
                  <a:pt x="0" y="0"/>
                </a:lnTo>
                <a:lnTo>
                  <a:pt x="1083809" y="0"/>
                </a:lnTo>
                <a:lnTo>
                  <a:pt x="1083809" y="1083809"/>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0" id="30"/>
          <p:cNvSpPr/>
          <p:nvPr/>
        </p:nvSpPr>
        <p:spPr>
          <a:xfrm flipH="true" flipV="true" rot="5400000">
            <a:off x="16554431" y="4433486"/>
            <a:ext cx="1083809" cy="1083809"/>
          </a:xfrm>
          <a:custGeom>
            <a:avLst/>
            <a:gdLst/>
            <a:ahLst/>
            <a:cxnLst/>
            <a:rect r="r" b="b" t="t" l="l"/>
            <a:pathLst>
              <a:path h="1083809" w="1083809">
                <a:moveTo>
                  <a:pt x="1083808" y="1083809"/>
                </a:moveTo>
                <a:lnTo>
                  <a:pt x="0" y="1083809"/>
                </a:lnTo>
                <a:lnTo>
                  <a:pt x="0" y="0"/>
                </a:lnTo>
                <a:lnTo>
                  <a:pt x="1083808" y="0"/>
                </a:lnTo>
                <a:lnTo>
                  <a:pt x="1083808" y="1083809"/>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31" id="31"/>
          <p:cNvGrpSpPr/>
          <p:nvPr/>
        </p:nvGrpSpPr>
        <p:grpSpPr>
          <a:xfrm rot="2700000">
            <a:off x="-1376391" y="-3093321"/>
            <a:ext cx="7415398" cy="3565095"/>
            <a:chOff x="0" y="0"/>
            <a:chExt cx="660400" cy="317500"/>
          </a:xfrm>
        </p:grpSpPr>
        <p:sp>
          <p:nvSpPr>
            <p:cNvPr name="Freeform 32" id="32"/>
            <p:cNvSpPr/>
            <p:nvPr/>
          </p:nvSpPr>
          <p:spPr>
            <a:xfrm flipH="false" flipV="false" rot="0">
              <a:off x="0" y="0"/>
              <a:ext cx="660400" cy="317500"/>
            </a:xfrm>
            <a:custGeom>
              <a:avLst/>
              <a:gdLst/>
              <a:ahLst/>
              <a:cxnLst/>
              <a:rect r="r" b="b" t="t" l="l"/>
              <a:pathLst>
                <a:path h="317500"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000000">
                <a:alpha val="0"/>
              </a:srgbClr>
            </a:solidFill>
            <a:ln w="28575" cap="sq">
              <a:solidFill>
                <a:srgbClr val="8CA9AD"/>
              </a:solidFill>
              <a:prstDash val="solid"/>
              <a:miter/>
            </a:ln>
          </p:spPr>
        </p:sp>
        <p:sp>
          <p:nvSpPr>
            <p:cNvPr name="TextBox 33" id="33"/>
            <p:cNvSpPr txBox="true"/>
            <p:nvPr/>
          </p:nvSpPr>
          <p:spPr>
            <a:xfrm>
              <a:off x="0" y="146050"/>
              <a:ext cx="660400" cy="171450"/>
            </a:xfrm>
            <a:prstGeom prst="rect">
              <a:avLst/>
            </a:prstGeom>
          </p:spPr>
          <p:txBody>
            <a:bodyPr anchor="ctr" rtlCol="false" tIns="50800" lIns="50800" bIns="50800" rIns="50800"/>
            <a:lstStyle/>
            <a:p>
              <a:pPr algn="ctr">
                <a:lnSpc>
                  <a:spcPts val="2553"/>
                </a:lnSpc>
              </a:pPr>
            </a:p>
          </p:txBody>
        </p:sp>
      </p:grpSp>
      <p:sp>
        <p:nvSpPr>
          <p:cNvPr name="AutoShape 34" id="34"/>
          <p:cNvSpPr/>
          <p:nvPr/>
        </p:nvSpPr>
        <p:spPr>
          <a:xfrm>
            <a:off x="-1839005" y="-2273771"/>
            <a:ext cx="5185216" cy="5132702"/>
          </a:xfrm>
          <a:prstGeom prst="line">
            <a:avLst/>
          </a:prstGeom>
          <a:ln cap="flat" w="28575">
            <a:solidFill>
              <a:srgbClr val="8CA9AD"/>
            </a:solidFill>
            <a:prstDash val="solid"/>
            <a:headEnd type="none" len="sm" w="sm"/>
            <a:tailEnd type="none" len="sm" w="sm"/>
          </a:ln>
        </p:spPr>
      </p:sp>
      <p:sp>
        <p:nvSpPr>
          <p:cNvPr name="AutoShape 35" id="35"/>
          <p:cNvSpPr/>
          <p:nvPr/>
        </p:nvSpPr>
        <p:spPr>
          <a:xfrm>
            <a:off x="-2052951" y="-1961095"/>
            <a:ext cx="5038853" cy="5038853"/>
          </a:xfrm>
          <a:prstGeom prst="line">
            <a:avLst/>
          </a:prstGeom>
          <a:ln cap="flat" w="28575">
            <a:solidFill>
              <a:srgbClr val="8CA9AD"/>
            </a:solidFill>
            <a:prstDash val="solid"/>
            <a:headEnd type="none" len="sm" w="sm"/>
            <a:tailEnd type="none" len="sm" w="sm"/>
          </a:ln>
        </p:spPr>
      </p:sp>
      <p:sp>
        <p:nvSpPr>
          <p:cNvPr name="AutoShape 36" id="36"/>
          <p:cNvSpPr/>
          <p:nvPr/>
        </p:nvSpPr>
        <p:spPr>
          <a:xfrm>
            <a:off x="-2232553" y="-1602625"/>
            <a:ext cx="4867141" cy="4867141"/>
          </a:xfrm>
          <a:prstGeom prst="line">
            <a:avLst/>
          </a:prstGeom>
          <a:ln cap="flat" w="28575">
            <a:solidFill>
              <a:srgbClr val="8CA9AD"/>
            </a:solidFill>
            <a:prstDash val="solid"/>
            <a:headEnd type="none" len="sm" w="sm"/>
            <a:tailEnd type="none" len="sm" w="sm"/>
          </a:ln>
        </p:spPr>
      </p:sp>
      <p:sp>
        <p:nvSpPr>
          <p:cNvPr name="AutoShape 37" id="37"/>
          <p:cNvSpPr/>
          <p:nvPr/>
        </p:nvSpPr>
        <p:spPr>
          <a:xfrm>
            <a:off x="-2359208" y="-1216357"/>
            <a:ext cx="4690515" cy="4690515"/>
          </a:xfrm>
          <a:prstGeom prst="line">
            <a:avLst/>
          </a:prstGeom>
          <a:ln cap="flat" w="28575">
            <a:solidFill>
              <a:srgbClr val="8CA9AD"/>
            </a:solidFill>
            <a:prstDash val="solid"/>
            <a:headEnd type="none" len="sm" w="sm"/>
            <a:tailEnd type="none" len="sm" w="sm"/>
          </a:ln>
        </p:spPr>
      </p:sp>
      <p:sp>
        <p:nvSpPr>
          <p:cNvPr name="AutoShape 38" id="38"/>
          <p:cNvSpPr/>
          <p:nvPr/>
        </p:nvSpPr>
        <p:spPr>
          <a:xfrm>
            <a:off x="-2503062" y="-776680"/>
            <a:ext cx="4347674" cy="4347674"/>
          </a:xfrm>
          <a:prstGeom prst="line">
            <a:avLst/>
          </a:prstGeom>
          <a:ln cap="flat" w="28575">
            <a:solidFill>
              <a:srgbClr val="8CA9AD"/>
            </a:solidFill>
            <a:prstDash val="solid"/>
            <a:headEnd type="none" len="sm" w="sm"/>
            <a:tailEnd type="none" len="sm" w="sm"/>
          </a:ln>
        </p:spPr>
      </p:sp>
      <p:sp>
        <p:nvSpPr>
          <p:cNvPr name="AutoShape 39" id="39"/>
          <p:cNvSpPr/>
          <p:nvPr/>
        </p:nvSpPr>
        <p:spPr>
          <a:xfrm>
            <a:off x="-2623881" y="-332957"/>
            <a:ext cx="3963599" cy="3985594"/>
          </a:xfrm>
          <a:prstGeom prst="line">
            <a:avLst/>
          </a:prstGeom>
          <a:ln cap="flat" w="28575">
            <a:solidFill>
              <a:srgbClr val="8CA9AD"/>
            </a:solidFill>
            <a:prstDash val="solid"/>
            <a:headEnd type="none" len="sm" w="sm"/>
            <a:tailEnd type="none" len="sm" w="sm"/>
          </a:ln>
        </p:spPr>
      </p:sp>
      <p:sp>
        <p:nvSpPr>
          <p:cNvPr name="AutoShape 40" id="40"/>
          <p:cNvSpPr/>
          <p:nvPr/>
        </p:nvSpPr>
        <p:spPr>
          <a:xfrm>
            <a:off x="-2598114" y="228677"/>
            <a:ext cx="3377485" cy="3360058"/>
          </a:xfrm>
          <a:prstGeom prst="line">
            <a:avLst/>
          </a:prstGeom>
          <a:ln cap="flat" w="28575">
            <a:solidFill>
              <a:srgbClr val="8CA9AD"/>
            </a:solidFill>
            <a:prstDash val="solid"/>
            <a:headEnd type="none" len="sm" w="sm"/>
            <a:tailEnd type="none" len="sm" w="sm"/>
          </a:ln>
        </p:spPr>
      </p:sp>
      <p:sp>
        <p:nvSpPr>
          <p:cNvPr name="AutoShape 41" id="41"/>
          <p:cNvSpPr/>
          <p:nvPr/>
        </p:nvSpPr>
        <p:spPr>
          <a:xfrm>
            <a:off x="-2509797" y="905760"/>
            <a:ext cx="2628598" cy="2671969"/>
          </a:xfrm>
          <a:prstGeom prst="line">
            <a:avLst/>
          </a:prstGeom>
          <a:ln cap="flat" w="28575">
            <a:solidFill>
              <a:srgbClr val="8CA9AD"/>
            </a:solidFill>
            <a:prstDash val="solid"/>
            <a:headEnd type="none" len="sm" w="sm"/>
            <a:tailEnd type="none" len="sm" w="sm"/>
          </a:ln>
        </p:spPr>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2700000">
            <a:off x="-1376391" y="-3093321"/>
            <a:ext cx="7415398" cy="3565095"/>
            <a:chOff x="0" y="0"/>
            <a:chExt cx="660400" cy="317500"/>
          </a:xfrm>
        </p:grpSpPr>
        <p:sp>
          <p:nvSpPr>
            <p:cNvPr name="Freeform 3" id="3"/>
            <p:cNvSpPr/>
            <p:nvPr/>
          </p:nvSpPr>
          <p:spPr>
            <a:xfrm flipH="false" flipV="false" rot="0">
              <a:off x="0" y="0"/>
              <a:ext cx="660400" cy="317500"/>
            </a:xfrm>
            <a:custGeom>
              <a:avLst/>
              <a:gdLst/>
              <a:ahLst/>
              <a:cxnLst/>
              <a:rect r="r" b="b" t="t" l="l"/>
              <a:pathLst>
                <a:path h="317500"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000000">
                <a:alpha val="0"/>
              </a:srgbClr>
            </a:solidFill>
            <a:ln w="28575" cap="sq">
              <a:solidFill>
                <a:srgbClr val="8CA9AD"/>
              </a:solidFill>
              <a:prstDash val="solid"/>
              <a:miter/>
            </a:ln>
          </p:spPr>
        </p:sp>
        <p:sp>
          <p:nvSpPr>
            <p:cNvPr name="TextBox 4" id="4"/>
            <p:cNvSpPr txBox="true"/>
            <p:nvPr/>
          </p:nvSpPr>
          <p:spPr>
            <a:xfrm>
              <a:off x="0" y="146050"/>
              <a:ext cx="660400" cy="171450"/>
            </a:xfrm>
            <a:prstGeom prst="rect">
              <a:avLst/>
            </a:prstGeom>
          </p:spPr>
          <p:txBody>
            <a:bodyPr anchor="ctr" rtlCol="false" tIns="50800" lIns="50800" bIns="50800" rIns="50800"/>
            <a:lstStyle/>
            <a:p>
              <a:pPr algn="ctr">
                <a:lnSpc>
                  <a:spcPts val="2553"/>
                </a:lnSpc>
              </a:pPr>
            </a:p>
          </p:txBody>
        </p:sp>
      </p:grpSp>
      <p:sp>
        <p:nvSpPr>
          <p:cNvPr name="AutoShape 5" id="5"/>
          <p:cNvSpPr/>
          <p:nvPr/>
        </p:nvSpPr>
        <p:spPr>
          <a:xfrm>
            <a:off x="-1839005" y="-2273771"/>
            <a:ext cx="5185216" cy="5132702"/>
          </a:xfrm>
          <a:prstGeom prst="line">
            <a:avLst/>
          </a:prstGeom>
          <a:ln cap="flat" w="28575">
            <a:solidFill>
              <a:srgbClr val="8CA9AD"/>
            </a:solidFill>
            <a:prstDash val="solid"/>
            <a:headEnd type="none" len="sm" w="sm"/>
            <a:tailEnd type="none" len="sm" w="sm"/>
          </a:ln>
        </p:spPr>
      </p:sp>
      <p:sp>
        <p:nvSpPr>
          <p:cNvPr name="AutoShape 6" id="6"/>
          <p:cNvSpPr/>
          <p:nvPr/>
        </p:nvSpPr>
        <p:spPr>
          <a:xfrm>
            <a:off x="-2052951" y="-1961095"/>
            <a:ext cx="5038853" cy="5038853"/>
          </a:xfrm>
          <a:prstGeom prst="line">
            <a:avLst/>
          </a:prstGeom>
          <a:ln cap="flat" w="28575">
            <a:solidFill>
              <a:srgbClr val="8CA9AD"/>
            </a:solidFill>
            <a:prstDash val="solid"/>
            <a:headEnd type="none" len="sm" w="sm"/>
            <a:tailEnd type="none" len="sm" w="sm"/>
          </a:ln>
        </p:spPr>
      </p:sp>
      <p:sp>
        <p:nvSpPr>
          <p:cNvPr name="AutoShape 7" id="7"/>
          <p:cNvSpPr/>
          <p:nvPr/>
        </p:nvSpPr>
        <p:spPr>
          <a:xfrm>
            <a:off x="-2232553" y="-1602625"/>
            <a:ext cx="4867141" cy="4867141"/>
          </a:xfrm>
          <a:prstGeom prst="line">
            <a:avLst/>
          </a:prstGeom>
          <a:ln cap="flat" w="28575">
            <a:solidFill>
              <a:srgbClr val="8CA9AD"/>
            </a:solidFill>
            <a:prstDash val="solid"/>
            <a:headEnd type="none" len="sm" w="sm"/>
            <a:tailEnd type="none" len="sm" w="sm"/>
          </a:ln>
        </p:spPr>
      </p:sp>
      <p:sp>
        <p:nvSpPr>
          <p:cNvPr name="AutoShape 8" id="8"/>
          <p:cNvSpPr/>
          <p:nvPr/>
        </p:nvSpPr>
        <p:spPr>
          <a:xfrm>
            <a:off x="-2359208" y="-1216357"/>
            <a:ext cx="4690515" cy="4690515"/>
          </a:xfrm>
          <a:prstGeom prst="line">
            <a:avLst/>
          </a:prstGeom>
          <a:ln cap="flat" w="28575">
            <a:solidFill>
              <a:srgbClr val="8CA9AD"/>
            </a:solidFill>
            <a:prstDash val="solid"/>
            <a:headEnd type="none" len="sm" w="sm"/>
            <a:tailEnd type="none" len="sm" w="sm"/>
          </a:ln>
        </p:spPr>
      </p:sp>
      <p:sp>
        <p:nvSpPr>
          <p:cNvPr name="AutoShape 9" id="9"/>
          <p:cNvSpPr/>
          <p:nvPr/>
        </p:nvSpPr>
        <p:spPr>
          <a:xfrm>
            <a:off x="-2503062" y="-776680"/>
            <a:ext cx="4347674" cy="4347674"/>
          </a:xfrm>
          <a:prstGeom prst="line">
            <a:avLst/>
          </a:prstGeom>
          <a:ln cap="flat" w="28575">
            <a:solidFill>
              <a:srgbClr val="8CA9AD"/>
            </a:solidFill>
            <a:prstDash val="solid"/>
            <a:headEnd type="none" len="sm" w="sm"/>
            <a:tailEnd type="none" len="sm" w="sm"/>
          </a:ln>
        </p:spPr>
      </p:sp>
      <p:sp>
        <p:nvSpPr>
          <p:cNvPr name="AutoShape 10" id="10"/>
          <p:cNvSpPr/>
          <p:nvPr/>
        </p:nvSpPr>
        <p:spPr>
          <a:xfrm>
            <a:off x="-2623881" y="-332957"/>
            <a:ext cx="3963599" cy="3985594"/>
          </a:xfrm>
          <a:prstGeom prst="line">
            <a:avLst/>
          </a:prstGeom>
          <a:ln cap="flat" w="28575">
            <a:solidFill>
              <a:srgbClr val="8CA9AD"/>
            </a:solidFill>
            <a:prstDash val="solid"/>
            <a:headEnd type="none" len="sm" w="sm"/>
            <a:tailEnd type="none" len="sm" w="sm"/>
          </a:ln>
        </p:spPr>
      </p:sp>
      <p:sp>
        <p:nvSpPr>
          <p:cNvPr name="AutoShape 11" id="11"/>
          <p:cNvSpPr/>
          <p:nvPr/>
        </p:nvSpPr>
        <p:spPr>
          <a:xfrm>
            <a:off x="-2598114" y="228677"/>
            <a:ext cx="3377485" cy="3360058"/>
          </a:xfrm>
          <a:prstGeom prst="line">
            <a:avLst/>
          </a:prstGeom>
          <a:ln cap="flat" w="28575">
            <a:solidFill>
              <a:srgbClr val="8CA9AD"/>
            </a:solidFill>
            <a:prstDash val="solid"/>
            <a:headEnd type="none" len="sm" w="sm"/>
            <a:tailEnd type="none" len="sm" w="sm"/>
          </a:ln>
        </p:spPr>
      </p:sp>
      <p:sp>
        <p:nvSpPr>
          <p:cNvPr name="AutoShape 12" id="12"/>
          <p:cNvSpPr/>
          <p:nvPr/>
        </p:nvSpPr>
        <p:spPr>
          <a:xfrm>
            <a:off x="-2509797" y="905760"/>
            <a:ext cx="2628598" cy="2671969"/>
          </a:xfrm>
          <a:prstGeom prst="line">
            <a:avLst/>
          </a:prstGeom>
          <a:ln cap="flat" w="28575">
            <a:solidFill>
              <a:srgbClr val="8CA9AD"/>
            </a:solidFill>
            <a:prstDash val="solid"/>
            <a:headEnd type="none" len="sm" w="sm"/>
            <a:tailEnd type="none" len="sm" w="sm"/>
          </a:ln>
        </p:spPr>
      </p:sp>
      <p:sp>
        <p:nvSpPr>
          <p:cNvPr name="TextBox 13" id="13"/>
          <p:cNvSpPr txBox="true"/>
          <p:nvPr/>
        </p:nvSpPr>
        <p:spPr>
          <a:xfrm rot="0">
            <a:off x="3121973" y="3129915"/>
            <a:ext cx="12044053" cy="2691765"/>
          </a:xfrm>
          <a:prstGeom prst="rect">
            <a:avLst/>
          </a:prstGeom>
        </p:spPr>
        <p:txBody>
          <a:bodyPr anchor="t" rtlCol="false" tIns="0" lIns="0" bIns="0" rIns="0">
            <a:spAutoFit/>
          </a:bodyPr>
          <a:lstStyle/>
          <a:p>
            <a:pPr algn="ctr">
              <a:lnSpc>
                <a:spcPts val="9600"/>
              </a:lnSpc>
            </a:pPr>
            <a:r>
              <a:rPr lang="en-US" b="true" sz="9600">
                <a:solidFill>
                  <a:srgbClr val="FE6D73"/>
                </a:solidFill>
                <a:latin typeface="Kollektif Bold"/>
                <a:ea typeface="Kollektif Bold"/>
                <a:cs typeface="Kollektif Bold"/>
                <a:sym typeface="Kollektif Bold"/>
              </a:rPr>
              <a:t>GIỚI THIỆU VỀ CSP</a:t>
            </a:r>
          </a:p>
          <a:p>
            <a:pPr algn="ctr">
              <a:lnSpc>
                <a:spcPts val="9600"/>
              </a:lnSpc>
            </a:pPr>
          </a:p>
        </p:txBody>
      </p:sp>
      <p:grpSp>
        <p:nvGrpSpPr>
          <p:cNvPr name="Group 14" id="14"/>
          <p:cNvGrpSpPr/>
          <p:nvPr/>
        </p:nvGrpSpPr>
        <p:grpSpPr>
          <a:xfrm rot="-2700000">
            <a:off x="11386843" y="7201845"/>
            <a:ext cx="7415398" cy="3565095"/>
            <a:chOff x="0" y="0"/>
            <a:chExt cx="660400" cy="317500"/>
          </a:xfrm>
        </p:grpSpPr>
        <p:sp>
          <p:nvSpPr>
            <p:cNvPr name="Freeform 15" id="15"/>
            <p:cNvSpPr/>
            <p:nvPr/>
          </p:nvSpPr>
          <p:spPr>
            <a:xfrm flipH="false" flipV="false" rot="0">
              <a:off x="0" y="0"/>
              <a:ext cx="660400" cy="317500"/>
            </a:xfrm>
            <a:custGeom>
              <a:avLst/>
              <a:gdLst/>
              <a:ahLst/>
              <a:cxnLst/>
              <a:rect r="r" b="b" t="t" l="l"/>
              <a:pathLst>
                <a:path h="317500"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000000">
                <a:alpha val="0"/>
              </a:srgbClr>
            </a:solidFill>
            <a:ln w="28575" cap="sq">
              <a:solidFill>
                <a:srgbClr val="8CA9AD"/>
              </a:solidFill>
              <a:prstDash val="solid"/>
              <a:miter/>
            </a:ln>
          </p:spPr>
        </p:sp>
        <p:sp>
          <p:nvSpPr>
            <p:cNvPr name="TextBox 16" id="16"/>
            <p:cNvSpPr txBox="true"/>
            <p:nvPr/>
          </p:nvSpPr>
          <p:spPr>
            <a:xfrm>
              <a:off x="0" y="146050"/>
              <a:ext cx="660400" cy="171450"/>
            </a:xfrm>
            <a:prstGeom prst="rect">
              <a:avLst/>
            </a:prstGeom>
          </p:spPr>
          <p:txBody>
            <a:bodyPr anchor="ctr" rtlCol="false" tIns="50800" lIns="50800" bIns="50800" rIns="50800"/>
            <a:lstStyle/>
            <a:p>
              <a:pPr algn="ctr">
                <a:lnSpc>
                  <a:spcPts val="2553"/>
                </a:lnSpc>
              </a:pPr>
            </a:p>
          </p:txBody>
        </p:sp>
      </p:grpSp>
      <p:sp>
        <p:nvSpPr>
          <p:cNvPr name="AutoShape 17" id="17"/>
          <p:cNvSpPr/>
          <p:nvPr/>
        </p:nvSpPr>
        <p:spPr>
          <a:xfrm flipV="true">
            <a:off x="14131544" y="7969488"/>
            <a:ext cx="5132702" cy="5185216"/>
          </a:xfrm>
          <a:prstGeom prst="line">
            <a:avLst/>
          </a:prstGeom>
          <a:ln cap="flat" w="28575">
            <a:solidFill>
              <a:srgbClr val="8CA9AD"/>
            </a:solidFill>
            <a:prstDash val="solid"/>
            <a:headEnd type="none" len="sm" w="sm"/>
            <a:tailEnd type="none" len="sm" w="sm"/>
          </a:ln>
        </p:spPr>
      </p:sp>
      <p:sp>
        <p:nvSpPr>
          <p:cNvPr name="AutoShape 18" id="18"/>
          <p:cNvSpPr/>
          <p:nvPr/>
        </p:nvSpPr>
        <p:spPr>
          <a:xfrm flipV="true">
            <a:off x="14444220" y="8329798"/>
            <a:ext cx="5038853" cy="5038853"/>
          </a:xfrm>
          <a:prstGeom prst="line">
            <a:avLst/>
          </a:prstGeom>
          <a:ln cap="flat" w="28575">
            <a:solidFill>
              <a:srgbClr val="8CA9AD"/>
            </a:solidFill>
            <a:prstDash val="solid"/>
            <a:headEnd type="none" len="sm" w="sm"/>
            <a:tailEnd type="none" len="sm" w="sm"/>
          </a:ln>
        </p:spPr>
      </p:sp>
      <p:sp>
        <p:nvSpPr>
          <p:cNvPr name="AutoShape 19" id="19"/>
          <p:cNvSpPr/>
          <p:nvPr/>
        </p:nvSpPr>
        <p:spPr>
          <a:xfrm flipV="true">
            <a:off x="14802690" y="8681112"/>
            <a:ext cx="4867141" cy="4867141"/>
          </a:xfrm>
          <a:prstGeom prst="line">
            <a:avLst/>
          </a:prstGeom>
          <a:ln cap="flat" w="28575">
            <a:solidFill>
              <a:srgbClr val="8CA9AD"/>
            </a:solidFill>
            <a:prstDash val="solid"/>
            <a:headEnd type="none" len="sm" w="sm"/>
            <a:tailEnd type="none" len="sm" w="sm"/>
          </a:ln>
        </p:spPr>
      </p:sp>
      <p:sp>
        <p:nvSpPr>
          <p:cNvPr name="TextBox 20" id="20"/>
          <p:cNvSpPr txBox="true"/>
          <p:nvPr/>
        </p:nvSpPr>
        <p:spPr>
          <a:xfrm rot="0">
            <a:off x="3121973" y="4402455"/>
            <a:ext cx="12044053" cy="3910965"/>
          </a:xfrm>
          <a:prstGeom prst="rect">
            <a:avLst/>
          </a:prstGeom>
        </p:spPr>
        <p:txBody>
          <a:bodyPr anchor="t" rtlCol="false" tIns="0" lIns="0" bIns="0" rIns="0">
            <a:spAutoFit/>
          </a:bodyPr>
          <a:lstStyle/>
          <a:p>
            <a:pPr algn="ctr">
              <a:lnSpc>
                <a:spcPts val="9600"/>
              </a:lnSpc>
            </a:pPr>
            <a:r>
              <a:rPr lang="en-US" b="true" sz="9600">
                <a:solidFill>
                  <a:srgbClr val="227C9D"/>
                </a:solidFill>
                <a:latin typeface="Kollektif Bold"/>
                <a:ea typeface="Kollektif Bold"/>
                <a:cs typeface="Kollektif Bold"/>
                <a:sym typeface="Kollektif Bold"/>
              </a:rPr>
              <a:t>CONSTRAINT SATISFACTION PROBLEM</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grpSp>
        <p:nvGrpSpPr>
          <p:cNvPr name="Group 2" id="2"/>
          <p:cNvGrpSpPr/>
          <p:nvPr/>
        </p:nvGrpSpPr>
        <p:grpSpPr>
          <a:xfrm rot="2700000">
            <a:off x="14381224" y="7574679"/>
            <a:ext cx="7415398" cy="3565095"/>
            <a:chOff x="0" y="0"/>
            <a:chExt cx="660400" cy="317500"/>
          </a:xfrm>
        </p:grpSpPr>
        <p:sp>
          <p:nvSpPr>
            <p:cNvPr name="Freeform 3" id="3"/>
            <p:cNvSpPr/>
            <p:nvPr/>
          </p:nvSpPr>
          <p:spPr>
            <a:xfrm flipH="false" flipV="false" rot="0">
              <a:off x="0" y="0"/>
              <a:ext cx="660400" cy="317500"/>
            </a:xfrm>
            <a:custGeom>
              <a:avLst/>
              <a:gdLst/>
              <a:ahLst/>
              <a:cxnLst/>
              <a:rect r="r" b="b" t="t" l="l"/>
              <a:pathLst>
                <a:path h="317500"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000000">
                <a:alpha val="0"/>
              </a:srgbClr>
            </a:solidFill>
            <a:ln w="28575" cap="sq">
              <a:solidFill>
                <a:srgbClr val="8CA9AD"/>
              </a:solidFill>
              <a:prstDash val="solid"/>
              <a:miter/>
            </a:ln>
          </p:spPr>
        </p:sp>
        <p:sp>
          <p:nvSpPr>
            <p:cNvPr name="TextBox 4" id="4"/>
            <p:cNvSpPr txBox="true"/>
            <p:nvPr/>
          </p:nvSpPr>
          <p:spPr>
            <a:xfrm>
              <a:off x="0" y="146050"/>
              <a:ext cx="660400" cy="171450"/>
            </a:xfrm>
            <a:prstGeom prst="rect">
              <a:avLst/>
            </a:prstGeom>
          </p:spPr>
          <p:txBody>
            <a:bodyPr anchor="ctr" rtlCol="false" tIns="50800" lIns="50800" bIns="50800" rIns="50800"/>
            <a:lstStyle/>
            <a:p>
              <a:pPr algn="ctr">
                <a:lnSpc>
                  <a:spcPts val="2553"/>
                </a:lnSpc>
              </a:pPr>
            </a:p>
          </p:txBody>
        </p:sp>
      </p:grpSp>
      <p:sp>
        <p:nvSpPr>
          <p:cNvPr name="AutoShape 5" id="5"/>
          <p:cNvSpPr/>
          <p:nvPr/>
        </p:nvSpPr>
        <p:spPr>
          <a:xfrm>
            <a:off x="13918610" y="8394229"/>
            <a:ext cx="5185216" cy="5132702"/>
          </a:xfrm>
          <a:prstGeom prst="line">
            <a:avLst/>
          </a:prstGeom>
          <a:ln cap="flat" w="28575">
            <a:solidFill>
              <a:srgbClr val="8CA9AD"/>
            </a:solidFill>
            <a:prstDash val="solid"/>
            <a:headEnd type="none" len="sm" w="sm"/>
            <a:tailEnd type="none" len="sm" w="sm"/>
          </a:ln>
        </p:spPr>
      </p:sp>
      <p:sp>
        <p:nvSpPr>
          <p:cNvPr name="AutoShape 6" id="6"/>
          <p:cNvSpPr/>
          <p:nvPr/>
        </p:nvSpPr>
        <p:spPr>
          <a:xfrm>
            <a:off x="13704664" y="8706905"/>
            <a:ext cx="5038853" cy="5038853"/>
          </a:xfrm>
          <a:prstGeom prst="line">
            <a:avLst/>
          </a:prstGeom>
          <a:ln cap="flat" w="28575">
            <a:solidFill>
              <a:srgbClr val="8CA9AD"/>
            </a:solidFill>
            <a:prstDash val="solid"/>
            <a:headEnd type="none" len="sm" w="sm"/>
            <a:tailEnd type="none" len="sm" w="sm"/>
          </a:ln>
        </p:spPr>
      </p:sp>
      <p:sp>
        <p:nvSpPr>
          <p:cNvPr name="AutoShape 7" id="7"/>
          <p:cNvSpPr/>
          <p:nvPr/>
        </p:nvSpPr>
        <p:spPr>
          <a:xfrm>
            <a:off x="13525062" y="9065375"/>
            <a:ext cx="4867141" cy="4867141"/>
          </a:xfrm>
          <a:prstGeom prst="line">
            <a:avLst/>
          </a:prstGeom>
          <a:ln cap="flat" w="28575">
            <a:solidFill>
              <a:srgbClr val="8CA9AD"/>
            </a:solidFill>
            <a:prstDash val="solid"/>
            <a:headEnd type="none" len="sm" w="sm"/>
            <a:tailEnd type="none" len="sm" w="sm"/>
          </a:ln>
        </p:spPr>
      </p:sp>
      <p:sp>
        <p:nvSpPr>
          <p:cNvPr name="AutoShape 8" id="8"/>
          <p:cNvSpPr/>
          <p:nvPr/>
        </p:nvSpPr>
        <p:spPr>
          <a:xfrm>
            <a:off x="13398407" y="9451643"/>
            <a:ext cx="4690515" cy="4690515"/>
          </a:xfrm>
          <a:prstGeom prst="line">
            <a:avLst/>
          </a:prstGeom>
          <a:ln cap="flat" w="28575">
            <a:solidFill>
              <a:srgbClr val="8CA9AD"/>
            </a:solidFill>
            <a:prstDash val="solid"/>
            <a:headEnd type="none" len="sm" w="sm"/>
            <a:tailEnd type="none" len="sm" w="sm"/>
          </a:ln>
        </p:spPr>
      </p:sp>
      <p:sp>
        <p:nvSpPr>
          <p:cNvPr name="AutoShape 9" id="9"/>
          <p:cNvSpPr/>
          <p:nvPr/>
        </p:nvSpPr>
        <p:spPr>
          <a:xfrm>
            <a:off x="13254553" y="9891320"/>
            <a:ext cx="4347674" cy="4347674"/>
          </a:xfrm>
          <a:prstGeom prst="line">
            <a:avLst/>
          </a:prstGeom>
          <a:ln cap="flat" w="28575">
            <a:solidFill>
              <a:srgbClr val="8CA9AD"/>
            </a:solidFill>
            <a:prstDash val="solid"/>
            <a:headEnd type="none" len="sm" w="sm"/>
            <a:tailEnd type="none" len="sm" w="sm"/>
          </a:ln>
        </p:spPr>
      </p:sp>
      <p:sp>
        <p:nvSpPr>
          <p:cNvPr name="TextBox 10" id="10"/>
          <p:cNvSpPr txBox="true"/>
          <p:nvPr/>
        </p:nvSpPr>
        <p:spPr>
          <a:xfrm rot="0">
            <a:off x="2167618" y="1800225"/>
            <a:ext cx="12866041" cy="4054474"/>
          </a:xfrm>
          <a:prstGeom prst="rect">
            <a:avLst/>
          </a:prstGeom>
        </p:spPr>
        <p:txBody>
          <a:bodyPr anchor="t" rtlCol="false" tIns="0" lIns="0" bIns="0" rIns="0">
            <a:spAutoFit/>
          </a:bodyPr>
          <a:lstStyle/>
          <a:p>
            <a:pPr algn="ctr">
              <a:lnSpc>
                <a:spcPts val="9999"/>
              </a:lnSpc>
            </a:pPr>
            <a:r>
              <a:rPr lang="en-US" b="true" sz="9999">
                <a:solidFill>
                  <a:srgbClr val="227C9D"/>
                </a:solidFill>
                <a:latin typeface="Kollektif Bold"/>
                <a:ea typeface="Kollektif Bold"/>
                <a:cs typeface="Kollektif Bold"/>
                <a:sym typeface="Kollektif Bold"/>
              </a:rPr>
              <a:t>CONSTRAINT SATISFACTION PROBLEM</a:t>
            </a:r>
          </a:p>
        </p:txBody>
      </p:sp>
      <p:sp>
        <p:nvSpPr>
          <p:cNvPr name="TextBox 11" id="11"/>
          <p:cNvSpPr txBox="true"/>
          <p:nvPr/>
        </p:nvSpPr>
        <p:spPr>
          <a:xfrm rot="0">
            <a:off x="3487133" y="5854700"/>
            <a:ext cx="10719600" cy="2095500"/>
          </a:xfrm>
          <a:prstGeom prst="rect">
            <a:avLst/>
          </a:prstGeom>
        </p:spPr>
        <p:txBody>
          <a:bodyPr anchor="t" rtlCol="false" tIns="0" lIns="0" bIns="0" rIns="0">
            <a:spAutoFit/>
          </a:bodyPr>
          <a:lstStyle/>
          <a:p>
            <a:pPr algn="ctr">
              <a:lnSpc>
                <a:spcPts val="3360"/>
              </a:lnSpc>
            </a:pPr>
            <a:r>
              <a:rPr lang="en-US" sz="2800">
                <a:solidFill>
                  <a:srgbClr val="545454"/>
                </a:solidFill>
                <a:latin typeface="DM Sans"/>
                <a:ea typeface="DM Sans"/>
                <a:cs typeface="DM Sans"/>
                <a:sym typeface="DM Sans"/>
              </a:rPr>
              <a:t>Constraint Satisfaction Problem là bài toán thỏa mãn ràng buộc trong trí tuệ nhân tạo và tối ưu hóa, trong đó ta cần tìm giá trị cho một tập các biến sao cho tất cả các ràng buộc (constraints) giữa chúng đều được thỏa mãn.</a:t>
            </a:r>
          </a:p>
          <a:p>
            <a:pPr algn="ctr">
              <a:lnSpc>
                <a:spcPts val="3360"/>
              </a:lnSpc>
            </a:pPr>
          </a:p>
        </p:txBody>
      </p:sp>
      <p:grpSp>
        <p:nvGrpSpPr>
          <p:cNvPr name="Group 12" id="12"/>
          <p:cNvGrpSpPr/>
          <p:nvPr/>
        </p:nvGrpSpPr>
        <p:grpSpPr>
          <a:xfrm rot="2700000">
            <a:off x="-1376391" y="-3093321"/>
            <a:ext cx="7415398" cy="3565095"/>
            <a:chOff x="0" y="0"/>
            <a:chExt cx="660400" cy="317500"/>
          </a:xfrm>
        </p:grpSpPr>
        <p:sp>
          <p:nvSpPr>
            <p:cNvPr name="Freeform 13" id="13"/>
            <p:cNvSpPr/>
            <p:nvPr/>
          </p:nvSpPr>
          <p:spPr>
            <a:xfrm flipH="false" flipV="false" rot="0">
              <a:off x="0" y="0"/>
              <a:ext cx="660400" cy="317500"/>
            </a:xfrm>
            <a:custGeom>
              <a:avLst/>
              <a:gdLst/>
              <a:ahLst/>
              <a:cxnLst/>
              <a:rect r="r" b="b" t="t" l="l"/>
              <a:pathLst>
                <a:path h="317500"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000000">
                <a:alpha val="0"/>
              </a:srgbClr>
            </a:solidFill>
            <a:ln w="28575" cap="sq">
              <a:solidFill>
                <a:srgbClr val="8CA9AD"/>
              </a:solidFill>
              <a:prstDash val="solid"/>
              <a:miter/>
            </a:ln>
          </p:spPr>
        </p:sp>
        <p:sp>
          <p:nvSpPr>
            <p:cNvPr name="TextBox 14" id="14"/>
            <p:cNvSpPr txBox="true"/>
            <p:nvPr/>
          </p:nvSpPr>
          <p:spPr>
            <a:xfrm>
              <a:off x="0" y="146050"/>
              <a:ext cx="660400" cy="171450"/>
            </a:xfrm>
            <a:prstGeom prst="rect">
              <a:avLst/>
            </a:prstGeom>
          </p:spPr>
          <p:txBody>
            <a:bodyPr anchor="ctr" rtlCol="false" tIns="50800" lIns="50800" bIns="50800" rIns="50800"/>
            <a:lstStyle/>
            <a:p>
              <a:pPr algn="ctr">
                <a:lnSpc>
                  <a:spcPts val="2553"/>
                </a:lnSpc>
              </a:pPr>
            </a:p>
          </p:txBody>
        </p:sp>
      </p:grpSp>
      <p:sp>
        <p:nvSpPr>
          <p:cNvPr name="AutoShape 15" id="15"/>
          <p:cNvSpPr/>
          <p:nvPr/>
        </p:nvSpPr>
        <p:spPr>
          <a:xfrm>
            <a:off x="-1839005" y="-2273771"/>
            <a:ext cx="5185216" cy="5132702"/>
          </a:xfrm>
          <a:prstGeom prst="line">
            <a:avLst/>
          </a:prstGeom>
          <a:ln cap="flat" w="28575">
            <a:solidFill>
              <a:srgbClr val="8CA9AD"/>
            </a:solidFill>
            <a:prstDash val="solid"/>
            <a:headEnd type="none" len="sm" w="sm"/>
            <a:tailEnd type="none" len="sm" w="sm"/>
          </a:ln>
        </p:spPr>
      </p:sp>
      <p:sp>
        <p:nvSpPr>
          <p:cNvPr name="AutoShape 16" id="16"/>
          <p:cNvSpPr/>
          <p:nvPr/>
        </p:nvSpPr>
        <p:spPr>
          <a:xfrm>
            <a:off x="-2052951" y="-1961095"/>
            <a:ext cx="5038853" cy="5038853"/>
          </a:xfrm>
          <a:prstGeom prst="line">
            <a:avLst/>
          </a:prstGeom>
          <a:ln cap="flat" w="28575">
            <a:solidFill>
              <a:srgbClr val="8CA9AD"/>
            </a:solidFill>
            <a:prstDash val="solid"/>
            <a:headEnd type="none" len="sm" w="sm"/>
            <a:tailEnd type="none" len="sm" w="sm"/>
          </a:ln>
        </p:spPr>
      </p:sp>
      <p:sp>
        <p:nvSpPr>
          <p:cNvPr name="AutoShape 17" id="17"/>
          <p:cNvSpPr/>
          <p:nvPr/>
        </p:nvSpPr>
        <p:spPr>
          <a:xfrm>
            <a:off x="-2232553" y="-1602625"/>
            <a:ext cx="4867141" cy="4867141"/>
          </a:xfrm>
          <a:prstGeom prst="line">
            <a:avLst/>
          </a:prstGeom>
          <a:ln cap="flat" w="28575">
            <a:solidFill>
              <a:srgbClr val="8CA9AD"/>
            </a:solidFill>
            <a:prstDash val="solid"/>
            <a:headEnd type="none" len="sm" w="sm"/>
            <a:tailEnd type="none" len="sm" w="sm"/>
          </a:ln>
        </p:spPr>
      </p:sp>
      <p:sp>
        <p:nvSpPr>
          <p:cNvPr name="AutoShape 18" id="18"/>
          <p:cNvSpPr/>
          <p:nvPr/>
        </p:nvSpPr>
        <p:spPr>
          <a:xfrm>
            <a:off x="-2359208" y="-1216357"/>
            <a:ext cx="4690515" cy="4690515"/>
          </a:xfrm>
          <a:prstGeom prst="line">
            <a:avLst/>
          </a:prstGeom>
          <a:ln cap="flat" w="28575">
            <a:solidFill>
              <a:srgbClr val="8CA9AD"/>
            </a:solidFill>
            <a:prstDash val="solid"/>
            <a:headEnd type="none" len="sm" w="sm"/>
            <a:tailEnd type="none" len="sm" w="sm"/>
          </a:ln>
        </p:spPr>
      </p:sp>
      <p:sp>
        <p:nvSpPr>
          <p:cNvPr name="AutoShape 19" id="19"/>
          <p:cNvSpPr/>
          <p:nvPr/>
        </p:nvSpPr>
        <p:spPr>
          <a:xfrm>
            <a:off x="-2503062" y="-776680"/>
            <a:ext cx="4347674" cy="4347674"/>
          </a:xfrm>
          <a:prstGeom prst="line">
            <a:avLst/>
          </a:prstGeom>
          <a:ln cap="flat" w="28575">
            <a:solidFill>
              <a:srgbClr val="8CA9AD"/>
            </a:solidFill>
            <a:prstDash val="solid"/>
            <a:headEnd type="none" len="sm" w="sm"/>
            <a:tailEnd type="none" len="sm" w="sm"/>
          </a:ln>
        </p:spPr>
      </p:sp>
      <p:sp>
        <p:nvSpPr>
          <p:cNvPr name="AutoShape 20" id="20"/>
          <p:cNvSpPr/>
          <p:nvPr/>
        </p:nvSpPr>
        <p:spPr>
          <a:xfrm>
            <a:off x="-2623881" y="-332957"/>
            <a:ext cx="3963599" cy="3985594"/>
          </a:xfrm>
          <a:prstGeom prst="line">
            <a:avLst/>
          </a:prstGeom>
          <a:ln cap="flat" w="28575">
            <a:solidFill>
              <a:srgbClr val="8CA9AD"/>
            </a:solidFill>
            <a:prstDash val="solid"/>
            <a:headEnd type="none" len="sm" w="sm"/>
            <a:tailEnd type="none" len="sm" w="sm"/>
          </a:ln>
        </p:spPr>
      </p:sp>
      <p:sp>
        <p:nvSpPr>
          <p:cNvPr name="AutoShape 21" id="21"/>
          <p:cNvSpPr/>
          <p:nvPr/>
        </p:nvSpPr>
        <p:spPr>
          <a:xfrm>
            <a:off x="-2598114" y="228677"/>
            <a:ext cx="3377485" cy="3360058"/>
          </a:xfrm>
          <a:prstGeom prst="line">
            <a:avLst/>
          </a:prstGeom>
          <a:ln cap="flat" w="28575">
            <a:solidFill>
              <a:srgbClr val="8CA9AD"/>
            </a:solidFill>
            <a:prstDash val="solid"/>
            <a:headEnd type="none" len="sm" w="sm"/>
            <a:tailEnd type="none" len="sm" w="sm"/>
          </a:ln>
        </p:spPr>
      </p:sp>
      <p:sp>
        <p:nvSpPr>
          <p:cNvPr name="AutoShape 22" id="22"/>
          <p:cNvSpPr/>
          <p:nvPr/>
        </p:nvSpPr>
        <p:spPr>
          <a:xfrm>
            <a:off x="-2509797" y="905760"/>
            <a:ext cx="2628598" cy="2671969"/>
          </a:xfrm>
          <a:prstGeom prst="line">
            <a:avLst/>
          </a:prstGeom>
          <a:ln cap="flat" w="28575">
            <a:solidFill>
              <a:srgbClr val="8CA9AD"/>
            </a:solidFill>
            <a:prstDash val="solid"/>
            <a:headEnd type="none" len="sm" w="sm"/>
            <a:tailEnd type="none" len="sm" w="sm"/>
          </a:ln>
        </p:spPr>
      </p:sp>
      <p:sp>
        <p:nvSpPr>
          <p:cNvPr name="Freeform 23" id="23"/>
          <p:cNvSpPr/>
          <p:nvPr/>
        </p:nvSpPr>
        <p:spPr>
          <a:xfrm flipH="false" flipV="false" rot="0">
            <a:off x="17204191" y="-55109"/>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4" id="24"/>
          <p:cNvSpPr/>
          <p:nvPr/>
        </p:nvSpPr>
        <p:spPr>
          <a:xfrm flipH="false" flipV="false" rot="0">
            <a:off x="17204191" y="1028700"/>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5" id="25"/>
          <p:cNvSpPr/>
          <p:nvPr/>
        </p:nvSpPr>
        <p:spPr>
          <a:xfrm flipH="true" flipV="true" rot="5400000">
            <a:off x="17204191" y="2112509"/>
            <a:ext cx="1083809" cy="1083809"/>
          </a:xfrm>
          <a:custGeom>
            <a:avLst/>
            <a:gdLst/>
            <a:ahLst/>
            <a:cxnLst/>
            <a:rect r="r" b="b" t="t" l="l"/>
            <a:pathLst>
              <a:path h="1083809" w="1083809">
                <a:moveTo>
                  <a:pt x="1083809" y="1083809"/>
                </a:moveTo>
                <a:lnTo>
                  <a:pt x="0" y="1083809"/>
                </a:lnTo>
                <a:lnTo>
                  <a:pt x="0" y="0"/>
                </a:lnTo>
                <a:lnTo>
                  <a:pt x="1083809" y="0"/>
                </a:lnTo>
                <a:lnTo>
                  <a:pt x="1083809" y="1083809"/>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6" id="26"/>
          <p:cNvSpPr/>
          <p:nvPr/>
        </p:nvSpPr>
        <p:spPr>
          <a:xfrm flipH="false" flipV="false" rot="0">
            <a:off x="16120382" y="-55109"/>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7" id="27"/>
          <p:cNvSpPr/>
          <p:nvPr/>
        </p:nvSpPr>
        <p:spPr>
          <a:xfrm flipH="false" flipV="false" rot="5400000">
            <a:off x="15036573" y="1028700"/>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8" id="28"/>
          <p:cNvSpPr/>
          <p:nvPr/>
        </p:nvSpPr>
        <p:spPr>
          <a:xfrm flipH="false" flipV="false" rot="-10800000">
            <a:off x="16120382" y="2112509"/>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9" id="29"/>
          <p:cNvSpPr/>
          <p:nvPr/>
        </p:nvSpPr>
        <p:spPr>
          <a:xfrm flipH="true" flipV="true" rot="-10800000">
            <a:off x="15036573" y="2112509"/>
            <a:ext cx="1083809" cy="1083809"/>
          </a:xfrm>
          <a:custGeom>
            <a:avLst/>
            <a:gdLst/>
            <a:ahLst/>
            <a:cxnLst/>
            <a:rect r="r" b="b" t="t" l="l"/>
            <a:pathLst>
              <a:path h="1083809" w="1083809">
                <a:moveTo>
                  <a:pt x="1083809" y="1083809"/>
                </a:moveTo>
                <a:lnTo>
                  <a:pt x="0" y="1083809"/>
                </a:lnTo>
                <a:lnTo>
                  <a:pt x="0" y="0"/>
                </a:lnTo>
                <a:lnTo>
                  <a:pt x="1083809" y="0"/>
                </a:lnTo>
                <a:lnTo>
                  <a:pt x="1083809" y="108380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0" id="30"/>
          <p:cNvSpPr/>
          <p:nvPr/>
        </p:nvSpPr>
        <p:spPr>
          <a:xfrm flipH="true" flipV="true" rot="5400000">
            <a:off x="12770705" y="-55109"/>
            <a:ext cx="1083809" cy="1083809"/>
          </a:xfrm>
          <a:custGeom>
            <a:avLst/>
            <a:gdLst/>
            <a:ahLst/>
            <a:cxnLst/>
            <a:rect r="r" b="b" t="t" l="l"/>
            <a:pathLst>
              <a:path h="1083809" w="1083809">
                <a:moveTo>
                  <a:pt x="1083809" y="1083809"/>
                </a:moveTo>
                <a:lnTo>
                  <a:pt x="0" y="1083809"/>
                </a:lnTo>
                <a:lnTo>
                  <a:pt x="0" y="0"/>
                </a:lnTo>
                <a:lnTo>
                  <a:pt x="1083809" y="0"/>
                </a:lnTo>
                <a:lnTo>
                  <a:pt x="1083809" y="1083809"/>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1" id="31"/>
          <p:cNvSpPr/>
          <p:nvPr/>
        </p:nvSpPr>
        <p:spPr>
          <a:xfrm flipH="true" flipV="true" rot="-10800000">
            <a:off x="12770705" y="1028700"/>
            <a:ext cx="1083809" cy="1083809"/>
          </a:xfrm>
          <a:custGeom>
            <a:avLst/>
            <a:gdLst/>
            <a:ahLst/>
            <a:cxnLst/>
            <a:rect r="r" b="b" t="t" l="l"/>
            <a:pathLst>
              <a:path h="1083809" w="1083809">
                <a:moveTo>
                  <a:pt x="1083809" y="1083809"/>
                </a:moveTo>
                <a:lnTo>
                  <a:pt x="0" y="1083809"/>
                </a:lnTo>
                <a:lnTo>
                  <a:pt x="0" y="0"/>
                </a:lnTo>
                <a:lnTo>
                  <a:pt x="1083809" y="0"/>
                </a:lnTo>
                <a:lnTo>
                  <a:pt x="1083809" y="1083809"/>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2" id="32"/>
          <p:cNvSpPr/>
          <p:nvPr/>
        </p:nvSpPr>
        <p:spPr>
          <a:xfrm flipH="false" flipV="false" rot="-10800000">
            <a:off x="9525" y="7044155"/>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3" id="33"/>
          <p:cNvSpPr/>
          <p:nvPr/>
        </p:nvSpPr>
        <p:spPr>
          <a:xfrm flipH="false" flipV="false" rot="0">
            <a:off x="1083809" y="7072730"/>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4" id="34"/>
          <p:cNvSpPr/>
          <p:nvPr/>
        </p:nvSpPr>
        <p:spPr>
          <a:xfrm flipH="false" flipV="false" rot="0">
            <a:off x="0" y="8156539"/>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5" id="35"/>
          <p:cNvSpPr/>
          <p:nvPr/>
        </p:nvSpPr>
        <p:spPr>
          <a:xfrm flipH="false" flipV="false" rot="-10800000">
            <a:off x="0" y="9240348"/>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6" id="36"/>
          <p:cNvSpPr/>
          <p:nvPr/>
        </p:nvSpPr>
        <p:spPr>
          <a:xfrm flipH="false" flipV="false" rot="-5400000">
            <a:off x="1083809" y="9240348"/>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7" id="37"/>
          <p:cNvSpPr/>
          <p:nvPr/>
        </p:nvSpPr>
        <p:spPr>
          <a:xfrm flipH="false" flipV="false" rot="-10800000">
            <a:off x="3321750" y="9268923"/>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8" id="38"/>
          <p:cNvSpPr/>
          <p:nvPr/>
        </p:nvSpPr>
        <p:spPr>
          <a:xfrm flipH="false" flipV="false" rot="0">
            <a:off x="3321750" y="8185114"/>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9" id="39"/>
          <p:cNvSpPr/>
          <p:nvPr/>
        </p:nvSpPr>
        <p:spPr>
          <a:xfrm flipH="false" flipV="false" rot="5400000">
            <a:off x="4405559" y="9268923"/>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800000">
            <a:off x="9525" y="8243164"/>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83809" y="8271739"/>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0" y="9355548"/>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321750" y="9384123"/>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7204191" y="8137489"/>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7204191" y="9221298"/>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6120382" y="7053680"/>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6120382" y="8137489"/>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5400000">
            <a:off x="15036573" y="9221298"/>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true" flipV="true" rot="5400000">
            <a:off x="12770705" y="8137489"/>
            <a:ext cx="1083809" cy="1083809"/>
          </a:xfrm>
          <a:custGeom>
            <a:avLst/>
            <a:gdLst/>
            <a:ahLst/>
            <a:cxnLst/>
            <a:rect r="r" b="b" t="t" l="l"/>
            <a:pathLst>
              <a:path h="1083809" w="1083809">
                <a:moveTo>
                  <a:pt x="1083809" y="1083809"/>
                </a:moveTo>
                <a:lnTo>
                  <a:pt x="0" y="1083809"/>
                </a:lnTo>
                <a:lnTo>
                  <a:pt x="0" y="0"/>
                </a:lnTo>
                <a:lnTo>
                  <a:pt x="1083809" y="0"/>
                </a:lnTo>
                <a:lnTo>
                  <a:pt x="1083809" y="1083809"/>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true" flipV="true" rot="-10800000">
            <a:off x="12770705" y="9221298"/>
            <a:ext cx="1083809" cy="1083809"/>
          </a:xfrm>
          <a:custGeom>
            <a:avLst/>
            <a:gdLst/>
            <a:ahLst/>
            <a:cxnLst/>
            <a:rect r="r" b="b" t="t" l="l"/>
            <a:pathLst>
              <a:path h="1083809" w="1083809">
                <a:moveTo>
                  <a:pt x="1083809" y="1083809"/>
                </a:moveTo>
                <a:lnTo>
                  <a:pt x="0" y="1083809"/>
                </a:lnTo>
                <a:lnTo>
                  <a:pt x="0" y="0"/>
                </a:lnTo>
                <a:lnTo>
                  <a:pt x="1083809" y="0"/>
                </a:lnTo>
                <a:lnTo>
                  <a:pt x="1083809" y="1083809"/>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3" id="13"/>
          <p:cNvGrpSpPr/>
          <p:nvPr/>
        </p:nvGrpSpPr>
        <p:grpSpPr>
          <a:xfrm rot="0">
            <a:off x="551429" y="668539"/>
            <a:ext cx="6338917" cy="1388029"/>
            <a:chOff x="0" y="0"/>
            <a:chExt cx="1669509" cy="365572"/>
          </a:xfrm>
        </p:grpSpPr>
        <p:sp>
          <p:nvSpPr>
            <p:cNvPr name="Freeform 14" id="14"/>
            <p:cNvSpPr/>
            <p:nvPr/>
          </p:nvSpPr>
          <p:spPr>
            <a:xfrm flipH="false" flipV="false" rot="0">
              <a:off x="0" y="0"/>
              <a:ext cx="1669509" cy="365572"/>
            </a:xfrm>
            <a:custGeom>
              <a:avLst/>
              <a:gdLst/>
              <a:ahLst/>
              <a:cxnLst/>
              <a:rect r="r" b="b" t="t" l="l"/>
              <a:pathLst>
                <a:path h="365572" w="1669509">
                  <a:moveTo>
                    <a:pt x="62288" y="0"/>
                  </a:moveTo>
                  <a:lnTo>
                    <a:pt x="1607221" y="0"/>
                  </a:lnTo>
                  <a:cubicBezTo>
                    <a:pt x="1641622" y="0"/>
                    <a:pt x="1669509" y="27887"/>
                    <a:pt x="1669509" y="62288"/>
                  </a:cubicBezTo>
                  <a:lnTo>
                    <a:pt x="1669509" y="303284"/>
                  </a:lnTo>
                  <a:cubicBezTo>
                    <a:pt x="1669509" y="319803"/>
                    <a:pt x="1662947" y="335647"/>
                    <a:pt x="1651265" y="347328"/>
                  </a:cubicBezTo>
                  <a:cubicBezTo>
                    <a:pt x="1639584" y="359009"/>
                    <a:pt x="1623741" y="365572"/>
                    <a:pt x="1607221" y="365572"/>
                  </a:cubicBezTo>
                  <a:lnTo>
                    <a:pt x="62288" y="365572"/>
                  </a:lnTo>
                  <a:cubicBezTo>
                    <a:pt x="27887" y="365572"/>
                    <a:pt x="0" y="337684"/>
                    <a:pt x="0" y="303284"/>
                  </a:cubicBezTo>
                  <a:lnTo>
                    <a:pt x="0" y="62288"/>
                  </a:lnTo>
                  <a:cubicBezTo>
                    <a:pt x="0" y="45768"/>
                    <a:pt x="6562" y="29925"/>
                    <a:pt x="18244" y="18244"/>
                  </a:cubicBezTo>
                  <a:cubicBezTo>
                    <a:pt x="29925" y="6562"/>
                    <a:pt x="45768" y="0"/>
                    <a:pt x="62288" y="0"/>
                  </a:cubicBezTo>
                  <a:close/>
                </a:path>
              </a:pathLst>
            </a:custGeom>
            <a:solidFill>
              <a:srgbClr val="227C9D"/>
            </a:solidFill>
          </p:spPr>
        </p:sp>
        <p:sp>
          <p:nvSpPr>
            <p:cNvPr name="TextBox 15" id="15"/>
            <p:cNvSpPr txBox="true"/>
            <p:nvPr/>
          </p:nvSpPr>
          <p:spPr>
            <a:xfrm>
              <a:off x="0" y="19050"/>
              <a:ext cx="1669509" cy="346522"/>
            </a:xfrm>
            <a:prstGeom prst="rect">
              <a:avLst/>
            </a:prstGeom>
          </p:spPr>
          <p:txBody>
            <a:bodyPr anchor="ctr" rtlCol="false" tIns="50800" lIns="50800" bIns="50800" rIns="50800"/>
            <a:lstStyle/>
            <a:p>
              <a:pPr algn="ctr">
                <a:lnSpc>
                  <a:spcPts val="2553"/>
                </a:lnSpc>
              </a:pPr>
            </a:p>
          </p:txBody>
        </p:sp>
      </p:grpSp>
      <p:graphicFrame>
        <p:nvGraphicFramePr>
          <p:cNvPr name="Object 16" id="16"/>
          <p:cNvGraphicFramePr/>
          <p:nvPr/>
        </p:nvGraphicFramePr>
        <p:xfrm>
          <a:off x="633659" y="3610717"/>
          <a:ext cx="3771900" cy="2514600"/>
        </p:xfrm>
        <a:graphic>
          <a:graphicData uri="http://schemas.openxmlformats.org/presentationml/2006/ole">
            <p:oleObj imgW="4521200" imgH="3263900" r:id="rId11" progId="Excel.Sheet.12" name="Worksheet">
              <p:embed/>
              <p:pic>
                <p:nvPicPr>
                  <p:cNvPr name="" id="0"/>
                  <p:cNvPicPr/>
                  <p:nvPr/>
                </p:nvPicPr>
                <p:blipFill>
                  <a:blip r:embed="rId10"/>
                  <a:stretch>
                    <a:fillRect/>
                  </a:stretch>
                </p:blipFill>
                <p:spPr>
                  <a:xfrm>
                    <a:off x="1270000" y="1270000"/>
                    <a:ext cx="1270000" cy="1270000"/>
                  </a:xfrm>
                  <a:prstGeom prst="rect"/>
                </p:spPr>
              </p:pic>
            </p:oleObj>
          </a:graphicData>
        </a:graphic>
      </p:graphicFrame>
      <p:sp>
        <p:nvSpPr>
          <p:cNvPr name="TextBox 17" id="17"/>
          <p:cNvSpPr txBox="true"/>
          <p:nvPr/>
        </p:nvSpPr>
        <p:spPr>
          <a:xfrm rot="0">
            <a:off x="1187630" y="797404"/>
            <a:ext cx="5702716" cy="1120775"/>
          </a:xfrm>
          <a:prstGeom prst="rect">
            <a:avLst/>
          </a:prstGeom>
        </p:spPr>
        <p:txBody>
          <a:bodyPr anchor="t" rtlCol="false" tIns="0" lIns="0" bIns="0" rIns="0">
            <a:spAutoFit/>
          </a:bodyPr>
          <a:lstStyle/>
          <a:p>
            <a:pPr algn="l">
              <a:lnSpc>
                <a:spcPts val="4000"/>
              </a:lnSpc>
            </a:pPr>
            <a:r>
              <a:rPr lang="en-US" b="true" sz="4000">
                <a:solidFill>
                  <a:srgbClr val="FFFFFF"/>
                </a:solidFill>
                <a:latin typeface="Kollektif Bold"/>
                <a:ea typeface="Kollektif Bold"/>
                <a:cs typeface="Kollektif Bold"/>
                <a:sym typeface="Kollektif Bold"/>
              </a:rPr>
              <a:t>GRAPH COLORING WITH CSP</a:t>
            </a:r>
          </a:p>
        </p:txBody>
      </p:sp>
      <p:sp>
        <p:nvSpPr>
          <p:cNvPr name="TextBox 18" id="18"/>
          <p:cNvSpPr txBox="true"/>
          <p:nvPr/>
        </p:nvSpPr>
        <p:spPr>
          <a:xfrm rot="0">
            <a:off x="541904" y="2623925"/>
            <a:ext cx="14438471" cy="434342"/>
          </a:xfrm>
          <a:prstGeom prst="rect">
            <a:avLst/>
          </a:prstGeom>
        </p:spPr>
        <p:txBody>
          <a:bodyPr anchor="t" rtlCol="false" tIns="0" lIns="0" bIns="0" rIns="0">
            <a:spAutoFit/>
          </a:bodyPr>
          <a:lstStyle/>
          <a:p>
            <a:pPr algn="l">
              <a:lnSpc>
                <a:spcPts val="3330"/>
              </a:lnSpc>
              <a:spcBef>
                <a:spcPct val="0"/>
              </a:spcBef>
            </a:pPr>
            <a:r>
              <a:rPr lang="en-US" sz="3000">
                <a:solidFill>
                  <a:srgbClr val="000000"/>
                </a:solidFill>
                <a:latin typeface="DM Sans"/>
                <a:ea typeface="DM Sans"/>
                <a:cs typeface="DM Sans"/>
                <a:sym typeface="DM Sans"/>
              </a:rPr>
              <a:t>Một bài toán tô màu đồ thị là một CSP (Constraint Satisfaction Problem), trong đó:</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2700000">
            <a:off x="-2396474" y="-2921783"/>
            <a:ext cx="7415398" cy="3565095"/>
            <a:chOff x="0" y="0"/>
            <a:chExt cx="660400" cy="317500"/>
          </a:xfrm>
        </p:grpSpPr>
        <p:sp>
          <p:nvSpPr>
            <p:cNvPr name="Freeform 3" id="3"/>
            <p:cNvSpPr/>
            <p:nvPr/>
          </p:nvSpPr>
          <p:spPr>
            <a:xfrm flipH="false" flipV="false" rot="0">
              <a:off x="0" y="0"/>
              <a:ext cx="660400" cy="317500"/>
            </a:xfrm>
            <a:custGeom>
              <a:avLst/>
              <a:gdLst/>
              <a:ahLst/>
              <a:cxnLst/>
              <a:rect r="r" b="b" t="t" l="l"/>
              <a:pathLst>
                <a:path h="317500"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000000">
                <a:alpha val="0"/>
              </a:srgbClr>
            </a:solidFill>
            <a:ln w="28575" cap="sq">
              <a:solidFill>
                <a:srgbClr val="8CA9AD"/>
              </a:solidFill>
              <a:prstDash val="solid"/>
              <a:miter/>
            </a:ln>
          </p:spPr>
        </p:sp>
        <p:sp>
          <p:nvSpPr>
            <p:cNvPr name="TextBox 4" id="4"/>
            <p:cNvSpPr txBox="true"/>
            <p:nvPr/>
          </p:nvSpPr>
          <p:spPr>
            <a:xfrm>
              <a:off x="0" y="146050"/>
              <a:ext cx="660400" cy="171450"/>
            </a:xfrm>
            <a:prstGeom prst="rect">
              <a:avLst/>
            </a:prstGeom>
          </p:spPr>
          <p:txBody>
            <a:bodyPr anchor="ctr" rtlCol="false" tIns="50800" lIns="50800" bIns="50800" rIns="50800"/>
            <a:lstStyle/>
            <a:p>
              <a:pPr algn="ctr">
                <a:lnSpc>
                  <a:spcPts val="2553"/>
                </a:lnSpc>
              </a:pPr>
            </a:p>
          </p:txBody>
        </p:sp>
      </p:grpSp>
      <p:sp>
        <p:nvSpPr>
          <p:cNvPr name="AutoShape 5" id="5"/>
          <p:cNvSpPr/>
          <p:nvPr/>
        </p:nvSpPr>
        <p:spPr>
          <a:xfrm>
            <a:off x="-2859087" y="-2102233"/>
            <a:ext cx="5185216" cy="5132702"/>
          </a:xfrm>
          <a:prstGeom prst="line">
            <a:avLst/>
          </a:prstGeom>
          <a:ln cap="flat" w="28575">
            <a:solidFill>
              <a:srgbClr val="8CA9AD"/>
            </a:solidFill>
            <a:prstDash val="solid"/>
            <a:headEnd type="none" len="sm" w="sm"/>
            <a:tailEnd type="none" len="sm" w="sm"/>
          </a:ln>
        </p:spPr>
      </p:sp>
      <p:sp>
        <p:nvSpPr>
          <p:cNvPr name="AutoShape 6" id="6"/>
          <p:cNvSpPr/>
          <p:nvPr/>
        </p:nvSpPr>
        <p:spPr>
          <a:xfrm>
            <a:off x="-3073034" y="-1789557"/>
            <a:ext cx="5038853" cy="5038853"/>
          </a:xfrm>
          <a:prstGeom prst="line">
            <a:avLst/>
          </a:prstGeom>
          <a:ln cap="flat" w="28575">
            <a:solidFill>
              <a:srgbClr val="8CA9AD"/>
            </a:solidFill>
            <a:prstDash val="solid"/>
            <a:headEnd type="none" len="sm" w="sm"/>
            <a:tailEnd type="none" len="sm" w="sm"/>
          </a:ln>
        </p:spPr>
      </p:sp>
      <p:sp>
        <p:nvSpPr>
          <p:cNvPr name="AutoShape 7" id="7"/>
          <p:cNvSpPr/>
          <p:nvPr/>
        </p:nvSpPr>
        <p:spPr>
          <a:xfrm>
            <a:off x="-3252636" y="-1431087"/>
            <a:ext cx="4867141" cy="4867141"/>
          </a:xfrm>
          <a:prstGeom prst="line">
            <a:avLst/>
          </a:prstGeom>
          <a:ln cap="flat" w="28575">
            <a:solidFill>
              <a:srgbClr val="8CA9AD"/>
            </a:solidFill>
            <a:prstDash val="solid"/>
            <a:headEnd type="none" len="sm" w="sm"/>
            <a:tailEnd type="none" len="sm" w="sm"/>
          </a:ln>
        </p:spPr>
      </p:sp>
      <p:sp>
        <p:nvSpPr>
          <p:cNvPr name="AutoShape 8" id="8"/>
          <p:cNvSpPr/>
          <p:nvPr/>
        </p:nvSpPr>
        <p:spPr>
          <a:xfrm>
            <a:off x="-3379290" y="-1044819"/>
            <a:ext cx="4690515" cy="4690515"/>
          </a:xfrm>
          <a:prstGeom prst="line">
            <a:avLst/>
          </a:prstGeom>
          <a:ln cap="flat" w="28575">
            <a:solidFill>
              <a:srgbClr val="8CA9AD"/>
            </a:solidFill>
            <a:prstDash val="solid"/>
            <a:headEnd type="none" len="sm" w="sm"/>
            <a:tailEnd type="none" len="sm" w="sm"/>
          </a:ln>
        </p:spPr>
      </p:sp>
      <p:sp>
        <p:nvSpPr>
          <p:cNvPr name="AutoShape 9" id="9"/>
          <p:cNvSpPr/>
          <p:nvPr/>
        </p:nvSpPr>
        <p:spPr>
          <a:xfrm>
            <a:off x="-3523144" y="-605142"/>
            <a:ext cx="4347674" cy="4347674"/>
          </a:xfrm>
          <a:prstGeom prst="line">
            <a:avLst/>
          </a:prstGeom>
          <a:ln cap="flat" w="28575">
            <a:solidFill>
              <a:srgbClr val="8CA9AD"/>
            </a:solidFill>
            <a:prstDash val="solid"/>
            <a:headEnd type="none" len="sm" w="sm"/>
            <a:tailEnd type="none" len="sm" w="sm"/>
          </a:ln>
        </p:spPr>
      </p:sp>
      <p:sp>
        <p:nvSpPr>
          <p:cNvPr name="AutoShape 10" id="10"/>
          <p:cNvSpPr/>
          <p:nvPr/>
        </p:nvSpPr>
        <p:spPr>
          <a:xfrm>
            <a:off x="-3643964" y="-161419"/>
            <a:ext cx="3963599" cy="3985594"/>
          </a:xfrm>
          <a:prstGeom prst="line">
            <a:avLst/>
          </a:prstGeom>
          <a:ln cap="flat" w="28575">
            <a:solidFill>
              <a:srgbClr val="8CA9AD"/>
            </a:solidFill>
            <a:prstDash val="solid"/>
            <a:headEnd type="none" len="sm" w="sm"/>
            <a:tailEnd type="none" len="sm" w="sm"/>
          </a:ln>
        </p:spPr>
      </p:sp>
      <p:sp>
        <p:nvSpPr>
          <p:cNvPr name="TextBox 11" id="11"/>
          <p:cNvSpPr txBox="true"/>
          <p:nvPr/>
        </p:nvSpPr>
        <p:spPr>
          <a:xfrm rot="0">
            <a:off x="3323288" y="2503545"/>
            <a:ext cx="7600032" cy="1053847"/>
          </a:xfrm>
          <a:prstGeom prst="rect">
            <a:avLst/>
          </a:prstGeom>
        </p:spPr>
        <p:txBody>
          <a:bodyPr anchor="t" rtlCol="false" tIns="0" lIns="0" bIns="0" rIns="0">
            <a:spAutoFit/>
          </a:bodyPr>
          <a:lstStyle/>
          <a:p>
            <a:pPr algn="l">
              <a:lnSpc>
                <a:spcPts val="3762"/>
              </a:lnSpc>
            </a:pPr>
            <a:r>
              <a:rPr lang="en-US" b="true" sz="3800">
                <a:solidFill>
                  <a:srgbClr val="227C9D"/>
                </a:solidFill>
                <a:latin typeface="Kollektif Bold"/>
                <a:ea typeface="Kollektif Bold"/>
                <a:cs typeface="Kollektif Bold"/>
                <a:sym typeface="Kollektif Bold"/>
              </a:rPr>
              <a:t>DẠNG TỔNG QUÁT CỦA GRAPH COLORING CSP:</a:t>
            </a:r>
          </a:p>
        </p:txBody>
      </p:sp>
      <p:sp>
        <p:nvSpPr>
          <p:cNvPr name="TextBox 12" id="12"/>
          <p:cNvSpPr txBox="true"/>
          <p:nvPr/>
        </p:nvSpPr>
        <p:spPr>
          <a:xfrm rot="0">
            <a:off x="14540395" y="4927136"/>
            <a:ext cx="1424407" cy="524510"/>
          </a:xfrm>
          <a:prstGeom prst="rect">
            <a:avLst/>
          </a:prstGeom>
        </p:spPr>
        <p:txBody>
          <a:bodyPr anchor="t" rtlCol="false" tIns="0" lIns="0" bIns="0" rIns="0">
            <a:spAutoFit/>
          </a:bodyPr>
          <a:lstStyle/>
          <a:p>
            <a:pPr algn="ctr">
              <a:lnSpc>
                <a:spcPts val="4479"/>
              </a:lnSpc>
            </a:pPr>
            <a:r>
              <a:rPr lang="en-US" b="true" sz="2799" spc="338">
                <a:solidFill>
                  <a:srgbClr val="FFFFFF"/>
                </a:solidFill>
                <a:latin typeface="DM Sans Bold"/>
                <a:ea typeface="DM Sans Bold"/>
                <a:cs typeface="DM Sans Bold"/>
                <a:sym typeface="DM Sans Bold"/>
              </a:rPr>
              <a:t>OCT</a:t>
            </a:r>
          </a:p>
        </p:txBody>
      </p:sp>
      <p:sp>
        <p:nvSpPr>
          <p:cNvPr name="Freeform 13" id="13"/>
          <p:cNvSpPr/>
          <p:nvPr/>
        </p:nvSpPr>
        <p:spPr>
          <a:xfrm flipH="false" flipV="false" rot="0">
            <a:off x="17204191" y="7037791"/>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7204191" y="8121600"/>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true" flipV="true" rot="5400000">
            <a:off x="17204191" y="9205409"/>
            <a:ext cx="1083809" cy="1083809"/>
          </a:xfrm>
          <a:custGeom>
            <a:avLst/>
            <a:gdLst/>
            <a:ahLst/>
            <a:cxnLst/>
            <a:rect r="r" b="b" t="t" l="l"/>
            <a:pathLst>
              <a:path h="1083809" w="1083809">
                <a:moveTo>
                  <a:pt x="1083809" y="1083809"/>
                </a:moveTo>
                <a:lnTo>
                  <a:pt x="0" y="1083809"/>
                </a:lnTo>
                <a:lnTo>
                  <a:pt x="0" y="0"/>
                </a:lnTo>
                <a:lnTo>
                  <a:pt x="1083809" y="0"/>
                </a:lnTo>
                <a:lnTo>
                  <a:pt x="1083809" y="1083809"/>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0">
            <a:off x="16120382" y="5953982"/>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0">
            <a:off x="16120382" y="7037791"/>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8" id="18"/>
          <p:cNvSpPr/>
          <p:nvPr/>
        </p:nvSpPr>
        <p:spPr>
          <a:xfrm flipH="false" flipV="false" rot="5400000">
            <a:off x="15036573" y="8121600"/>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9" id="19"/>
          <p:cNvSpPr/>
          <p:nvPr/>
        </p:nvSpPr>
        <p:spPr>
          <a:xfrm flipH="false" flipV="false" rot="-10800000">
            <a:off x="16120382" y="9205409"/>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0" id="20"/>
          <p:cNvSpPr/>
          <p:nvPr/>
        </p:nvSpPr>
        <p:spPr>
          <a:xfrm flipH="true" flipV="true" rot="-10800000">
            <a:off x="15036573" y="9205409"/>
            <a:ext cx="1083809" cy="1083809"/>
          </a:xfrm>
          <a:custGeom>
            <a:avLst/>
            <a:gdLst/>
            <a:ahLst/>
            <a:cxnLst/>
            <a:rect r="r" b="b" t="t" l="l"/>
            <a:pathLst>
              <a:path h="1083809" w="1083809">
                <a:moveTo>
                  <a:pt x="1083809" y="1083809"/>
                </a:moveTo>
                <a:lnTo>
                  <a:pt x="0" y="1083809"/>
                </a:lnTo>
                <a:lnTo>
                  <a:pt x="0" y="0"/>
                </a:lnTo>
                <a:lnTo>
                  <a:pt x="1083809" y="0"/>
                </a:lnTo>
                <a:lnTo>
                  <a:pt x="1083809" y="108380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1" id="21"/>
          <p:cNvSpPr txBox="true"/>
          <p:nvPr/>
        </p:nvSpPr>
        <p:spPr>
          <a:xfrm rot="0">
            <a:off x="1614506" y="4319549"/>
            <a:ext cx="11378740" cy="2302294"/>
          </a:xfrm>
          <a:prstGeom prst="rect">
            <a:avLst/>
          </a:prstGeom>
        </p:spPr>
        <p:txBody>
          <a:bodyPr anchor="t" rtlCol="false" tIns="0" lIns="0" bIns="0" rIns="0">
            <a:spAutoFit/>
          </a:bodyPr>
          <a:lstStyle/>
          <a:p>
            <a:pPr algn="l">
              <a:lnSpc>
                <a:spcPts val="3696"/>
              </a:lnSpc>
              <a:spcBef>
                <a:spcPct val="0"/>
              </a:spcBef>
            </a:pPr>
            <a:r>
              <a:rPr lang="en-US" sz="3330">
                <a:solidFill>
                  <a:srgbClr val="000000"/>
                </a:solidFill>
                <a:latin typeface="DM Sans"/>
                <a:ea typeface="DM Sans"/>
                <a:cs typeface="DM Sans"/>
                <a:sym typeface="DM Sans"/>
              </a:rPr>
              <a:t>Cho đồ thị G=(V,E):</a:t>
            </a:r>
          </a:p>
          <a:p>
            <a:pPr algn="l">
              <a:lnSpc>
                <a:spcPts val="3696"/>
              </a:lnSpc>
              <a:spcBef>
                <a:spcPct val="0"/>
              </a:spcBef>
            </a:pPr>
            <a:r>
              <a:rPr lang="en-US" sz="3330">
                <a:solidFill>
                  <a:srgbClr val="000000"/>
                </a:solidFill>
                <a:latin typeface="DM Sans"/>
                <a:ea typeface="DM Sans"/>
                <a:cs typeface="DM Sans"/>
                <a:sym typeface="DM Sans"/>
              </a:rPr>
              <a:t>V: tập các đỉnh.</a:t>
            </a:r>
          </a:p>
          <a:p>
            <a:pPr algn="l">
              <a:lnSpc>
                <a:spcPts val="3696"/>
              </a:lnSpc>
              <a:spcBef>
                <a:spcPct val="0"/>
              </a:spcBef>
            </a:pPr>
            <a:r>
              <a:rPr lang="en-US" sz="3330">
                <a:solidFill>
                  <a:srgbClr val="000000"/>
                </a:solidFill>
                <a:latin typeface="DM Sans"/>
                <a:ea typeface="DM Sans"/>
                <a:cs typeface="DM Sans"/>
                <a:sym typeface="DM Sans"/>
              </a:rPr>
              <a:t>E: tập các cạnh (các cặp đỉnh kề nhau).</a:t>
            </a:r>
          </a:p>
          <a:p>
            <a:pPr algn="l">
              <a:lnSpc>
                <a:spcPts val="3696"/>
              </a:lnSpc>
              <a:spcBef>
                <a:spcPct val="0"/>
              </a:spcBef>
            </a:pPr>
            <a:r>
              <a:rPr lang="en-US" sz="3330">
                <a:solidFill>
                  <a:srgbClr val="000000"/>
                </a:solidFill>
                <a:latin typeface="DM Sans"/>
                <a:ea typeface="DM Sans"/>
                <a:cs typeface="DM Sans"/>
                <a:sym typeface="DM Sans"/>
              </a:rPr>
              <a:t>Mỗi đỉnh vi ∈ V có miền giá trị Di = {c1, c2,..., ck} (tập màu).</a:t>
            </a:r>
          </a:p>
          <a:p>
            <a:pPr algn="l">
              <a:lnSpc>
                <a:spcPts val="3696"/>
              </a:lnSpc>
              <a:spcBef>
                <a:spcPct val="0"/>
              </a:spcBef>
            </a:pPr>
            <a:r>
              <a:rPr lang="en-US" sz="3330">
                <a:solidFill>
                  <a:srgbClr val="000000"/>
                </a:solidFill>
                <a:latin typeface="DM Sans"/>
                <a:ea typeface="DM Sans"/>
                <a:cs typeface="DM Sans"/>
                <a:sym typeface="DM Sans"/>
              </a:rPr>
              <a:t>Ràng buộc:</a:t>
            </a:r>
          </a:p>
        </p:txBody>
      </p:sp>
      <p:sp>
        <p:nvSpPr>
          <p:cNvPr name="TextBox 22" id="22"/>
          <p:cNvSpPr txBox="true"/>
          <p:nvPr/>
        </p:nvSpPr>
        <p:spPr>
          <a:xfrm rot="0">
            <a:off x="3672095" y="7066366"/>
            <a:ext cx="3042642" cy="486539"/>
          </a:xfrm>
          <a:prstGeom prst="rect">
            <a:avLst/>
          </a:prstGeom>
        </p:spPr>
        <p:txBody>
          <a:bodyPr anchor="t" rtlCol="false" tIns="0" lIns="0" bIns="0" rIns="0">
            <a:spAutoFit/>
          </a:bodyPr>
          <a:lstStyle/>
          <a:p>
            <a:pPr algn="ctr">
              <a:lnSpc>
                <a:spcPts val="3774"/>
              </a:lnSpc>
              <a:spcBef>
                <a:spcPct val="0"/>
              </a:spcBef>
            </a:pPr>
            <a:r>
              <a:rPr lang="en-US" sz="3400">
                <a:solidFill>
                  <a:srgbClr val="000000"/>
                </a:solidFill>
                <a:latin typeface="DM Sans"/>
                <a:ea typeface="DM Sans"/>
                <a:cs typeface="DM Sans"/>
                <a:sym typeface="DM Sans"/>
              </a:rPr>
              <a:t>∀(u,v)∈E,color</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14131544" y="7969488"/>
            <a:ext cx="5132702" cy="5185216"/>
          </a:xfrm>
          <a:prstGeom prst="line">
            <a:avLst/>
          </a:prstGeom>
          <a:ln cap="flat" w="28575">
            <a:solidFill>
              <a:srgbClr val="8CA9AD"/>
            </a:solidFill>
            <a:prstDash val="solid"/>
            <a:headEnd type="none" len="sm" w="sm"/>
            <a:tailEnd type="none" len="sm" w="sm"/>
          </a:ln>
        </p:spPr>
      </p:sp>
      <p:sp>
        <p:nvSpPr>
          <p:cNvPr name="AutoShape 3" id="3"/>
          <p:cNvSpPr/>
          <p:nvPr/>
        </p:nvSpPr>
        <p:spPr>
          <a:xfrm flipV="true">
            <a:off x="14444220" y="8329798"/>
            <a:ext cx="5038853" cy="5038853"/>
          </a:xfrm>
          <a:prstGeom prst="line">
            <a:avLst/>
          </a:prstGeom>
          <a:ln cap="flat" w="28575">
            <a:solidFill>
              <a:srgbClr val="8CA9AD"/>
            </a:solidFill>
            <a:prstDash val="solid"/>
            <a:headEnd type="none" len="sm" w="sm"/>
            <a:tailEnd type="none" len="sm" w="sm"/>
          </a:ln>
        </p:spPr>
      </p:sp>
      <p:sp>
        <p:nvSpPr>
          <p:cNvPr name="AutoShape 4" id="4"/>
          <p:cNvSpPr/>
          <p:nvPr/>
        </p:nvSpPr>
        <p:spPr>
          <a:xfrm flipV="true">
            <a:off x="14802690" y="8681112"/>
            <a:ext cx="4867141" cy="4867141"/>
          </a:xfrm>
          <a:prstGeom prst="line">
            <a:avLst/>
          </a:prstGeom>
          <a:ln cap="flat" w="28575">
            <a:solidFill>
              <a:srgbClr val="8CA9AD"/>
            </a:solidFill>
            <a:prstDash val="solid"/>
            <a:headEnd type="none" len="sm" w="sm"/>
            <a:tailEnd type="none" len="sm" w="sm"/>
          </a:ln>
        </p:spPr>
      </p:sp>
      <p:sp>
        <p:nvSpPr>
          <p:cNvPr name="AutoShape 5" id="5"/>
          <p:cNvSpPr/>
          <p:nvPr/>
        </p:nvSpPr>
        <p:spPr>
          <a:xfrm>
            <a:off x="-3359157" y="-461526"/>
            <a:ext cx="3377485" cy="3360058"/>
          </a:xfrm>
          <a:prstGeom prst="line">
            <a:avLst/>
          </a:prstGeom>
          <a:ln cap="flat" w="28575">
            <a:solidFill>
              <a:srgbClr val="8CA9AD"/>
            </a:solidFill>
            <a:prstDash val="solid"/>
            <a:headEnd type="none" len="sm" w="sm"/>
            <a:tailEnd type="none" len="sm" w="sm"/>
          </a:ln>
        </p:spPr>
      </p:sp>
      <p:sp>
        <p:nvSpPr>
          <p:cNvPr name="Freeform 6" id="6"/>
          <p:cNvSpPr/>
          <p:nvPr/>
        </p:nvSpPr>
        <p:spPr>
          <a:xfrm flipH="false" flipV="false" rot="0">
            <a:off x="4006921" y="2370584"/>
            <a:ext cx="9974410" cy="5809066"/>
          </a:xfrm>
          <a:custGeom>
            <a:avLst/>
            <a:gdLst/>
            <a:ahLst/>
            <a:cxnLst/>
            <a:rect r="r" b="b" t="t" l="l"/>
            <a:pathLst>
              <a:path h="5809066" w="9974410">
                <a:moveTo>
                  <a:pt x="0" y="0"/>
                </a:moveTo>
                <a:lnTo>
                  <a:pt x="9974409" y="0"/>
                </a:lnTo>
                <a:lnTo>
                  <a:pt x="9974409" y="5809067"/>
                </a:lnTo>
                <a:lnTo>
                  <a:pt x="0" y="5809067"/>
                </a:lnTo>
                <a:lnTo>
                  <a:pt x="0" y="0"/>
                </a:lnTo>
                <a:close/>
              </a:path>
            </a:pathLst>
          </a:custGeom>
          <a:blipFill>
            <a:blip r:embed="rId2"/>
            <a:stretch>
              <a:fillRect l="0" t="0" r="0" b="0"/>
            </a:stretch>
          </a:blipFill>
        </p:spPr>
      </p:sp>
      <p:sp>
        <p:nvSpPr>
          <p:cNvPr name="TextBox 7" id="7"/>
          <p:cNvSpPr txBox="true"/>
          <p:nvPr/>
        </p:nvSpPr>
        <p:spPr>
          <a:xfrm rot="0">
            <a:off x="522943" y="445960"/>
            <a:ext cx="17765057" cy="1272542"/>
          </a:xfrm>
          <a:prstGeom prst="rect">
            <a:avLst/>
          </a:prstGeom>
        </p:spPr>
        <p:txBody>
          <a:bodyPr anchor="t" rtlCol="false" tIns="0" lIns="0" bIns="0" rIns="0">
            <a:spAutoFit/>
          </a:bodyPr>
          <a:lstStyle/>
          <a:p>
            <a:pPr algn="l">
              <a:lnSpc>
                <a:spcPts val="3330"/>
              </a:lnSpc>
              <a:spcBef>
                <a:spcPct val="0"/>
              </a:spcBef>
            </a:pPr>
            <a:r>
              <a:rPr lang="en-US" sz="3000">
                <a:solidFill>
                  <a:srgbClr val="000000"/>
                </a:solidFill>
                <a:latin typeface="DM Sans"/>
                <a:ea typeface="DM Sans"/>
                <a:cs typeface="DM Sans"/>
                <a:sym typeface="DM Sans"/>
              </a:rPr>
              <a:t>Example:</a:t>
            </a:r>
          </a:p>
          <a:p>
            <a:pPr algn="l">
              <a:lnSpc>
                <a:spcPts val="3330"/>
              </a:lnSpc>
              <a:spcBef>
                <a:spcPct val="0"/>
              </a:spcBef>
            </a:pPr>
            <a:r>
              <a:rPr lang="en-US" sz="3000">
                <a:solidFill>
                  <a:srgbClr val="000000"/>
                </a:solidFill>
                <a:latin typeface="DM Sans"/>
                <a:ea typeface="DM Sans"/>
                <a:cs typeface="DM Sans"/>
                <a:sym typeface="DM Sans"/>
              </a:rPr>
              <a:t>Create Data - Tạo ra 10 điểm ngẫu nhiên trong mặt phẳng, sau đó nối các điểm lại bằng tam giác Delaunay để tạo thành một đồ thị (graph).</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85296" y="312037"/>
            <a:ext cx="15521107" cy="4831463"/>
          </a:xfrm>
          <a:prstGeom prst="rect">
            <a:avLst/>
          </a:prstGeom>
        </p:spPr>
        <p:txBody>
          <a:bodyPr anchor="t" rtlCol="false" tIns="0" lIns="0" bIns="0" rIns="0">
            <a:spAutoFit/>
          </a:bodyPr>
          <a:lstStyle/>
          <a:p>
            <a:pPr algn="l">
              <a:lnSpc>
                <a:spcPts val="2997"/>
              </a:lnSpc>
              <a:spcBef>
                <a:spcPct val="0"/>
              </a:spcBef>
            </a:pPr>
            <a:r>
              <a:rPr lang="en-US" sz="2700">
                <a:solidFill>
                  <a:srgbClr val="000000"/>
                </a:solidFill>
                <a:latin typeface="DM Sans"/>
                <a:ea typeface="DM Sans"/>
                <a:cs typeface="DM Sans"/>
                <a:sym typeface="DM Sans"/>
              </a:rPr>
              <a:t>Trích xuất danh sách kề (adjacency list) từ tam giác Delaunay:</a:t>
            </a:r>
          </a:p>
          <a:p>
            <a:pPr algn="l">
              <a:lnSpc>
                <a:spcPts val="2997"/>
              </a:lnSpc>
              <a:spcBef>
                <a:spcPct val="0"/>
              </a:spcBef>
            </a:pPr>
            <a:r>
              <a:rPr lang="en-US" sz="2700">
                <a:solidFill>
                  <a:srgbClr val="000000"/>
                </a:solidFill>
                <a:latin typeface="DM Sans"/>
                <a:ea typeface="DM Sans"/>
                <a:cs typeface="DM Sans"/>
                <a:sym typeface="DM Sans"/>
              </a:rPr>
              <a:t>[array([1, 2, 4, 5], dtype=int32),</a:t>
            </a:r>
          </a:p>
          <a:p>
            <a:pPr algn="l">
              <a:lnSpc>
                <a:spcPts val="2997"/>
              </a:lnSpc>
              <a:spcBef>
                <a:spcPct val="0"/>
              </a:spcBef>
            </a:pPr>
            <a:r>
              <a:rPr lang="en-US" sz="2700">
                <a:solidFill>
                  <a:srgbClr val="000000"/>
                </a:solidFill>
                <a:latin typeface="DM Sans"/>
                <a:ea typeface="DM Sans"/>
                <a:cs typeface="DM Sans"/>
                <a:sym typeface="DM Sans"/>
              </a:rPr>
              <a:t> array([0, 5, 7], dtype=int32),</a:t>
            </a:r>
          </a:p>
          <a:p>
            <a:pPr algn="l">
              <a:lnSpc>
                <a:spcPts val="2997"/>
              </a:lnSpc>
              <a:spcBef>
                <a:spcPct val="0"/>
              </a:spcBef>
            </a:pPr>
            <a:r>
              <a:rPr lang="en-US" sz="2700">
                <a:solidFill>
                  <a:srgbClr val="000000"/>
                </a:solidFill>
                <a:latin typeface="DM Sans"/>
                <a:ea typeface="DM Sans"/>
                <a:cs typeface="DM Sans"/>
                <a:sym typeface="DM Sans"/>
              </a:rPr>
              <a:t> array([0, 3, 4, 9], dtype=int32),</a:t>
            </a:r>
          </a:p>
          <a:p>
            <a:pPr algn="l">
              <a:lnSpc>
                <a:spcPts val="2997"/>
              </a:lnSpc>
              <a:spcBef>
                <a:spcPct val="0"/>
              </a:spcBef>
            </a:pPr>
            <a:r>
              <a:rPr lang="en-US" sz="2700">
                <a:solidFill>
                  <a:srgbClr val="000000"/>
                </a:solidFill>
                <a:latin typeface="DM Sans"/>
                <a:ea typeface="DM Sans"/>
                <a:cs typeface="DM Sans"/>
                <a:sym typeface="DM Sans"/>
              </a:rPr>
              <a:t> array([2, 4, 9], dtype=int32),</a:t>
            </a:r>
          </a:p>
          <a:p>
            <a:pPr algn="l">
              <a:lnSpc>
                <a:spcPts val="2997"/>
              </a:lnSpc>
              <a:spcBef>
                <a:spcPct val="0"/>
              </a:spcBef>
            </a:pPr>
            <a:r>
              <a:rPr lang="en-US" sz="2700">
                <a:solidFill>
                  <a:srgbClr val="000000"/>
                </a:solidFill>
                <a:latin typeface="DM Sans"/>
                <a:ea typeface="DM Sans"/>
                <a:cs typeface="DM Sans"/>
                <a:sym typeface="DM Sans"/>
              </a:rPr>
              <a:t> array([0, 2, 3, 5, 6, 8, 9], dtype=int32),</a:t>
            </a:r>
          </a:p>
          <a:p>
            <a:pPr algn="l">
              <a:lnSpc>
                <a:spcPts val="2997"/>
              </a:lnSpc>
              <a:spcBef>
                <a:spcPct val="0"/>
              </a:spcBef>
            </a:pPr>
            <a:r>
              <a:rPr lang="en-US" sz="2700">
                <a:solidFill>
                  <a:srgbClr val="000000"/>
                </a:solidFill>
                <a:latin typeface="DM Sans"/>
                <a:ea typeface="DM Sans"/>
                <a:cs typeface="DM Sans"/>
                <a:sym typeface="DM Sans"/>
              </a:rPr>
              <a:t> array([0, 1, 4, 6, 7], dtype=int32),</a:t>
            </a:r>
          </a:p>
          <a:p>
            <a:pPr algn="l">
              <a:lnSpc>
                <a:spcPts val="2997"/>
              </a:lnSpc>
              <a:spcBef>
                <a:spcPct val="0"/>
              </a:spcBef>
            </a:pPr>
            <a:r>
              <a:rPr lang="en-US" sz="2700">
                <a:solidFill>
                  <a:srgbClr val="000000"/>
                </a:solidFill>
                <a:latin typeface="DM Sans"/>
                <a:ea typeface="DM Sans"/>
                <a:cs typeface="DM Sans"/>
                <a:sym typeface="DM Sans"/>
              </a:rPr>
              <a:t> array([4, 5, 7, 8], dtype=int32),</a:t>
            </a:r>
          </a:p>
          <a:p>
            <a:pPr algn="l">
              <a:lnSpc>
                <a:spcPts val="2997"/>
              </a:lnSpc>
              <a:spcBef>
                <a:spcPct val="0"/>
              </a:spcBef>
            </a:pPr>
            <a:r>
              <a:rPr lang="en-US" sz="2700">
                <a:solidFill>
                  <a:srgbClr val="000000"/>
                </a:solidFill>
                <a:latin typeface="DM Sans"/>
                <a:ea typeface="DM Sans"/>
                <a:cs typeface="DM Sans"/>
                <a:sym typeface="DM Sans"/>
              </a:rPr>
              <a:t> array([1, 5, 6, 8], dtype=int32),</a:t>
            </a:r>
          </a:p>
          <a:p>
            <a:pPr algn="l">
              <a:lnSpc>
                <a:spcPts val="2997"/>
              </a:lnSpc>
              <a:spcBef>
                <a:spcPct val="0"/>
              </a:spcBef>
            </a:pPr>
            <a:r>
              <a:rPr lang="en-US" sz="2700">
                <a:solidFill>
                  <a:srgbClr val="000000"/>
                </a:solidFill>
                <a:latin typeface="DM Sans"/>
                <a:ea typeface="DM Sans"/>
                <a:cs typeface="DM Sans"/>
                <a:sym typeface="DM Sans"/>
              </a:rPr>
              <a:t> array([4, 6, 7, 9], dtype=int32),</a:t>
            </a:r>
          </a:p>
          <a:p>
            <a:pPr algn="l">
              <a:lnSpc>
                <a:spcPts val="2997"/>
              </a:lnSpc>
              <a:spcBef>
                <a:spcPct val="0"/>
              </a:spcBef>
            </a:pPr>
            <a:r>
              <a:rPr lang="en-US" sz="2700">
                <a:solidFill>
                  <a:srgbClr val="000000"/>
                </a:solidFill>
                <a:latin typeface="DM Sans"/>
                <a:ea typeface="DM Sans"/>
                <a:cs typeface="DM Sans"/>
                <a:sym typeface="DM Sans"/>
              </a:rPr>
              <a:t> array([2, 3, 4, 8], dtype=int32)]</a:t>
            </a:r>
          </a:p>
          <a:p>
            <a:pPr algn="l">
              <a:lnSpc>
                <a:spcPts val="2997"/>
              </a:lnSpc>
              <a:spcBef>
                <a:spcPct val="0"/>
              </a:spcBef>
            </a:pPr>
            <a:r>
              <a:rPr lang="en-US" sz="2700">
                <a:solidFill>
                  <a:srgbClr val="000000"/>
                </a:solidFill>
                <a:latin typeface="DM Sans"/>
                <a:ea typeface="DM Sans"/>
                <a:cs typeface="DM Sans"/>
                <a:sym typeface="DM Sans"/>
              </a:rPr>
              <a:t> </a:t>
            </a:r>
          </a:p>
          <a:p>
            <a:pPr algn="l">
              <a:lnSpc>
                <a:spcPts val="2997"/>
              </a:lnSpc>
              <a:spcBef>
                <a:spcPct val="0"/>
              </a:spcBef>
            </a:pPr>
            <a:r>
              <a:rPr lang="en-US" sz="2700">
                <a:solidFill>
                  <a:srgbClr val="000000"/>
                </a:solidFill>
                <a:latin typeface="DM Sans"/>
                <a:ea typeface="DM Sans"/>
                <a:cs typeface="DM Sans"/>
                <a:sym typeface="DM Sans"/>
              </a:rPr>
              <a:t>Hàng đầu tiên là các đỉnh kề với đỉnh đầu tiên trong đồ thị là đỉnh 0 và cứ thế tiếp tục ở mỗi hàng.</a:t>
            </a:r>
          </a:p>
        </p:txBody>
      </p:sp>
      <p:sp>
        <p:nvSpPr>
          <p:cNvPr name="TextBox 3" id="3"/>
          <p:cNvSpPr txBox="true"/>
          <p:nvPr/>
        </p:nvSpPr>
        <p:spPr>
          <a:xfrm rot="0">
            <a:off x="485296" y="5667015"/>
            <a:ext cx="15402045" cy="3717038"/>
          </a:xfrm>
          <a:prstGeom prst="rect">
            <a:avLst/>
          </a:prstGeom>
        </p:spPr>
        <p:txBody>
          <a:bodyPr anchor="t" rtlCol="false" tIns="0" lIns="0" bIns="0" rIns="0">
            <a:spAutoFit/>
          </a:bodyPr>
          <a:lstStyle/>
          <a:p>
            <a:pPr algn="l">
              <a:lnSpc>
                <a:spcPts val="2997"/>
              </a:lnSpc>
              <a:spcBef>
                <a:spcPct val="0"/>
              </a:spcBef>
            </a:pPr>
            <a:r>
              <a:rPr lang="en-US" sz="2700">
                <a:solidFill>
                  <a:srgbClr val="000000"/>
                </a:solidFill>
                <a:latin typeface="DM Sans"/>
                <a:ea typeface="DM Sans"/>
                <a:cs typeface="DM Sans"/>
                <a:sym typeface="DM Sans"/>
              </a:rPr>
              <a:t>Mô hình hóa bài toán tô màu đồ thị theo cấu trúc của CSP.</a:t>
            </a:r>
          </a:p>
          <a:p>
            <a:pPr algn="l">
              <a:lnSpc>
                <a:spcPts val="2997"/>
              </a:lnSpc>
              <a:spcBef>
                <a:spcPct val="0"/>
              </a:spcBef>
            </a:pPr>
            <a:r>
              <a:rPr lang="en-US" sz="2700">
                <a:solidFill>
                  <a:srgbClr val="000000"/>
                </a:solidFill>
                <a:latin typeface="DM Sans"/>
                <a:ea typeface="DM Sans"/>
                <a:cs typeface="DM Sans"/>
                <a:sym typeface="DM Sans"/>
              </a:rPr>
              <a:t>Chuyển từ dữ liệu đồ thị (danh sách đỉnh và láng giềng) thành một cấu trúc CSP hoàn chỉnh, gồm:</a:t>
            </a:r>
          </a:p>
          <a:p>
            <a:pPr algn="l">
              <a:lnSpc>
                <a:spcPts val="2997"/>
              </a:lnSpc>
              <a:spcBef>
                <a:spcPct val="0"/>
              </a:spcBef>
            </a:pPr>
          </a:p>
          <a:p>
            <a:pPr algn="l">
              <a:lnSpc>
                <a:spcPts val="2997"/>
              </a:lnSpc>
              <a:spcBef>
                <a:spcPct val="0"/>
              </a:spcBef>
            </a:pPr>
            <a:r>
              <a:rPr lang="en-US" sz="2700">
                <a:solidFill>
                  <a:srgbClr val="000000"/>
                </a:solidFill>
                <a:latin typeface="DM Sans"/>
                <a:ea typeface="DM Sans"/>
                <a:cs typeface="DM Sans"/>
                <a:sym typeface="DM Sans"/>
              </a:rPr>
              <a:t>Các đỉnh (nodes) trong đồ thị (variables)</a:t>
            </a:r>
          </a:p>
          <a:p>
            <a:pPr algn="l">
              <a:lnSpc>
                <a:spcPts val="2997"/>
              </a:lnSpc>
              <a:spcBef>
                <a:spcPct val="0"/>
              </a:spcBef>
            </a:pPr>
            <a:r>
              <a:rPr lang="en-US" sz="2700">
                <a:solidFill>
                  <a:srgbClr val="000000"/>
                </a:solidFill>
                <a:latin typeface="DM Sans"/>
                <a:ea typeface="DM Sans"/>
                <a:cs typeface="DM Sans"/>
                <a:sym typeface="DM Sans"/>
              </a:rPr>
              <a:t>Tập các màu có thể gán cho mỗi đỉnh(domains)</a:t>
            </a:r>
          </a:p>
          <a:p>
            <a:pPr algn="l">
              <a:lnSpc>
                <a:spcPts val="2997"/>
              </a:lnSpc>
              <a:spcBef>
                <a:spcPct val="0"/>
              </a:spcBef>
            </a:pPr>
            <a:r>
              <a:rPr lang="en-US" sz="2700">
                <a:solidFill>
                  <a:srgbClr val="000000"/>
                </a:solidFill>
                <a:latin typeface="DM Sans"/>
                <a:ea typeface="DM Sans"/>
                <a:cs typeface="DM Sans"/>
                <a:sym typeface="DM Sans"/>
              </a:rPr>
              <a:t> Tập ràng buộc giữa các đỉnh kề nhau (constraints)</a:t>
            </a:r>
          </a:p>
          <a:p>
            <a:pPr algn="l">
              <a:lnSpc>
                <a:spcPts val="2997"/>
              </a:lnSpc>
              <a:spcBef>
                <a:spcPct val="0"/>
              </a:spcBef>
            </a:pPr>
            <a:r>
              <a:rPr lang="en-US" sz="2700">
                <a:solidFill>
                  <a:srgbClr val="000000"/>
                </a:solidFill>
                <a:latin typeface="DM Sans"/>
                <a:ea typeface="DM Sans"/>
                <a:cs typeface="DM Sans"/>
                <a:sym typeface="DM Sans"/>
              </a:rPr>
              <a:t> </a:t>
            </a:r>
          </a:p>
          <a:p>
            <a:pPr algn="l">
              <a:lnSpc>
                <a:spcPts val="2997"/>
              </a:lnSpc>
              <a:spcBef>
                <a:spcPct val="0"/>
              </a:spcBef>
            </a:pPr>
            <a:r>
              <a:rPr lang="en-US" sz="2700">
                <a:solidFill>
                  <a:srgbClr val="000000"/>
                </a:solidFill>
                <a:latin typeface="DM Sans"/>
                <a:ea typeface="DM Sans"/>
                <a:cs typeface="DM Sans"/>
                <a:sym typeface="DM Sans"/>
              </a:rPr>
              <a:t>Kết quả khi chạy:</a:t>
            </a:r>
          </a:p>
          <a:p>
            <a:pPr algn="l">
              <a:lnSpc>
                <a:spcPts val="2997"/>
              </a:lnSpc>
              <a:spcBef>
                <a:spcPct val="0"/>
              </a:spcBef>
            </a:pPr>
            <a:r>
              <a:rPr lang="en-US" sz="2700">
                <a:solidFill>
                  <a:srgbClr val="000000"/>
                </a:solidFill>
                <a:latin typeface="DM Sans"/>
                <a:ea typeface="DM Sans"/>
                <a:cs typeface="DM Sans"/>
                <a:sym typeface="DM Sans"/>
              </a:rPr>
              <a:t>'variables': ['0', '1', '2', '3', '4', '5', '6', '7', '8', '9']</a:t>
            </a:r>
          </a:p>
          <a:p>
            <a:pPr algn="l">
              <a:lnSpc>
                <a:spcPts val="2997"/>
              </a:lnSpc>
              <a:spcBef>
                <a:spcPct val="0"/>
              </a:spcBef>
            </a:pPr>
            <a:r>
              <a:rPr lang="en-US" sz="2700">
                <a:solidFill>
                  <a:srgbClr val="000000"/>
                </a:solidFill>
                <a:latin typeface="DM Sans"/>
                <a:ea typeface="DM Sans"/>
                <a:cs typeface="DM Sans"/>
                <a:sym typeface="DM Sans"/>
              </a:rPr>
              <a:t>10 đỉnh (nodes) của đồ thị, được đánh số từ 0 đến 9.</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48375" y="340612"/>
            <a:ext cx="16986290" cy="8917688"/>
          </a:xfrm>
          <a:prstGeom prst="rect">
            <a:avLst/>
          </a:prstGeom>
        </p:spPr>
        <p:txBody>
          <a:bodyPr anchor="t" rtlCol="false" tIns="0" lIns="0" bIns="0" rIns="0">
            <a:spAutoFit/>
          </a:bodyPr>
          <a:lstStyle/>
          <a:p>
            <a:pPr algn="l">
              <a:lnSpc>
                <a:spcPts val="2997"/>
              </a:lnSpc>
              <a:spcBef>
                <a:spcPct val="0"/>
              </a:spcBef>
            </a:pPr>
            <a:r>
              <a:rPr lang="en-US" sz="2700">
                <a:solidFill>
                  <a:srgbClr val="000000"/>
                </a:solidFill>
                <a:latin typeface="DM Sans"/>
                <a:ea typeface="DM Sans"/>
                <a:cs typeface="DM Sans"/>
                <a:sym typeface="DM Sans"/>
              </a:rPr>
              <a:t>'domains': {'0': ['red', 'blue', 'green', 'orange'],</a:t>
            </a:r>
          </a:p>
          <a:p>
            <a:pPr algn="l">
              <a:lnSpc>
                <a:spcPts val="2997"/>
              </a:lnSpc>
              <a:spcBef>
                <a:spcPct val="0"/>
              </a:spcBef>
            </a:pPr>
            <a:r>
              <a:rPr lang="en-US" sz="2700">
                <a:solidFill>
                  <a:srgbClr val="000000"/>
                </a:solidFill>
                <a:latin typeface="DM Sans"/>
                <a:ea typeface="DM Sans"/>
                <a:cs typeface="DM Sans"/>
                <a:sym typeface="DM Sans"/>
              </a:rPr>
              <a:t> '1': ['red', 'blue', 'green', 'orange'],</a:t>
            </a:r>
          </a:p>
          <a:p>
            <a:pPr algn="l">
              <a:lnSpc>
                <a:spcPts val="2997"/>
              </a:lnSpc>
              <a:spcBef>
                <a:spcPct val="0"/>
              </a:spcBef>
            </a:pPr>
            <a:r>
              <a:rPr lang="en-US" sz="2700">
                <a:solidFill>
                  <a:srgbClr val="000000"/>
                </a:solidFill>
                <a:latin typeface="DM Sans"/>
                <a:ea typeface="DM Sans"/>
                <a:cs typeface="DM Sans"/>
                <a:sym typeface="DM Sans"/>
              </a:rPr>
              <a:t> '2': ['red', 'blue', 'green', 'orange'],</a:t>
            </a:r>
          </a:p>
          <a:p>
            <a:pPr algn="l">
              <a:lnSpc>
                <a:spcPts val="2997"/>
              </a:lnSpc>
              <a:spcBef>
                <a:spcPct val="0"/>
              </a:spcBef>
            </a:pPr>
            <a:r>
              <a:rPr lang="en-US" sz="2700">
                <a:solidFill>
                  <a:srgbClr val="000000"/>
                </a:solidFill>
                <a:latin typeface="DM Sans"/>
                <a:ea typeface="DM Sans"/>
                <a:cs typeface="DM Sans"/>
                <a:sym typeface="DM Sans"/>
              </a:rPr>
              <a:t> '3': ['red', 'blue', 'green', 'orange'],</a:t>
            </a:r>
          </a:p>
          <a:p>
            <a:pPr algn="l">
              <a:lnSpc>
                <a:spcPts val="2997"/>
              </a:lnSpc>
              <a:spcBef>
                <a:spcPct val="0"/>
              </a:spcBef>
            </a:pPr>
            <a:r>
              <a:rPr lang="en-US" sz="2700">
                <a:solidFill>
                  <a:srgbClr val="000000"/>
                </a:solidFill>
                <a:latin typeface="DM Sans"/>
                <a:ea typeface="DM Sans"/>
                <a:cs typeface="DM Sans"/>
                <a:sym typeface="DM Sans"/>
              </a:rPr>
              <a:t> '4': ['red', 'blue', 'green', 'orange'],</a:t>
            </a:r>
          </a:p>
          <a:p>
            <a:pPr algn="l">
              <a:lnSpc>
                <a:spcPts val="2997"/>
              </a:lnSpc>
              <a:spcBef>
                <a:spcPct val="0"/>
              </a:spcBef>
            </a:pPr>
            <a:r>
              <a:rPr lang="en-US" sz="2700">
                <a:solidFill>
                  <a:srgbClr val="000000"/>
                </a:solidFill>
                <a:latin typeface="DM Sans"/>
                <a:ea typeface="DM Sans"/>
                <a:cs typeface="DM Sans"/>
                <a:sym typeface="DM Sans"/>
              </a:rPr>
              <a:t> '5': ['red', 'blue', 'green', 'orange'],</a:t>
            </a:r>
          </a:p>
          <a:p>
            <a:pPr algn="l">
              <a:lnSpc>
                <a:spcPts val="2997"/>
              </a:lnSpc>
              <a:spcBef>
                <a:spcPct val="0"/>
              </a:spcBef>
            </a:pPr>
            <a:r>
              <a:rPr lang="en-US" sz="2700">
                <a:solidFill>
                  <a:srgbClr val="000000"/>
                </a:solidFill>
                <a:latin typeface="DM Sans"/>
                <a:ea typeface="DM Sans"/>
                <a:cs typeface="DM Sans"/>
                <a:sym typeface="DM Sans"/>
              </a:rPr>
              <a:t> '6': ['red', 'blue', 'green', 'orange'],</a:t>
            </a:r>
          </a:p>
          <a:p>
            <a:pPr algn="l">
              <a:lnSpc>
                <a:spcPts val="2997"/>
              </a:lnSpc>
              <a:spcBef>
                <a:spcPct val="0"/>
              </a:spcBef>
            </a:pPr>
            <a:r>
              <a:rPr lang="en-US" sz="2700">
                <a:solidFill>
                  <a:srgbClr val="000000"/>
                </a:solidFill>
                <a:latin typeface="DM Sans"/>
                <a:ea typeface="DM Sans"/>
                <a:cs typeface="DM Sans"/>
                <a:sym typeface="DM Sans"/>
              </a:rPr>
              <a:t> '7': ['red', 'blue', 'green', 'orange'],</a:t>
            </a:r>
          </a:p>
          <a:p>
            <a:pPr algn="l">
              <a:lnSpc>
                <a:spcPts val="2997"/>
              </a:lnSpc>
              <a:spcBef>
                <a:spcPct val="0"/>
              </a:spcBef>
            </a:pPr>
            <a:r>
              <a:rPr lang="en-US" sz="2700">
                <a:solidFill>
                  <a:srgbClr val="000000"/>
                </a:solidFill>
                <a:latin typeface="DM Sans"/>
                <a:ea typeface="DM Sans"/>
                <a:cs typeface="DM Sans"/>
                <a:sym typeface="DM Sans"/>
              </a:rPr>
              <a:t> '8': ['red', 'blue', 'green', 'orange'],</a:t>
            </a:r>
          </a:p>
          <a:p>
            <a:pPr algn="l">
              <a:lnSpc>
                <a:spcPts val="2997"/>
              </a:lnSpc>
              <a:spcBef>
                <a:spcPct val="0"/>
              </a:spcBef>
            </a:pPr>
            <a:r>
              <a:rPr lang="en-US" sz="2700">
                <a:solidFill>
                  <a:srgbClr val="000000"/>
                </a:solidFill>
                <a:latin typeface="DM Sans"/>
                <a:ea typeface="DM Sans"/>
                <a:cs typeface="DM Sans"/>
                <a:sym typeface="DM Sans"/>
              </a:rPr>
              <a:t> '9': ['red', 'blue', 'green', 'orange']},</a:t>
            </a:r>
          </a:p>
          <a:p>
            <a:pPr algn="l">
              <a:lnSpc>
                <a:spcPts val="2997"/>
              </a:lnSpc>
              <a:spcBef>
                <a:spcPct val="0"/>
              </a:spcBef>
            </a:pPr>
            <a:r>
              <a:rPr lang="en-US" sz="2700">
                <a:solidFill>
                  <a:srgbClr val="000000"/>
                </a:solidFill>
                <a:latin typeface="DM Sans"/>
                <a:ea typeface="DM Sans"/>
                <a:cs typeface="DM Sans"/>
                <a:sym typeface="DM Sans"/>
              </a:rPr>
              <a:t>Mỗi đỉnh có thể được tô một trong 4 màu: 'red', 'blue', 'green', 'orange'.</a:t>
            </a:r>
          </a:p>
          <a:p>
            <a:pPr algn="l">
              <a:lnSpc>
                <a:spcPts val="2997"/>
              </a:lnSpc>
              <a:spcBef>
                <a:spcPct val="0"/>
              </a:spcBef>
            </a:pPr>
            <a:r>
              <a:rPr lang="en-US" sz="2700">
                <a:solidFill>
                  <a:srgbClr val="000000"/>
                </a:solidFill>
                <a:latin typeface="DM Sans"/>
                <a:ea typeface="DM Sans"/>
                <a:cs typeface="DM Sans"/>
                <a:sym typeface="DM Sans"/>
              </a:rPr>
              <a:t> </a:t>
            </a:r>
          </a:p>
          <a:p>
            <a:pPr algn="l">
              <a:lnSpc>
                <a:spcPts val="2997"/>
              </a:lnSpc>
              <a:spcBef>
                <a:spcPct val="0"/>
              </a:spcBef>
            </a:pPr>
            <a:r>
              <a:rPr lang="en-US" sz="2700">
                <a:solidFill>
                  <a:srgbClr val="000000"/>
                </a:solidFill>
                <a:latin typeface="DM Sans"/>
                <a:ea typeface="DM Sans"/>
                <a:cs typeface="DM Sans"/>
                <a:sym typeface="DM Sans"/>
              </a:rPr>
              <a:t>'constraints': dict_keys([</a:t>
            </a:r>
          </a:p>
          <a:p>
            <a:pPr algn="l">
              <a:lnSpc>
                <a:spcPts val="2997"/>
              </a:lnSpc>
              <a:spcBef>
                <a:spcPct val="0"/>
              </a:spcBef>
            </a:pPr>
            <a:r>
              <a:rPr lang="en-US" sz="2700">
                <a:solidFill>
                  <a:srgbClr val="000000"/>
                </a:solidFill>
                <a:latin typeface="DM Sans"/>
                <a:ea typeface="DM Sans"/>
                <a:cs typeface="DM Sans"/>
                <a:sym typeface="DM Sans"/>
              </a:rPr>
              <a:t> ('0', '1'), ('0', '2'), ('0', '4'), ('0', '5'),</a:t>
            </a:r>
          </a:p>
          <a:p>
            <a:pPr algn="l">
              <a:lnSpc>
                <a:spcPts val="2997"/>
              </a:lnSpc>
              <a:spcBef>
                <a:spcPct val="0"/>
              </a:spcBef>
            </a:pPr>
            <a:r>
              <a:rPr lang="en-US" sz="2700">
                <a:solidFill>
                  <a:srgbClr val="000000"/>
                </a:solidFill>
                <a:latin typeface="DM Sans"/>
                <a:ea typeface="DM Sans"/>
                <a:cs typeface="DM Sans"/>
                <a:sym typeface="DM Sans"/>
              </a:rPr>
              <a:t> ('1', '5'), ('1', '7'),</a:t>
            </a:r>
          </a:p>
          <a:p>
            <a:pPr algn="l">
              <a:lnSpc>
                <a:spcPts val="2997"/>
              </a:lnSpc>
              <a:spcBef>
                <a:spcPct val="0"/>
              </a:spcBef>
            </a:pPr>
            <a:r>
              <a:rPr lang="en-US" sz="2700">
                <a:solidFill>
                  <a:srgbClr val="000000"/>
                </a:solidFill>
                <a:latin typeface="DM Sans"/>
                <a:ea typeface="DM Sans"/>
                <a:cs typeface="DM Sans"/>
                <a:sym typeface="DM Sans"/>
              </a:rPr>
              <a:t> ('2', '3'), ('2', '4'), ('2', '9'),</a:t>
            </a:r>
          </a:p>
          <a:p>
            <a:pPr algn="l">
              <a:lnSpc>
                <a:spcPts val="2997"/>
              </a:lnSpc>
              <a:spcBef>
                <a:spcPct val="0"/>
              </a:spcBef>
            </a:pPr>
            <a:r>
              <a:rPr lang="en-US" sz="2700">
                <a:solidFill>
                  <a:srgbClr val="000000"/>
                </a:solidFill>
                <a:latin typeface="DM Sans"/>
                <a:ea typeface="DM Sans"/>
                <a:cs typeface="DM Sans"/>
                <a:sym typeface="DM Sans"/>
              </a:rPr>
              <a:t> ('3', '4'), ('3', '9'),</a:t>
            </a:r>
          </a:p>
          <a:p>
            <a:pPr algn="l">
              <a:lnSpc>
                <a:spcPts val="2997"/>
              </a:lnSpc>
              <a:spcBef>
                <a:spcPct val="0"/>
              </a:spcBef>
            </a:pPr>
            <a:r>
              <a:rPr lang="en-US" sz="2700">
                <a:solidFill>
                  <a:srgbClr val="000000"/>
                </a:solidFill>
                <a:latin typeface="DM Sans"/>
                <a:ea typeface="DM Sans"/>
                <a:cs typeface="DM Sans"/>
                <a:sym typeface="DM Sans"/>
              </a:rPr>
              <a:t> ('4', '5'), ('4', '6'), ('4', '8'), ('4', '9'),</a:t>
            </a:r>
          </a:p>
          <a:p>
            <a:pPr algn="l">
              <a:lnSpc>
                <a:spcPts val="2997"/>
              </a:lnSpc>
              <a:spcBef>
                <a:spcPct val="0"/>
              </a:spcBef>
            </a:pPr>
            <a:r>
              <a:rPr lang="en-US" sz="2700">
                <a:solidFill>
                  <a:srgbClr val="000000"/>
                </a:solidFill>
                <a:latin typeface="DM Sans"/>
                <a:ea typeface="DM Sans"/>
                <a:cs typeface="DM Sans"/>
                <a:sym typeface="DM Sans"/>
              </a:rPr>
              <a:t> ('5', '6'), ('5', '7'),</a:t>
            </a:r>
          </a:p>
          <a:p>
            <a:pPr algn="l">
              <a:lnSpc>
                <a:spcPts val="2997"/>
              </a:lnSpc>
              <a:spcBef>
                <a:spcPct val="0"/>
              </a:spcBef>
            </a:pPr>
            <a:r>
              <a:rPr lang="en-US" sz="2700">
                <a:solidFill>
                  <a:srgbClr val="000000"/>
                </a:solidFill>
                <a:latin typeface="DM Sans"/>
                <a:ea typeface="DM Sans"/>
                <a:cs typeface="DM Sans"/>
                <a:sym typeface="DM Sans"/>
              </a:rPr>
              <a:t> ('6', '7'), ('6', '8'),</a:t>
            </a:r>
          </a:p>
          <a:p>
            <a:pPr algn="l">
              <a:lnSpc>
                <a:spcPts val="2997"/>
              </a:lnSpc>
              <a:spcBef>
                <a:spcPct val="0"/>
              </a:spcBef>
            </a:pPr>
            <a:r>
              <a:rPr lang="en-US" sz="2700">
                <a:solidFill>
                  <a:srgbClr val="000000"/>
                </a:solidFill>
                <a:latin typeface="DM Sans"/>
                <a:ea typeface="DM Sans"/>
                <a:cs typeface="DM Sans"/>
                <a:sym typeface="DM Sans"/>
              </a:rPr>
              <a:t> ('7', '8'),</a:t>
            </a:r>
          </a:p>
          <a:p>
            <a:pPr algn="l">
              <a:lnSpc>
                <a:spcPts val="2997"/>
              </a:lnSpc>
              <a:spcBef>
                <a:spcPct val="0"/>
              </a:spcBef>
            </a:pPr>
            <a:r>
              <a:rPr lang="en-US" sz="2700">
                <a:solidFill>
                  <a:srgbClr val="000000"/>
                </a:solidFill>
                <a:latin typeface="DM Sans"/>
                <a:ea typeface="DM Sans"/>
                <a:cs typeface="DM Sans"/>
                <a:sym typeface="DM Sans"/>
              </a:rPr>
              <a:t> ('8', '9')</a:t>
            </a:r>
          </a:p>
          <a:p>
            <a:pPr algn="l">
              <a:lnSpc>
                <a:spcPts val="2997"/>
              </a:lnSpc>
              <a:spcBef>
                <a:spcPct val="0"/>
              </a:spcBef>
            </a:pPr>
            <a:r>
              <a:rPr lang="en-US" sz="2700">
                <a:solidFill>
                  <a:srgbClr val="000000"/>
                </a:solidFill>
                <a:latin typeface="DM Sans"/>
                <a:ea typeface="DM Sans"/>
                <a:cs typeface="DM Sans"/>
                <a:sym typeface="DM Sans"/>
              </a:rPr>
              <a:t>])</a:t>
            </a:r>
          </a:p>
          <a:p>
            <a:pPr algn="l">
              <a:lnSpc>
                <a:spcPts val="2997"/>
              </a:lnSpc>
              <a:spcBef>
                <a:spcPct val="0"/>
              </a:spcBef>
            </a:pPr>
            <a:r>
              <a:rPr lang="en-US" sz="2700">
                <a:solidFill>
                  <a:srgbClr val="000000"/>
                </a:solidFill>
                <a:latin typeface="DM Sans"/>
                <a:ea typeface="DM Sans"/>
                <a:cs typeface="DM Sans"/>
                <a:sym typeface="DM Sans"/>
              </a:rPr>
              <a:t>Tập các ràng buộc giữa các đỉnh kề nhau , ví dụ ('0', '1') -&gt; đỉnh 0 kề với đỉnh 1 nên không được tô cùng màu.</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14350" y="1047750"/>
            <a:ext cx="17259300" cy="7214999"/>
          </a:xfrm>
          <a:prstGeom prst="rect">
            <a:avLst/>
          </a:prstGeom>
        </p:spPr>
        <p:txBody>
          <a:bodyPr anchor="t" rtlCol="false" tIns="0" lIns="0" bIns="0" rIns="0">
            <a:spAutoFit/>
          </a:bodyPr>
          <a:lstStyle/>
          <a:p>
            <a:pPr algn="l">
              <a:lnSpc>
                <a:spcPts val="3219"/>
              </a:lnSpc>
              <a:spcBef>
                <a:spcPct val="0"/>
              </a:spcBef>
            </a:pPr>
            <a:r>
              <a:rPr lang="en-US" sz="2900">
                <a:solidFill>
                  <a:srgbClr val="000000"/>
                </a:solidFill>
                <a:latin typeface="DM Sans"/>
                <a:ea typeface="DM Sans"/>
                <a:cs typeface="DM Sans"/>
                <a:sym typeface="DM Sans"/>
              </a:rPr>
              <a:t>Kiểm tra tính đầy đủ (completeness) và tính nhất quán (consistency) của một lời gán (assignment).</a:t>
            </a:r>
          </a:p>
          <a:p>
            <a:pPr algn="l">
              <a:lnSpc>
                <a:spcPts val="3219"/>
              </a:lnSpc>
              <a:spcBef>
                <a:spcPct val="0"/>
              </a:spcBef>
            </a:pPr>
            <a:r>
              <a:rPr lang="en-US" sz="2900">
                <a:solidFill>
                  <a:srgbClr val="000000"/>
                </a:solidFill>
                <a:latin typeface="DM Sans"/>
                <a:ea typeface="DM Sans"/>
                <a:cs typeface="DM Sans"/>
                <a:sym typeface="DM Sans"/>
              </a:rPr>
              <a:t>Completeness</a:t>
            </a:r>
          </a:p>
          <a:p>
            <a:pPr algn="l">
              <a:lnSpc>
                <a:spcPts val="3219"/>
              </a:lnSpc>
              <a:spcBef>
                <a:spcPct val="0"/>
              </a:spcBef>
            </a:pPr>
            <a:r>
              <a:rPr lang="en-US" sz="2900">
                <a:solidFill>
                  <a:srgbClr val="000000"/>
                </a:solidFill>
                <a:latin typeface="DM Sans"/>
                <a:ea typeface="DM Sans"/>
                <a:cs typeface="DM Sans"/>
                <a:sym typeface="DM Sans"/>
              </a:rPr>
              <a:t>Mục tiêu: Kiểm tra xem mọi biến (tức là mọi đỉnh trong đồ thị) đã được gán giá trị (màu) hay chưa.</a:t>
            </a:r>
          </a:p>
          <a:p>
            <a:pPr algn="l">
              <a:lnSpc>
                <a:spcPts val="3219"/>
              </a:lnSpc>
              <a:spcBef>
                <a:spcPct val="0"/>
              </a:spcBef>
            </a:pPr>
            <a:r>
              <a:rPr lang="en-US" sz="2900">
                <a:solidFill>
                  <a:srgbClr val="000000"/>
                </a:solidFill>
                <a:latin typeface="DM Sans"/>
                <a:ea typeface="DM Sans"/>
                <a:cs typeface="DM Sans"/>
                <a:sym typeface="DM Sans"/>
              </a:rPr>
              <a:t>Kết quả: </a:t>
            </a:r>
          </a:p>
          <a:p>
            <a:pPr algn="l">
              <a:lnSpc>
                <a:spcPts val="3219"/>
              </a:lnSpc>
              <a:spcBef>
                <a:spcPct val="0"/>
              </a:spcBef>
            </a:pPr>
            <a:r>
              <a:rPr lang="en-US" sz="2900">
                <a:solidFill>
                  <a:srgbClr val="000000"/>
                </a:solidFill>
                <a:latin typeface="DM Sans"/>
                <a:ea typeface="DM Sans"/>
                <a:cs typeface="DM Sans"/>
                <a:sym typeface="DM Sans"/>
              </a:rPr>
              <a:t>complete({}, csp) = False </a:t>
            </a:r>
          </a:p>
          <a:p>
            <a:pPr algn="l">
              <a:lnSpc>
                <a:spcPts val="3219"/>
              </a:lnSpc>
              <a:spcBef>
                <a:spcPct val="0"/>
              </a:spcBef>
            </a:pPr>
            <a:r>
              <a:rPr lang="en-US" sz="2900">
                <a:solidFill>
                  <a:srgbClr val="000000"/>
                </a:solidFill>
                <a:latin typeface="DM Sans"/>
                <a:ea typeface="DM Sans"/>
                <a:cs typeface="DM Sans"/>
                <a:sym typeface="DM Sans"/>
              </a:rPr>
              <a:t>Trường hợp 1: chưa tô màu hết đỉnh</a:t>
            </a:r>
          </a:p>
          <a:p>
            <a:pPr algn="l">
              <a:lnSpc>
                <a:spcPts val="3219"/>
              </a:lnSpc>
              <a:spcBef>
                <a:spcPct val="0"/>
              </a:spcBef>
            </a:pPr>
            <a:r>
              <a:rPr lang="en-US" sz="2900">
                <a:solidFill>
                  <a:srgbClr val="000000"/>
                </a:solidFill>
                <a:latin typeface="DM Sans"/>
                <a:ea typeface="DM Sans"/>
                <a:cs typeface="DM Sans"/>
                <a:sym typeface="DM Sans"/>
              </a:rPr>
              <a:t>complete({...complete list...}, csp) = True.</a:t>
            </a:r>
          </a:p>
          <a:p>
            <a:pPr algn="l">
              <a:lnSpc>
                <a:spcPts val="3219"/>
              </a:lnSpc>
              <a:spcBef>
                <a:spcPct val="0"/>
              </a:spcBef>
            </a:pPr>
            <a:r>
              <a:rPr lang="en-US" sz="2900">
                <a:solidFill>
                  <a:srgbClr val="000000"/>
                </a:solidFill>
                <a:latin typeface="DM Sans"/>
                <a:ea typeface="DM Sans"/>
                <a:cs typeface="DM Sans"/>
                <a:sym typeface="DM Sans"/>
              </a:rPr>
              <a:t>Trường hợp 2: đã tô màu hết đỉnh</a:t>
            </a:r>
          </a:p>
          <a:p>
            <a:pPr algn="l">
              <a:lnSpc>
                <a:spcPts val="3219"/>
              </a:lnSpc>
              <a:spcBef>
                <a:spcPct val="0"/>
              </a:spcBef>
            </a:pPr>
            <a:r>
              <a:rPr lang="en-US" sz="2900">
                <a:solidFill>
                  <a:srgbClr val="000000"/>
                </a:solidFill>
                <a:latin typeface="DM Sans"/>
                <a:ea typeface="DM Sans"/>
                <a:cs typeface="DM Sans"/>
                <a:sym typeface="DM Sans"/>
              </a:rPr>
              <a:t> </a:t>
            </a:r>
          </a:p>
          <a:p>
            <a:pPr algn="l">
              <a:lnSpc>
                <a:spcPts val="3219"/>
              </a:lnSpc>
              <a:spcBef>
                <a:spcPct val="0"/>
              </a:spcBef>
            </a:pPr>
            <a:r>
              <a:rPr lang="en-US" sz="2900">
                <a:solidFill>
                  <a:srgbClr val="000000"/>
                </a:solidFill>
                <a:latin typeface="DM Sans"/>
                <a:ea typeface="DM Sans"/>
                <a:cs typeface="DM Sans"/>
                <a:sym typeface="DM Sans"/>
              </a:rPr>
              <a:t>Consistent</a:t>
            </a:r>
          </a:p>
          <a:p>
            <a:pPr algn="l">
              <a:lnSpc>
                <a:spcPts val="3219"/>
              </a:lnSpc>
              <a:spcBef>
                <a:spcPct val="0"/>
              </a:spcBef>
            </a:pPr>
            <a:r>
              <a:rPr lang="en-US" sz="2900">
                <a:solidFill>
                  <a:srgbClr val="000000"/>
                </a:solidFill>
                <a:latin typeface="DM Sans"/>
                <a:ea typeface="DM Sans"/>
                <a:cs typeface="DM Sans"/>
                <a:sym typeface="DM Sans"/>
              </a:rPr>
              <a:t>Mục tiêu: Kiểm tra xem lời gán hiện tại có vi phạm ràng buộc “hai đỉnh kề nhau không được cùng màu” hay không.</a:t>
            </a:r>
          </a:p>
          <a:p>
            <a:pPr algn="l">
              <a:lnSpc>
                <a:spcPts val="3219"/>
              </a:lnSpc>
              <a:spcBef>
                <a:spcPct val="0"/>
              </a:spcBef>
            </a:pPr>
            <a:r>
              <a:rPr lang="en-US" sz="2900">
                <a:solidFill>
                  <a:srgbClr val="000000"/>
                </a:solidFill>
                <a:latin typeface="DM Sans"/>
                <a:ea typeface="DM Sans"/>
                <a:cs typeface="DM Sans"/>
                <a:sym typeface="DM Sans"/>
              </a:rPr>
              <a:t>Kết quả:</a:t>
            </a:r>
          </a:p>
          <a:p>
            <a:pPr algn="l">
              <a:lnSpc>
                <a:spcPts val="3219"/>
              </a:lnSpc>
              <a:spcBef>
                <a:spcPct val="0"/>
              </a:spcBef>
            </a:pPr>
            <a:r>
              <a:rPr lang="en-US" sz="2900">
                <a:solidFill>
                  <a:srgbClr val="000000"/>
                </a:solidFill>
                <a:latin typeface="DM Sans"/>
                <a:ea typeface="DM Sans"/>
                <a:cs typeface="DM Sans"/>
                <a:sym typeface="DM Sans"/>
              </a:rPr>
              <a:t>consistent({}, csp) = True </a:t>
            </a:r>
          </a:p>
          <a:p>
            <a:pPr algn="l">
              <a:lnSpc>
                <a:spcPts val="3219"/>
              </a:lnSpc>
              <a:spcBef>
                <a:spcPct val="0"/>
              </a:spcBef>
            </a:pPr>
            <a:r>
              <a:rPr lang="en-US" sz="2900">
                <a:solidFill>
                  <a:srgbClr val="000000"/>
                </a:solidFill>
                <a:latin typeface="DM Sans"/>
                <a:ea typeface="DM Sans"/>
                <a:cs typeface="DM Sans"/>
                <a:sym typeface="DM Sans"/>
              </a:rPr>
              <a:t>Trường hợp 1: Không có đỉnh nào được tô màu → không thể có hai đỉnh kề nhau cùng màu nên True</a:t>
            </a:r>
          </a:p>
          <a:p>
            <a:pPr algn="l">
              <a:lnSpc>
                <a:spcPts val="3219"/>
              </a:lnSpc>
              <a:spcBef>
                <a:spcPct val="0"/>
              </a:spcBef>
            </a:pPr>
            <a:r>
              <a:rPr lang="en-US" sz="2900">
                <a:solidFill>
                  <a:srgbClr val="000000"/>
                </a:solidFill>
                <a:latin typeface="DM Sans"/>
                <a:ea typeface="DM Sans"/>
                <a:cs typeface="DM Sans"/>
                <a:sym typeface="DM Sans"/>
              </a:rPr>
              <a:t>consistent({'0': 'red', '1': 'red', '2': 'blue'}, csp) = False</a:t>
            </a:r>
          </a:p>
          <a:p>
            <a:pPr algn="l">
              <a:lnSpc>
                <a:spcPts val="3219"/>
              </a:lnSpc>
              <a:spcBef>
                <a:spcPct val="0"/>
              </a:spcBef>
            </a:pPr>
            <a:r>
              <a:rPr lang="en-US" sz="2900">
                <a:solidFill>
                  <a:srgbClr val="000000"/>
                </a:solidFill>
                <a:latin typeface="DM Sans"/>
                <a:ea typeface="DM Sans"/>
                <a:cs typeface="DM Sans"/>
                <a:sym typeface="DM Sans"/>
              </a:rPr>
              <a:t>Trường hợp 2: Trong csp['constraints'] có cặp ('0', '1'), nghĩa là 0 và 1 kề nhau nên cả hai đều có màu 'red' -&gt; Vi phạm ràng buộc vì hai đỉnh liền kề không được cùng màu.</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67857" y="1047750"/>
            <a:ext cx="17820143" cy="8213981"/>
          </a:xfrm>
          <a:prstGeom prst="rect">
            <a:avLst/>
          </a:prstGeom>
        </p:spPr>
        <p:txBody>
          <a:bodyPr anchor="t" rtlCol="false" tIns="0" lIns="0" bIns="0" rIns="0">
            <a:spAutoFit/>
          </a:bodyPr>
          <a:lstStyle/>
          <a:p>
            <a:pPr algn="l">
              <a:lnSpc>
                <a:spcPts val="3108"/>
              </a:lnSpc>
              <a:spcBef>
                <a:spcPct val="0"/>
              </a:spcBef>
            </a:pPr>
            <a:r>
              <a:rPr lang="en-US" sz="2800">
                <a:solidFill>
                  <a:srgbClr val="000000"/>
                </a:solidFill>
                <a:latin typeface="DM Sans"/>
                <a:ea typeface="DM Sans"/>
                <a:cs typeface="DM Sans"/>
                <a:sym typeface="DM Sans"/>
              </a:rPr>
              <a:t>Giải CSP (Graph Coloring) với Simple Backtracking Search.</a:t>
            </a:r>
          </a:p>
          <a:p>
            <a:pPr algn="l">
              <a:lnSpc>
                <a:spcPts val="3108"/>
              </a:lnSpc>
              <a:spcBef>
                <a:spcPct val="0"/>
              </a:spcBef>
            </a:pPr>
            <a:r>
              <a:rPr lang="en-US" sz="2800">
                <a:solidFill>
                  <a:srgbClr val="000000"/>
                </a:solidFill>
                <a:latin typeface="DM Sans"/>
                <a:ea typeface="DM Sans"/>
                <a:cs typeface="DM Sans"/>
                <a:sym typeface="DM Sans"/>
              </a:rPr>
              <a:t>Mục tiêu: </a:t>
            </a:r>
          </a:p>
          <a:p>
            <a:pPr algn="l">
              <a:lnSpc>
                <a:spcPts val="3108"/>
              </a:lnSpc>
              <a:spcBef>
                <a:spcPct val="0"/>
              </a:spcBef>
            </a:pPr>
            <a:r>
              <a:rPr lang="en-US" sz="2800">
                <a:solidFill>
                  <a:srgbClr val="000000"/>
                </a:solidFill>
                <a:latin typeface="DM Sans"/>
                <a:ea typeface="DM Sans"/>
                <a:cs typeface="DM Sans"/>
                <a:sym typeface="DM Sans"/>
              </a:rPr>
              <a:t> Chọn biến (đỉnh) chưa được gán màu đầu tiên trong danh sách.</a:t>
            </a:r>
          </a:p>
          <a:p>
            <a:pPr algn="l">
              <a:lnSpc>
                <a:spcPts val="3108"/>
              </a:lnSpc>
              <a:spcBef>
                <a:spcPct val="0"/>
              </a:spcBef>
            </a:pPr>
            <a:r>
              <a:rPr lang="en-US" sz="2800">
                <a:solidFill>
                  <a:srgbClr val="000000"/>
                </a:solidFill>
                <a:latin typeface="DM Sans"/>
                <a:ea typeface="DM Sans"/>
                <a:cs typeface="DM Sans"/>
                <a:sym typeface="DM Sans"/>
              </a:rPr>
              <a:t> Nếu tất cả đỉnh đã được gán màu → trả về None.</a:t>
            </a:r>
          </a:p>
          <a:p>
            <a:pPr algn="l">
              <a:lnSpc>
                <a:spcPts val="3108"/>
              </a:lnSpc>
              <a:spcBef>
                <a:spcPct val="0"/>
              </a:spcBef>
            </a:pPr>
            <a:r>
              <a:rPr lang="en-US" sz="2800">
                <a:solidFill>
                  <a:srgbClr val="000000"/>
                </a:solidFill>
                <a:latin typeface="DM Sans"/>
                <a:ea typeface="DM Sans"/>
                <a:cs typeface="DM Sans"/>
                <a:sym typeface="DM Sans"/>
              </a:rPr>
              <a:t> Nếu chưa → trả về đỉnh đầu tiên chưa được gán (theo thứ tự trong danh sách variables).</a:t>
            </a:r>
          </a:p>
          <a:p>
            <a:pPr algn="l">
              <a:lnSpc>
                <a:spcPts val="3108"/>
              </a:lnSpc>
              <a:spcBef>
                <a:spcPct val="0"/>
              </a:spcBef>
            </a:pPr>
            <a:r>
              <a:rPr lang="en-US" sz="2800">
                <a:solidFill>
                  <a:srgbClr val="000000"/>
                </a:solidFill>
                <a:latin typeface="DM Sans"/>
                <a:ea typeface="DM Sans"/>
                <a:cs typeface="DM Sans"/>
                <a:sym typeface="DM Sans"/>
              </a:rPr>
              <a:t>Kết quả: select_unassigned_var({'0': 'red', '1': 'blue'}, csp) = 2, vì '0' và '1' đã có màu, nên đỉnh tiếp theo là '2'.</a:t>
            </a:r>
          </a:p>
          <a:p>
            <a:pPr algn="l">
              <a:lnSpc>
                <a:spcPts val="3108"/>
              </a:lnSpc>
              <a:spcBef>
                <a:spcPct val="0"/>
              </a:spcBef>
            </a:pPr>
            <a:r>
              <a:rPr lang="en-US" sz="2800">
                <a:solidFill>
                  <a:srgbClr val="000000"/>
                </a:solidFill>
                <a:latin typeface="DM Sans"/>
                <a:ea typeface="DM Sans"/>
                <a:cs typeface="DM Sans"/>
                <a:sym typeface="DM Sans"/>
              </a:rPr>
              <a:t>Hàm backtrack_search(csp)</a:t>
            </a:r>
          </a:p>
          <a:p>
            <a:pPr algn="l">
              <a:lnSpc>
                <a:spcPts val="3108"/>
              </a:lnSpc>
              <a:spcBef>
                <a:spcPct val="0"/>
              </a:spcBef>
            </a:pPr>
            <a:r>
              <a:rPr lang="en-US" sz="2800">
                <a:solidFill>
                  <a:srgbClr val="000000"/>
                </a:solidFill>
                <a:latin typeface="DM Sans"/>
                <a:ea typeface="DM Sans"/>
                <a:cs typeface="DM Sans"/>
                <a:sym typeface="DM Sans"/>
              </a:rPr>
              <a:t>Mục tiêu:</a:t>
            </a:r>
          </a:p>
          <a:p>
            <a:pPr algn="l">
              <a:lnSpc>
                <a:spcPts val="3108"/>
              </a:lnSpc>
              <a:spcBef>
                <a:spcPct val="0"/>
              </a:spcBef>
            </a:pPr>
            <a:r>
              <a:rPr lang="en-US" sz="2800">
                <a:solidFill>
                  <a:srgbClr val="000000"/>
                </a:solidFill>
                <a:latin typeface="DM Sans"/>
                <a:ea typeface="DM Sans"/>
                <a:cs typeface="DM Sans"/>
                <a:sym typeface="DM Sans"/>
              </a:rPr>
              <a:t> Hàm bắt đầu quá trình quay lui:</a:t>
            </a:r>
          </a:p>
          <a:p>
            <a:pPr algn="l">
              <a:lnSpc>
                <a:spcPts val="3108"/>
              </a:lnSpc>
              <a:spcBef>
                <a:spcPct val="0"/>
              </a:spcBef>
            </a:pPr>
            <a:r>
              <a:rPr lang="en-US" sz="2800">
                <a:solidFill>
                  <a:srgbClr val="000000"/>
                </a:solidFill>
                <a:latin typeface="DM Sans"/>
                <a:ea typeface="DM Sans"/>
                <a:cs typeface="DM Sans"/>
                <a:sym typeface="DM Sans"/>
              </a:rPr>
              <a:t> Khởi tạo lời gán rỗng {} -&gt; Gọi đệ quy backtrack() -&gt; Đếm số node (số lời gán đã thử) &gt;In ra kết quả cuối cùng.</a:t>
            </a:r>
          </a:p>
          <a:p>
            <a:pPr algn="l">
              <a:lnSpc>
                <a:spcPts val="3108"/>
              </a:lnSpc>
              <a:spcBef>
                <a:spcPct val="0"/>
              </a:spcBef>
            </a:pPr>
            <a:r>
              <a:rPr lang="en-US" sz="2800">
                <a:solidFill>
                  <a:srgbClr val="000000"/>
                </a:solidFill>
                <a:latin typeface="DM Sans"/>
                <a:ea typeface="DM Sans"/>
                <a:cs typeface="DM Sans"/>
                <a:sym typeface="DM Sans"/>
              </a:rPr>
              <a:t> Hàm backtrack(assignment, csp):</a:t>
            </a:r>
          </a:p>
          <a:p>
            <a:pPr algn="l">
              <a:lnSpc>
                <a:spcPts val="3108"/>
              </a:lnSpc>
              <a:spcBef>
                <a:spcPct val="0"/>
              </a:spcBef>
            </a:pPr>
            <a:r>
              <a:rPr lang="en-US" sz="2800">
                <a:solidFill>
                  <a:srgbClr val="000000"/>
                </a:solidFill>
                <a:latin typeface="DM Sans"/>
                <a:ea typeface="DM Sans"/>
                <a:cs typeface="DM Sans"/>
                <a:sym typeface="DM Sans"/>
              </a:rPr>
              <a:t> Bắt đầu với assignment rỗng {}.</a:t>
            </a:r>
          </a:p>
          <a:p>
            <a:pPr algn="l">
              <a:lnSpc>
                <a:spcPts val="3108"/>
              </a:lnSpc>
              <a:spcBef>
                <a:spcPct val="0"/>
              </a:spcBef>
            </a:pPr>
            <a:r>
              <a:rPr lang="en-US" sz="2800">
                <a:solidFill>
                  <a:srgbClr val="000000"/>
                </a:solidFill>
                <a:latin typeface="DM Sans"/>
                <a:ea typeface="DM Sans"/>
                <a:cs typeface="DM Sans"/>
                <a:sym typeface="DM Sans"/>
              </a:rPr>
              <a:t> Chọn một biến (đỉnh) chưa gán màu.</a:t>
            </a:r>
          </a:p>
          <a:p>
            <a:pPr algn="l">
              <a:lnSpc>
                <a:spcPts val="3108"/>
              </a:lnSpc>
              <a:spcBef>
                <a:spcPct val="0"/>
              </a:spcBef>
            </a:pPr>
            <a:r>
              <a:rPr lang="en-US" sz="2800">
                <a:solidFill>
                  <a:srgbClr val="000000"/>
                </a:solidFill>
                <a:latin typeface="DM Sans"/>
                <a:ea typeface="DM Sans"/>
                <a:cs typeface="DM Sans"/>
                <a:sym typeface="DM Sans"/>
              </a:rPr>
              <a:t> Thử từng màu trong domain (red, blue, green, orange).</a:t>
            </a:r>
          </a:p>
          <a:p>
            <a:pPr algn="l">
              <a:lnSpc>
                <a:spcPts val="3108"/>
              </a:lnSpc>
              <a:spcBef>
                <a:spcPct val="0"/>
              </a:spcBef>
            </a:pPr>
            <a:r>
              <a:rPr lang="en-US" sz="2800">
                <a:solidFill>
                  <a:srgbClr val="000000"/>
                </a:solidFill>
                <a:latin typeface="DM Sans"/>
                <a:ea typeface="DM Sans"/>
                <a:cs typeface="DM Sans"/>
                <a:sym typeface="DM Sans"/>
              </a:rPr>
              <a:t>Kiểm tra nhất quán (consistent()):</a:t>
            </a:r>
          </a:p>
          <a:p>
            <a:pPr algn="l">
              <a:lnSpc>
                <a:spcPts val="3108"/>
              </a:lnSpc>
              <a:spcBef>
                <a:spcPct val="0"/>
              </a:spcBef>
            </a:pPr>
            <a:r>
              <a:rPr lang="en-US" sz="2800">
                <a:solidFill>
                  <a:srgbClr val="000000"/>
                </a:solidFill>
                <a:latin typeface="DM Sans"/>
                <a:ea typeface="DM Sans"/>
                <a:cs typeface="DM Sans"/>
                <a:sym typeface="DM Sans"/>
              </a:rPr>
              <a:t>Nếu hai đỉnh kề nhau có cùng màu → vi phạm.</a:t>
            </a:r>
          </a:p>
          <a:p>
            <a:pPr algn="l">
              <a:lnSpc>
                <a:spcPts val="3108"/>
              </a:lnSpc>
              <a:spcBef>
                <a:spcPct val="0"/>
              </a:spcBef>
            </a:pPr>
            <a:r>
              <a:rPr lang="en-US" sz="2800">
                <a:solidFill>
                  <a:srgbClr val="000000"/>
                </a:solidFill>
                <a:latin typeface="DM Sans"/>
                <a:ea typeface="DM Sans"/>
                <a:cs typeface="DM Sans"/>
                <a:sym typeface="DM Sans"/>
              </a:rPr>
              <a:t>Nếu hợp lệ:</a:t>
            </a:r>
          </a:p>
          <a:p>
            <a:pPr algn="l">
              <a:lnSpc>
                <a:spcPts val="3108"/>
              </a:lnSpc>
              <a:spcBef>
                <a:spcPct val="0"/>
              </a:spcBef>
            </a:pPr>
            <a:r>
              <a:rPr lang="en-US" sz="2800">
                <a:solidFill>
                  <a:srgbClr val="000000"/>
                </a:solidFill>
                <a:latin typeface="DM Sans"/>
                <a:ea typeface="DM Sans"/>
                <a:cs typeface="DM Sans"/>
                <a:sym typeface="DM Sans"/>
              </a:rPr>
              <a:t>Gọi đệ quy để tô tiếp các đỉnh khác.</a:t>
            </a:r>
          </a:p>
          <a:p>
            <a:pPr algn="l">
              <a:lnSpc>
                <a:spcPts val="3108"/>
              </a:lnSpc>
              <a:spcBef>
                <a:spcPct val="0"/>
              </a:spcBef>
            </a:pPr>
            <a:r>
              <a:rPr lang="en-US" sz="2800">
                <a:solidFill>
                  <a:srgbClr val="000000"/>
                </a:solidFill>
                <a:latin typeface="DM Sans"/>
                <a:ea typeface="DM Sans"/>
                <a:cs typeface="DM Sans"/>
                <a:sym typeface="DM Sans"/>
              </a:rPr>
              <a:t>Nếu không hợp lệ → xóa màu, quay lui thử màu khác.</a:t>
            </a:r>
          </a:p>
          <a:p>
            <a:pPr algn="l">
              <a:lnSpc>
                <a:spcPts val="3108"/>
              </a:lnSpc>
              <a:spcBef>
                <a:spcPct val="0"/>
              </a:spcBef>
            </a:pPr>
            <a:r>
              <a:rPr lang="en-US" sz="2800">
                <a:solidFill>
                  <a:srgbClr val="000000"/>
                </a:solidFill>
                <a:latin typeface="DM Sans"/>
                <a:ea typeface="DM Sans"/>
                <a:cs typeface="DM Sans"/>
                <a:sym typeface="DM Sans"/>
              </a:rPr>
              <a:t>Khi tô hết (hoàn chỉnh) → trả về kết quả cuối cùng.</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372317" y="5431422"/>
            <a:ext cx="6834348" cy="4499195"/>
          </a:xfrm>
          <a:custGeom>
            <a:avLst/>
            <a:gdLst/>
            <a:ahLst/>
            <a:cxnLst/>
            <a:rect r="r" b="b" t="t" l="l"/>
            <a:pathLst>
              <a:path h="4499195" w="6834348">
                <a:moveTo>
                  <a:pt x="0" y="0"/>
                </a:moveTo>
                <a:lnTo>
                  <a:pt x="6834348" y="0"/>
                </a:lnTo>
                <a:lnTo>
                  <a:pt x="6834348" y="4499195"/>
                </a:lnTo>
                <a:lnTo>
                  <a:pt x="0" y="4499195"/>
                </a:lnTo>
                <a:lnTo>
                  <a:pt x="0" y="0"/>
                </a:lnTo>
                <a:close/>
              </a:path>
            </a:pathLst>
          </a:custGeom>
          <a:blipFill>
            <a:blip r:embed="rId2"/>
            <a:stretch>
              <a:fillRect l="0" t="0" r="0" b="0"/>
            </a:stretch>
          </a:blipFill>
        </p:spPr>
      </p:sp>
      <p:sp>
        <p:nvSpPr>
          <p:cNvPr name="TextBox 3" id="3"/>
          <p:cNvSpPr txBox="true"/>
          <p:nvPr/>
        </p:nvSpPr>
        <p:spPr>
          <a:xfrm rot="0">
            <a:off x="578499" y="531965"/>
            <a:ext cx="16827164" cy="3886505"/>
          </a:xfrm>
          <a:prstGeom prst="rect">
            <a:avLst/>
          </a:prstGeom>
        </p:spPr>
        <p:txBody>
          <a:bodyPr anchor="t" rtlCol="false" tIns="0" lIns="0" bIns="0" rIns="0">
            <a:spAutoFit/>
          </a:bodyPr>
          <a:lstStyle/>
          <a:p>
            <a:pPr algn="l">
              <a:lnSpc>
                <a:spcPts val="2804"/>
              </a:lnSpc>
              <a:spcBef>
                <a:spcPct val="0"/>
              </a:spcBef>
            </a:pPr>
            <a:r>
              <a:rPr lang="en-US" sz="2526">
                <a:solidFill>
                  <a:srgbClr val="000000"/>
                </a:solidFill>
                <a:latin typeface="DM Sans"/>
                <a:ea typeface="DM Sans"/>
                <a:cs typeface="DM Sans"/>
                <a:sym typeface="DM Sans"/>
              </a:rPr>
              <a:t>Kết quả:</a:t>
            </a:r>
          </a:p>
          <a:p>
            <a:pPr algn="l">
              <a:lnSpc>
                <a:spcPts val="2804"/>
              </a:lnSpc>
              <a:spcBef>
                <a:spcPct val="0"/>
              </a:spcBef>
            </a:pPr>
            <a:r>
              <a:rPr lang="en-US" sz="2526">
                <a:solidFill>
                  <a:srgbClr val="000000"/>
                </a:solidFill>
                <a:latin typeface="DM Sans"/>
                <a:ea typeface="DM Sans"/>
                <a:cs typeface="DM Sans"/>
                <a:sym typeface="DM Sans"/>
              </a:rPr>
              <a:t>Checked nodes: 11</a:t>
            </a:r>
          </a:p>
          <a:p>
            <a:pPr algn="l">
              <a:lnSpc>
                <a:spcPts val="2804"/>
              </a:lnSpc>
              <a:spcBef>
                <a:spcPct val="0"/>
              </a:spcBef>
            </a:pPr>
            <a:r>
              <a:rPr lang="en-US" sz="2526">
                <a:solidFill>
                  <a:srgbClr val="000000"/>
                </a:solidFill>
                <a:latin typeface="DM Sans"/>
                <a:ea typeface="DM Sans"/>
                <a:cs typeface="DM Sans"/>
                <a:sym typeface="DM Sans"/>
              </a:rPr>
              <a:t>{'0': 'red', '1': 'blue', '2': 'blue', '3': 'red', '4': 'green', '5': 'orange', '6': 'red', '7': 'green', '8': 'blue', </a:t>
            </a:r>
          </a:p>
          <a:p>
            <a:pPr algn="l">
              <a:lnSpc>
                <a:spcPts val="2804"/>
              </a:lnSpc>
              <a:spcBef>
                <a:spcPct val="0"/>
              </a:spcBef>
            </a:pPr>
            <a:r>
              <a:rPr lang="en-US" sz="2526">
                <a:solidFill>
                  <a:srgbClr val="000000"/>
                </a:solidFill>
                <a:latin typeface="DM Sans"/>
                <a:ea typeface="DM Sans"/>
                <a:cs typeface="DM Sans"/>
                <a:sym typeface="DM Sans"/>
              </a:rPr>
              <a:t>'9': 'orange'}</a:t>
            </a:r>
          </a:p>
          <a:p>
            <a:pPr algn="l">
              <a:lnSpc>
                <a:spcPts val="2804"/>
              </a:lnSpc>
              <a:spcBef>
                <a:spcPct val="0"/>
              </a:spcBef>
            </a:pPr>
            <a:r>
              <a:rPr lang="en-US" sz="2526">
                <a:solidFill>
                  <a:srgbClr val="000000"/>
                </a:solidFill>
                <a:latin typeface="DM Sans"/>
                <a:ea typeface="DM Sans"/>
                <a:cs typeface="DM Sans"/>
                <a:sym typeface="DM Sans"/>
              </a:rPr>
              <a:t>9.27 ms ± 0 ns per loop (mean ± std. dev. of 1 run, 1 loop each)</a:t>
            </a:r>
          </a:p>
          <a:p>
            <a:pPr algn="l">
              <a:lnSpc>
                <a:spcPts val="2804"/>
              </a:lnSpc>
              <a:spcBef>
                <a:spcPct val="0"/>
              </a:spcBef>
            </a:pPr>
          </a:p>
          <a:p>
            <a:pPr algn="l">
              <a:lnSpc>
                <a:spcPts val="2804"/>
              </a:lnSpc>
              <a:spcBef>
                <a:spcPct val="0"/>
              </a:spcBef>
            </a:pPr>
            <a:r>
              <a:rPr lang="en-US" sz="2526">
                <a:solidFill>
                  <a:srgbClr val="000000"/>
                </a:solidFill>
                <a:latin typeface="DM Sans"/>
                <a:ea typeface="DM Sans"/>
                <a:cs typeface="DM Sans"/>
                <a:sym typeface="DM Sans"/>
              </a:rPr>
              <a:t>Checked nodes: 11 → thuật toán chỉ phải thử 11 bước (gọi đệ quy) trước khi tìm thấy lời giải hợp lệ.</a:t>
            </a:r>
          </a:p>
          <a:p>
            <a:pPr algn="l">
              <a:lnSpc>
                <a:spcPts val="2804"/>
              </a:lnSpc>
              <a:spcBef>
                <a:spcPct val="0"/>
              </a:spcBef>
            </a:pPr>
            <a:r>
              <a:rPr lang="en-US" sz="2526">
                <a:solidFill>
                  <a:srgbClr val="000000"/>
                </a:solidFill>
                <a:latin typeface="DM Sans"/>
                <a:ea typeface="DM Sans"/>
                <a:cs typeface="DM Sans"/>
                <a:sym typeface="DM Sans"/>
              </a:rPr>
              <a:t>Kết quả dictionary là một lời giải hợp lệ cho bài toán tô màu:</a:t>
            </a:r>
          </a:p>
          <a:p>
            <a:pPr algn="l">
              <a:lnSpc>
                <a:spcPts val="2804"/>
              </a:lnSpc>
              <a:spcBef>
                <a:spcPct val="0"/>
              </a:spcBef>
            </a:pPr>
            <a:r>
              <a:rPr lang="en-US" sz="2526">
                <a:solidFill>
                  <a:srgbClr val="000000"/>
                </a:solidFill>
                <a:latin typeface="DM Sans"/>
                <a:ea typeface="DM Sans"/>
                <a:cs typeface="DM Sans"/>
                <a:sym typeface="DM Sans"/>
              </a:rPr>
              <a:t>Không có hai đỉnh kề nhau nào cùng màu.</a:t>
            </a:r>
          </a:p>
          <a:p>
            <a:pPr algn="l">
              <a:lnSpc>
                <a:spcPts val="2804"/>
              </a:lnSpc>
              <a:spcBef>
                <a:spcPct val="0"/>
              </a:spcBef>
            </a:pPr>
            <a:r>
              <a:rPr lang="en-US" sz="2526">
                <a:solidFill>
                  <a:srgbClr val="000000"/>
                </a:solidFill>
                <a:latin typeface="DM Sans"/>
                <a:ea typeface="DM Sans"/>
                <a:cs typeface="DM Sans"/>
                <a:sym typeface="DM Sans"/>
              </a:rPr>
              <a:t>Dùng được tối đa 4 màu (red, blue, green, orange).</a:t>
            </a:r>
          </a:p>
          <a:p>
            <a:pPr algn="l">
              <a:lnSpc>
                <a:spcPts val="2804"/>
              </a:lnSpc>
              <a:spcBef>
                <a:spcPct val="0"/>
              </a:spcBef>
            </a:pPr>
            <a:r>
              <a:rPr lang="en-US" sz="2526">
                <a:solidFill>
                  <a:srgbClr val="000000"/>
                </a:solidFill>
                <a:latin typeface="DM Sans"/>
                <a:ea typeface="DM Sans"/>
                <a:cs typeface="DM Sans"/>
                <a:sym typeface="DM Sans"/>
              </a:rPr>
              <a:t>Thời gian chạy: ~9ms, rất nhanh với 10 đỉnh.</a:t>
            </a:r>
          </a:p>
        </p:txBody>
      </p:sp>
      <p:sp>
        <p:nvSpPr>
          <p:cNvPr name="TextBox 4" id="4"/>
          <p:cNvSpPr txBox="true"/>
          <p:nvPr/>
        </p:nvSpPr>
        <p:spPr>
          <a:xfrm rot="0">
            <a:off x="578499" y="4685965"/>
            <a:ext cx="12061865" cy="361952"/>
          </a:xfrm>
          <a:prstGeom prst="rect">
            <a:avLst/>
          </a:prstGeom>
        </p:spPr>
        <p:txBody>
          <a:bodyPr anchor="t" rtlCol="false" tIns="0" lIns="0" bIns="0" rIns="0">
            <a:spAutoFit/>
          </a:bodyPr>
          <a:lstStyle/>
          <a:p>
            <a:pPr algn="ctr">
              <a:lnSpc>
                <a:spcPts val="2775"/>
              </a:lnSpc>
              <a:spcBef>
                <a:spcPct val="0"/>
              </a:spcBef>
            </a:pPr>
            <a:r>
              <a:rPr lang="en-US" sz="2500">
                <a:solidFill>
                  <a:srgbClr val="000000"/>
                </a:solidFill>
                <a:latin typeface="DM Sans"/>
                <a:ea typeface="DM Sans"/>
                <a:cs typeface="DM Sans"/>
                <a:sym typeface="DM Sans"/>
              </a:rPr>
              <a:t>Kết quả tô màu các vùng (đỉnh) theo lời giải CSP (Constraint Satisfaction Problem):</a:t>
            </a: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57175" y="1497951"/>
            <a:ext cx="18030825" cy="5389628"/>
          </a:xfrm>
          <a:prstGeom prst="rect">
            <a:avLst/>
          </a:prstGeom>
        </p:spPr>
        <p:txBody>
          <a:bodyPr anchor="t" rtlCol="false" tIns="0" lIns="0" bIns="0" rIns="0">
            <a:spAutoFit/>
          </a:bodyPr>
          <a:lstStyle/>
          <a:p>
            <a:pPr algn="l">
              <a:lnSpc>
                <a:spcPts val="3552"/>
              </a:lnSpc>
              <a:spcBef>
                <a:spcPct val="0"/>
              </a:spcBef>
            </a:pPr>
            <a:r>
              <a:rPr lang="en-US" sz="3200">
                <a:solidFill>
                  <a:srgbClr val="000000"/>
                </a:solidFill>
                <a:latin typeface="DM Sans"/>
                <a:ea typeface="DM Sans"/>
                <a:cs typeface="DM Sans"/>
                <a:sym typeface="DM Sans"/>
              </a:rPr>
              <a:t>Assignment</a:t>
            </a:r>
          </a:p>
          <a:p>
            <a:pPr algn="l">
              <a:lnSpc>
                <a:spcPts val="3552"/>
              </a:lnSpc>
              <a:spcBef>
                <a:spcPct val="0"/>
              </a:spcBef>
            </a:pPr>
            <a:r>
              <a:rPr lang="en-US" sz="3200">
                <a:solidFill>
                  <a:srgbClr val="000000"/>
                </a:solidFill>
                <a:latin typeface="DM Sans"/>
                <a:ea typeface="DM Sans"/>
                <a:cs typeface="DM Sans"/>
                <a:sym typeface="DM Sans"/>
              </a:rPr>
              <a:t>Implement the following graph coloring algorithms:</a:t>
            </a:r>
          </a:p>
          <a:p>
            <a:pPr algn="l">
              <a:lnSpc>
                <a:spcPts val="3552"/>
              </a:lnSpc>
              <a:spcBef>
                <a:spcPct val="0"/>
              </a:spcBef>
            </a:pPr>
            <a:r>
              <a:rPr lang="en-US" sz="3200">
                <a:solidFill>
                  <a:srgbClr val="000000"/>
                </a:solidFill>
                <a:latin typeface="DM Sans"/>
                <a:ea typeface="DM Sans"/>
                <a:cs typeface="DM Sans"/>
                <a:sym typeface="DM Sans"/>
              </a:rPr>
              <a:t>· Add variable and value ordering to the implementation.</a:t>
            </a:r>
          </a:p>
          <a:p>
            <a:pPr algn="l">
              <a:lnSpc>
                <a:spcPts val="3552"/>
              </a:lnSpc>
              <a:spcBef>
                <a:spcPct val="0"/>
              </a:spcBef>
            </a:pPr>
            <a:r>
              <a:rPr lang="en-US" sz="3200">
                <a:solidFill>
                  <a:srgbClr val="000000"/>
                </a:solidFill>
                <a:latin typeface="DM Sans"/>
                <a:ea typeface="DM Sans"/>
                <a:cs typeface="DM Sans"/>
                <a:sym typeface="DM Sans"/>
              </a:rPr>
              <a:t>· Add forward checking to the implementation.</a:t>
            </a:r>
          </a:p>
          <a:p>
            <a:pPr algn="l">
              <a:lnSpc>
                <a:spcPts val="3552"/>
              </a:lnSpc>
              <a:spcBef>
                <a:spcPct val="0"/>
              </a:spcBef>
            </a:pPr>
            <a:r>
              <a:rPr lang="en-US" sz="3200">
                <a:solidFill>
                  <a:srgbClr val="000000"/>
                </a:solidFill>
                <a:latin typeface="DM Sans"/>
                <a:ea typeface="DM Sans"/>
                <a:cs typeface="DM Sans"/>
                <a:sym typeface="DM Sans"/>
              </a:rPr>
              <a:t>· Implement hill climbing local search with the min-conflicts heuristic.</a:t>
            </a:r>
          </a:p>
          <a:p>
            <a:pPr algn="l">
              <a:lnSpc>
                <a:spcPts val="3552"/>
              </a:lnSpc>
              <a:spcBef>
                <a:spcPct val="0"/>
              </a:spcBef>
            </a:pPr>
            <a:r>
              <a:rPr lang="en-US" sz="3200">
                <a:solidFill>
                  <a:srgbClr val="000000"/>
                </a:solidFill>
                <a:latin typeface="DM Sans"/>
                <a:ea typeface="DM Sans"/>
                <a:cs typeface="DM Sans"/>
                <a:sym typeface="DM Sans"/>
              </a:rPr>
              <a:t>Try to color graphs of several sizes with 3 and 4 colors. For each n, generate several random instances, and try to make n as large as you can manage. On average, how many constraints (edges) do your map coloring instances have for each n? Report the performance of each search algorithm as a function of n. For both variants of backtracking search, you can characterize performance in terms of the number of variable assignments attempted. For hill climbing search, report the number of uphill moves and random restarts required in order to reach a solution. Of course, you can also report raw running times as a function of 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17204191" y="-55109"/>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204191" y="1028700"/>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true" rot="5400000">
            <a:off x="17204191" y="2112509"/>
            <a:ext cx="1083809" cy="1083809"/>
          </a:xfrm>
          <a:custGeom>
            <a:avLst/>
            <a:gdLst/>
            <a:ahLst/>
            <a:cxnLst/>
            <a:rect r="r" b="b" t="t" l="l"/>
            <a:pathLst>
              <a:path h="1083809" w="1083809">
                <a:moveTo>
                  <a:pt x="1083809" y="1083809"/>
                </a:moveTo>
                <a:lnTo>
                  <a:pt x="0" y="1083809"/>
                </a:lnTo>
                <a:lnTo>
                  <a:pt x="0" y="0"/>
                </a:lnTo>
                <a:lnTo>
                  <a:pt x="1083809" y="0"/>
                </a:lnTo>
                <a:lnTo>
                  <a:pt x="1083809" y="1083809"/>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120382" y="-55109"/>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10800000">
            <a:off x="16120382" y="2112509"/>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true" flipV="true" rot="-10800000">
            <a:off x="15036573" y="2112509"/>
            <a:ext cx="1083809" cy="1083809"/>
          </a:xfrm>
          <a:custGeom>
            <a:avLst/>
            <a:gdLst/>
            <a:ahLst/>
            <a:cxnLst/>
            <a:rect r="r" b="b" t="t" l="l"/>
            <a:pathLst>
              <a:path h="1083809" w="1083809">
                <a:moveTo>
                  <a:pt x="1083809" y="1083809"/>
                </a:moveTo>
                <a:lnTo>
                  <a:pt x="0" y="1083809"/>
                </a:lnTo>
                <a:lnTo>
                  <a:pt x="0" y="0"/>
                </a:lnTo>
                <a:lnTo>
                  <a:pt x="1083809" y="0"/>
                </a:lnTo>
                <a:lnTo>
                  <a:pt x="1083809" y="108380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true" rot="5400000">
            <a:off x="12770705" y="-55109"/>
            <a:ext cx="1083809" cy="1083809"/>
          </a:xfrm>
          <a:custGeom>
            <a:avLst/>
            <a:gdLst/>
            <a:ahLst/>
            <a:cxnLst/>
            <a:rect r="r" b="b" t="t" l="l"/>
            <a:pathLst>
              <a:path h="1083809" w="1083809">
                <a:moveTo>
                  <a:pt x="1083809" y="1083809"/>
                </a:moveTo>
                <a:lnTo>
                  <a:pt x="0" y="1083809"/>
                </a:lnTo>
                <a:lnTo>
                  <a:pt x="0" y="0"/>
                </a:lnTo>
                <a:lnTo>
                  <a:pt x="1083809" y="0"/>
                </a:lnTo>
                <a:lnTo>
                  <a:pt x="1083809" y="1083809"/>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0" y="8156539"/>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10800000">
            <a:off x="0" y="9240348"/>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5400000">
            <a:off x="1083809" y="9240348"/>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10800000">
            <a:off x="3321750" y="9268923"/>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3321750" y="8185114"/>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5400000">
            <a:off x="4405559" y="9268923"/>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5" id="15"/>
          <p:cNvGrpSpPr/>
          <p:nvPr/>
        </p:nvGrpSpPr>
        <p:grpSpPr>
          <a:xfrm rot="2700000">
            <a:off x="14381224" y="7574679"/>
            <a:ext cx="7415398" cy="3565095"/>
            <a:chOff x="0" y="0"/>
            <a:chExt cx="660400" cy="317500"/>
          </a:xfrm>
        </p:grpSpPr>
        <p:sp>
          <p:nvSpPr>
            <p:cNvPr name="Freeform 16" id="16"/>
            <p:cNvSpPr/>
            <p:nvPr/>
          </p:nvSpPr>
          <p:spPr>
            <a:xfrm flipH="false" flipV="false" rot="0">
              <a:off x="0" y="0"/>
              <a:ext cx="660400" cy="317500"/>
            </a:xfrm>
            <a:custGeom>
              <a:avLst/>
              <a:gdLst/>
              <a:ahLst/>
              <a:cxnLst/>
              <a:rect r="r" b="b" t="t" l="l"/>
              <a:pathLst>
                <a:path h="317500"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000000">
                <a:alpha val="0"/>
              </a:srgbClr>
            </a:solidFill>
            <a:ln w="28575" cap="sq">
              <a:solidFill>
                <a:srgbClr val="8CA9AD"/>
              </a:solidFill>
              <a:prstDash val="solid"/>
              <a:miter/>
            </a:ln>
          </p:spPr>
        </p:sp>
        <p:sp>
          <p:nvSpPr>
            <p:cNvPr name="TextBox 17" id="17"/>
            <p:cNvSpPr txBox="true"/>
            <p:nvPr/>
          </p:nvSpPr>
          <p:spPr>
            <a:xfrm>
              <a:off x="0" y="146050"/>
              <a:ext cx="660400" cy="171450"/>
            </a:xfrm>
            <a:prstGeom prst="rect">
              <a:avLst/>
            </a:prstGeom>
          </p:spPr>
          <p:txBody>
            <a:bodyPr anchor="ctr" rtlCol="false" tIns="50800" lIns="50800" bIns="50800" rIns="50800"/>
            <a:lstStyle/>
            <a:p>
              <a:pPr algn="ctr">
                <a:lnSpc>
                  <a:spcPts val="2553"/>
                </a:lnSpc>
              </a:pPr>
            </a:p>
          </p:txBody>
        </p:sp>
      </p:grpSp>
      <p:sp>
        <p:nvSpPr>
          <p:cNvPr name="AutoShape 18" id="18"/>
          <p:cNvSpPr/>
          <p:nvPr/>
        </p:nvSpPr>
        <p:spPr>
          <a:xfrm>
            <a:off x="13918610" y="8394229"/>
            <a:ext cx="5185216" cy="5132702"/>
          </a:xfrm>
          <a:prstGeom prst="line">
            <a:avLst/>
          </a:prstGeom>
          <a:ln cap="flat" w="28575">
            <a:solidFill>
              <a:srgbClr val="8CA9AD"/>
            </a:solidFill>
            <a:prstDash val="solid"/>
            <a:headEnd type="none" len="sm" w="sm"/>
            <a:tailEnd type="none" len="sm" w="sm"/>
          </a:ln>
        </p:spPr>
      </p:sp>
      <p:sp>
        <p:nvSpPr>
          <p:cNvPr name="AutoShape 19" id="19"/>
          <p:cNvSpPr/>
          <p:nvPr/>
        </p:nvSpPr>
        <p:spPr>
          <a:xfrm>
            <a:off x="13704664" y="8706905"/>
            <a:ext cx="5038853" cy="5038853"/>
          </a:xfrm>
          <a:prstGeom prst="line">
            <a:avLst/>
          </a:prstGeom>
          <a:ln cap="flat" w="28575">
            <a:solidFill>
              <a:srgbClr val="8CA9AD"/>
            </a:solidFill>
            <a:prstDash val="solid"/>
            <a:headEnd type="none" len="sm" w="sm"/>
            <a:tailEnd type="none" len="sm" w="sm"/>
          </a:ln>
        </p:spPr>
      </p:sp>
      <p:sp>
        <p:nvSpPr>
          <p:cNvPr name="AutoShape 20" id="20"/>
          <p:cNvSpPr/>
          <p:nvPr/>
        </p:nvSpPr>
        <p:spPr>
          <a:xfrm>
            <a:off x="13525062" y="9065375"/>
            <a:ext cx="4867141" cy="4867141"/>
          </a:xfrm>
          <a:prstGeom prst="line">
            <a:avLst/>
          </a:prstGeom>
          <a:ln cap="flat" w="28575">
            <a:solidFill>
              <a:srgbClr val="8CA9AD"/>
            </a:solidFill>
            <a:prstDash val="solid"/>
            <a:headEnd type="none" len="sm" w="sm"/>
            <a:tailEnd type="none" len="sm" w="sm"/>
          </a:ln>
        </p:spPr>
      </p:sp>
      <p:sp>
        <p:nvSpPr>
          <p:cNvPr name="AutoShape 21" id="21"/>
          <p:cNvSpPr/>
          <p:nvPr/>
        </p:nvSpPr>
        <p:spPr>
          <a:xfrm>
            <a:off x="13398407" y="9451643"/>
            <a:ext cx="4690515" cy="4690515"/>
          </a:xfrm>
          <a:prstGeom prst="line">
            <a:avLst/>
          </a:prstGeom>
          <a:ln cap="flat" w="28575">
            <a:solidFill>
              <a:srgbClr val="8CA9AD"/>
            </a:solidFill>
            <a:prstDash val="solid"/>
            <a:headEnd type="none" len="sm" w="sm"/>
            <a:tailEnd type="none" len="sm" w="sm"/>
          </a:ln>
        </p:spPr>
      </p:sp>
      <p:sp>
        <p:nvSpPr>
          <p:cNvPr name="AutoShape 22" id="22"/>
          <p:cNvSpPr/>
          <p:nvPr/>
        </p:nvSpPr>
        <p:spPr>
          <a:xfrm>
            <a:off x="13254553" y="9891320"/>
            <a:ext cx="4347674" cy="4347674"/>
          </a:xfrm>
          <a:prstGeom prst="line">
            <a:avLst/>
          </a:prstGeom>
          <a:ln cap="flat" w="28575">
            <a:solidFill>
              <a:srgbClr val="8CA9AD"/>
            </a:solidFill>
            <a:prstDash val="solid"/>
            <a:headEnd type="none" len="sm" w="sm"/>
            <a:tailEnd type="none" len="sm" w="sm"/>
          </a:ln>
        </p:spPr>
      </p:sp>
      <p:sp>
        <p:nvSpPr>
          <p:cNvPr name="TextBox 23" id="23"/>
          <p:cNvSpPr txBox="true"/>
          <p:nvPr/>
        </p:nvSpPr>
        <p:spPr>
          <a:xfrm rot="0">
            <a:off x="551429" y="1953625"/>
            <a:ext cx="17353399" cy="5389628"/>
          </a:xfrm>
          <a:prstGeom prst="rect">
            <a:avLst/>
          </a:prstGeom>
        </p:spPr>
        <p:txBody>
          <a:bodyPr anchor="t" rtlCol="false" tIns="0" lIns="0" bIns="0" rIns="0">
            <a:spAutoFit/>
          </a:bodyPr>
          <a:lstStyle/>
          <a:p>
            <a:pPr algn="l">
              <a:lnSpc>
                <a:spcPts val="3552"/>
              </a:lnSpc>
              <a:spcBef>
                <a:spcPct val="0"/>
              </a:spcBef>
            </a:pPr>
            <a:r>
              <a:rPr lang="en-US" sz="3200">
                <a:solidFill>
                  <a:srgbClr val="000000"/>
                </a:solidFill>
                <a:latin typeface="DM Sans"/>
                <a:ea typeface="DM Sans"/>
                <a:cs typeface="DM Sans"/>
                <a:sym typeface="DM Sans"/>
              </a:rPr>
              <a:t>Assignment</a:t>
            </a:r>
          </a:p>
          <a:p>
            <a:pPr algn="l">
              <a:lnSpc>
                <a:spcPts val="3552"/>
              </a:lnSpc>
              <a:spcBef>
                <a:spcPct val="0"/>
              </a:spcBef>
            </a:pPr>
            <a:r>
              <a:rPr lang="en-US" sz="3200">
                <a:solidFill>
                  <a:srgbClr val="000000"/>
                </a:solidFill>
                <a:latin typeface="DM Sans"/>
                <a:ea typeface="DM Sans"/>
                <a:cs typeface="DM Sans"/>
                <a:sym typeface="DM Sans"/>
              </a:rPr>
              <a:t>Implement the following graph coloring algorithms:</a:t>
            </a:r>
          </a:p>
          <a:p>
            <a:pPr algn="l">
              <a:lnSpc>
                <a:spcPts val="3552"/>
              </a:lnSpc>
              <a:spcBef>
                <a:spcPct val="0"/>
              </a:spcBef>
            </a:pPr>
            <a:r>
              <a:rPr lang="en-US" sz="3200">
                <a:solidFill>
                  <a:srgbClr val="000000"/>
                </a:solidFill>
                <a:latin typeface="DM Sans"/>
                <a:ea typeface="DM Sans"/>
                <a:cs typeface="DM Sans"/>
                <a:sym typeface="DM Sans"/>
              </a:rPr>
              <a:t>· Add variable and value ordering to the implementation.</a:t>
            </a:r>
          </a:p>
          <a:p>
            <a:pPr algn="l">
              <a:lnSpc>
                <a:spcPts val="3552"/>
              </a:lnSpc>
              <a:spcBef>
                <a:spcPct val="0"/>
              </a:spcBef>
            </a:pPr>
            <a:r>
              <a:rPr lang="en-US" sz="3200">
                <a:solidFill>
                  <a:srgbClr val="000000"/>
                </a:solidFill>
                <a:latin typeface="DM Sans"/>
                <a:ea typeface="DM Sans"/>
                <a:cs typeface="DM Sans"/>
                <a:sym typeface="DM Sans"/>
              </a:rPr>
              <a:t>· Add forward checking to the implementation.</a:t>
            </a:r>
          </a:p>
          <a:p>
            <a:pPr algn="l">
              <a:lnSpc>
                <a:spcPts val="3552"/>
              </a:lnSpc>
              <a:spcBef>
                <a:spcPct val="0"/>
              </a:spcBef>
            </a:pPr>
            <a:r>
              <a:rPr lang="en-US" sz="3200">
                <a:solidFill>
                  <a:srgbClr val="000000"/>
                </a:solidFill>
                <a:latin typeface="DM Sans"/>
                <a:ea typeface="DM Sans"/>
                <a:cs typeface="DM Sans"/>
                <a:sym typeface="DM Sans"/>
              </a:rPr>
              <a:t>· Implement hill climbing local search with the min-conflicts heuristic.</a:t>
            </a:r>
          </a:p>
          <a:p>
            <a:pPr algn="l">
              <a:lnSpc>
                <a:spcPts val="3552"/>
              </a:lnSpc>
              <a:spcBef>
                <a:spcPct val="0"/>
              </a:spcBef>
            </a:pPr>
            <a:r>
              <a:rPr lang="en-US" sz="3200">
                <a:solidFill>
                  <a:srgbClr val="000000"/>
                </a:solidFill>
                <a:latin typeface="DM Sans"/>
                <a:ea typeface="DM Sans"/>
                <a:cs typeface="DM Sans"/>
                <a:sym typeface="DM Sans"/>
              </a:rPr>
              <a:t>Try to color graphs of several sizes with 3 and 4 colors. For each n, generate several random instances, and try to make n as large as you can manage. On average, how many constraints (edges) do your map coloring instances have for each n? Report the performance of each search algorithm as a function of n. For both variants of backtracking search, you can characterize performance in terms of the number of variable assignments attempted. For hill climbing search, report the number of uphill moves and random restarts required in order to reach a solution. Of course, you can also report raw running times as a function of n.</a:t>
            </a: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55072" y="364405"/>
            <a:ext cx="14980874" cy="531496"/>
          </a:xfrm>
          <a:prstGeom prst="rect">
            <a:avLst/>
          </a:prstGeom>
        </p:spPr>
        <p:txBody>
          <a:bodyPr anchor="t" rtlCol="false" tIns="0" lIns="0" bIns="0" rIns="0">
            <a:spAutoFit/>
          </a:bodyPr>
          <a:lstStyle/>
          <a:p>
            <a:pPr algn="l">
              <a:lnSpc>
                <a:spcPts val="3465"/>
              </a:lnSpc>
            </a:pPr>
            <a:r>
              <a:rPr lang="en-US" b="true" sz="3500">
                <a:solidFill>
                  <a:srgbClr val="227C9D"/>
                </a:solidFill>
                <a:latin typeface="Kollektif Bold"/>
                <a:ea typeface="Kollektif Bold"/>
                <a:cs typeface="Kollektif Bold"/>
                <a:sym typeface="Kollektif Bold"/>
              </a:rPr>
              <a:t>THUẬT TOÁN BACKTRACKING (MRV + LCV + FORWARD CHECKING)</a:t>
            </a:r>
          </a:p>
        </p:txBody>
      </p:sp>
      <p:grpSp>
        <p:nvGrpSpPr>
          <p:cNvPr name="Group 3" id="3"/>
          <p:cNvGrpSpPr/>
          <p:nvPr/>
        </p:nvGrpSpPr>
        <p:grpSpPr>
          <a:xfrm rot="0">
            <a:off x="655072" y="1028700"/>
            <a:ext cx="2187457" cy="655044"/>
            <a:chOff x="0" y="0"/>
            <a:chExt cx="904025" cy="270714"/>
          </a:xfrm>
        </p:grpSpPr>
        <p:sp>
          <p:nvSpPr>
            <p:cNvPr name="Freeform 4" id="4"/>
            <p:cNvSpPr/>
            <p:nvPr/>
          </p:nvSpPr>
          <p:spPr>
            <a:xfrm flipH="false" flipV="false" rot="0">
              <a:off x="0" y="0"/>
              <a:ext cx="904025" cy="270714"/>
            </a:xfrm>
            <a:custGeom>
              <a:avLst/>
              <a:gdLst/>
              <a:ahLst/>
              <a:cxnLst/>
              <a:rect r="r" b="b" t="t" l="l"/>
              <a:pathLst>
                <a:path h="270714" w="904025">
                  <a:moveTo>
                    <a:pt x="135357" y="0"/>
                  </a:moveTo>
                  <a:lnTo>
                    <a:pt x="768668" y="0"/>
                  </a:lnTo>
                  <a:cubicBezTo>
                    <a:pt x="804567" y="0"/>
                    <a:pt x="838995" y="14261"/>
                    <a:pt x="864380" y="39645"/>
                  </a:cubicBezTo>
                  <a:cubicBezTo>
                    <a:pt x="889764" y="65030"/>
                    <a:pt x="904025" y="99458"/>
                    <a:pt x="904025" y="135357"/>
                  </a:cubicBezTo>
                  <a:lnTo>
                    <a:pt x="904025" y="135357"/>
                  </a:lnTo>
                  <a:cubicBezTo>
                    <a:pt x="904025" y="210113"/>
                    <a:pt x="843423" y="270714"/>
                    <a:pt x="768668" y="270714"/>
                  </a:cubicBezTo>
                  <a:lnTo>
                    <a:pt x="135357" y="270714"/>
                  </a:lnTo>
                  <a:cubicBezTo>
                    <a:pt x="99458" y="270714"/>
                    <a:pt x="65030" y="256454"/>
                    <a:pt x="39645" y="231069"/>
                  </a:cubicBezTo>
                  <a:cubicBezTo>
                    <a:pt x="14261" y="205685"/>
                    <a:pt x="0" y="171256"/>
                    <a:pt x="0" y="135357"/>
                  </a:cubicBezTo>
                  <a:lnTo>
                    <a:pt x="0" y="135357"/>
                  </a:lnTo>
                  <a:cubicBezTo>
                    <a:pt x="0" y="99458"/>
                    <a:pt x="14261" y="65030"/>
                    <a:pt x="39645" y="39645"/>
                  </a:cubicBezTo>
                  <a:cubicBezTo>
                    <a:pt x="65030" y="14261"/>
                    <a:pt x="99458" y="0"/>
                    <a:pt x="135357" y="0"/>
                  </a:cubicBezTo>
                  <a:close/>
                </a:path>
              </a:pathLst>
            </a:custGeom>
            <a:solidFill>
              <a:srgbClr val="FE6D73"/>
            </a:solidFill>
          </p:spPr>
        </p:sp>
        <p:sp>
          <p:nvSpPr>
            <p:cNvPr name="TextBox 5" id="5"/>
            <p:cNvSpPr txBox="true"/>
            <p:nvPr/>
          </p:nvSpPr>
          <p:spPr>
            <a:xfrm>
              <a:off x="0" y="19050"/>
              <a:ext cx="904025" cy="251664"/>
            </a:xfrm>
            <a:prstGeom prst="rect">
              <a:avLst/>
            </a:prstGeom>
          </p:spPr>
          <p:txBody>
            <a:bodyPr anchor="ctr" rtlCol="false" tIns="50800" lIns="50800" bIns="50800" rIns="50800"/>
            <a:lstStyle/>
            <a:p>
              <a:pPr algn="ctr">
                <a:lnSpc>
                  <a:spcPts val="2553"/>
                </a:lnSpc>
              </a:pPr>
            </a:p>
          </p:txBody>
        </p:sp>
      </p:grpSp>
      <p:grpSp>
        <p:nvGrpSpPr>
          <p:cNvPr name="Group 6" id="6"/>
          <p:cNvGrpSpPr/>
          <p:nvPr/>
        </p:nvGrpSpPr>
        <p:grpSpPr>
          <a:xfrm rot="0">
            <a:off x="655072" y="6466051"/>
            <a:ext cx="4035207" cy="685985"/>
            <a:chOff x="0" y="0"/>
            <a:chExt cx="1592438" cy="270714"/>
          </a:xfrm>
        </p:grpSpPr>
        <p:sp>
          <p:nvSpPr>
            <p:cNvPr name="Freeform 7" id="7"/>
            <p:cNvSpPr/>
            <p:nvPr/>
          </p:nvSpPr>
          <p:spPr>
            <a:xfrm flipH="false" flipV="false" rot="0">
              <a:off x="0" y="0"/>
              <a:ext cx="1592438" cy="270714"/>
            </a:xfrm>
            <a:custGeom>
              <a:avLst/>
              <a:gdLst/>
              <a:ahLst/>
              <a:cxnLst/>
              <a:rect r="r" b="b" t="t" l="l"/>
              <a:pathLst>
                <a:path h="270714" w="1592438">
                  <a:moveTo>
                    <a:pt x="97848" y="0"/>
                  </a:moveTo>
                  <a:lnTo>
                    <a:pt x="1494589" y="0"/>
                  </a:lnTo>
                  <a:cubicBezTo>
                    <a:pt x="1520540" y="0"/>
                    <a:pt x="1545428" y="10309"/>
                    <a:pt x="1563778" y="28659"/>
                  </a:cubicBezTo>
                  <a:cubicBezTo>
                    <a:pt x="1582129" y="47009"/>
                    <a:pt x="1592438" y="71897"/>
                    <a:pt x="1592438" y="97848"/>
                  </a:cubicBezTo>
                  <a:lnTo>
                    <a:pt x="1592438" y="172866"/>
                  </a:lnTo>
                  <a:cubicBezTo>
                    <a:pt x="1592438" y="198817"/>
                    <a:pt x="1582129" y="223705"/>
                    <a:pt x="1563778" y="242055"/>
                  </a:cubicBezTo>
                  <a:cubicBezTo>
                    <a:pt x="1545428" y="260405"/>
                    <a:pt x="1520540" y="270714"/>
                    <a:pt x="1494589" y="270714"/>
                  </a:cubicBezTo>
                  <a:lnTo>
                    <a:pt x="97848" y="270714"/>
                  </a:lnTo>
                  <a:cubicBezTo>
                    <a:pt x="71897" y="270714"/>
                    <a:pt x="47009" y="260405"/>
                    <a:pt x="28659" y="242055"/>
                  </a:cubicBezTo>
                  <a:cubicBezTo>
                    <a:pt x="10309" y="223705"/>
                    <a:pt x="0" y="198817"/>
                    <a:pt x="0" y="172866"/>
                  </a:cubicBezTo>
                  <a:lnTo>
                    <a:pt x="0" y="97848"/>
                  </a:lnTo>
                  <a:cubicBezTo>
                    <a:pt x="0" y="71897"/>
                    <a:pt x="10309" y="47009"/>
                    <a:pt x="28659" y="28659"/>
                  </a:cubicBezTo>
                  <a:cubicBezTo>
                    <a:pt x="47009" y="10309"/>
                    <a:pt x="71897" y="0"/>
                    <a:pt x="97848" y="0"/>
                  </a:cubicBezTo>
                  <a:close/>
                </a:path>
              </a:pathLst>
            </a:custGeom>
            <a:solidFill>
              <a:srgbClr val="FFCB77"/>
            </a:solidFill>
          </p:spPr>
        </p:sp>
        <p:sp>
          <p:nvSpPr>
            <p:cNvPr name="TextBox 8" id="8"/>
            <p:cNvSpPr txBox="true"/>
            <p:nvPr/>
          </p:nvSpPr>
          <p:spPr>
            <a:xfrm>
              <a:off x="0" y="19050"/>
              <a:ext cx="1592438" cy="251664"/>
            </a:xfrm>
            <a:prstGeom prst="rect">
              <a:avLst/>
            </a:prstGeom>
          </p:spPr>
          <p:txBody>
            <a:bodyPr anchor="ctr" rtlCol="false" tIns="50800" lIns="50800" bIns="50800" rIns="50800"/>
            <a:lstStyle/>
            <a:p>
              <a:pPr algn="ctr">
                <a:lnSpc>
                  <a:spcPts val="2553"/>
                </a:lnSpc>
              </a:pPr>
            </a:p>
          </p:txBody>
        </p:sp>
      </p:grpSp>
      <p:sp>
        <p:nvSpPr>
          <p:cNvPr name="TextBox 9" id="9"/>
          <p:cNvSpPr txBox="true"/>
          <p:nvPr/>
        </p:nvSpPr>
        <p:spPr>
          <a:xfrm rot="0">
            <a:off x="874024" y="1153465"/>
            <a:ext cx="2642362" cy="717707"/>
          </a:xfrm>
          <a:prstGeom prst="rect">
            <a:avLst/>
          </a:prstGeom>
        </p:spPr>
        <p:txBody>
          <a:bodyPr anchor="t" rtlCol="false" tIns="0" lIns="0" bIns="0" rIns="0">
            <a:spAutoFit/>
          </a:bodyPr>
          <a:lstStyle/>
          <a:p>
            <a:pPr algn="l">
              <a:lnSpc>
                <a:spcPts val="2549"/>
              </a:lnSpc>
            </a:pPr>
            <a:r>
              <a:rPr lang="en-US" sz="2549" b="true">
                <a:solidFill>
                  <a:srgbClr val="FFFFFF"/>
                </a:solidFill>
                <a:latin typeface="Kollektif Bold"/>
                <a:ea typeface="Kollektif Bold"/>
                <a:cs typeface="Kollektif Bold"/>
                <a:sym typeface="Kollektif Bold"/>
              </a:rPr>
              <a:t>MỤC TIÊU:</a:t>
            </a:r>
          </a:p>
          <a:p>
            <a:pPr algn="l">
              <a:lnSpc>
                <a:spcPts val="2549"/>
              </a:lnSpc>
            </a:pPr>
          </a:p>
        </p:txBody>
      </p:sp>
      <p:sp>
        <p:nvSpPr>
          <p:cNvPr name="TextBox 10" id="10"/>
          <p:cNvSpPr txBox="true"/>
          <p:nvPr/>
        </p:nvSpPr>
        <p:spPr>
          <a:xfrm rot="0">
            <a:off x="1115401" y="6495438"/>
            <a:ext cx="3180366" cy="955966"/>
          </a:xfrm>
          <a:prstGeom prst="rect">
            <a:avLst/>
          </a:prstGeom>
        </p:spPr>
        <p:txBody>
          <a:bodyPr anchor="t" rtlCol="false" tIns="0" lIns="0" bIns="0" rIns="0">
            <a:spAutoFit/>
          </a:bodyPr>
          <a:lstStyle/>
          <a:p>
            <a:pPr algn="l">
              <a:lnSpc>
                <a:spcPts val="2342"/>
              </a:lnSpc>
            </a:pPr>
            <a:r>
              <a:rPr lang="en-US" sz="2342" b="true">
                <a:solidFill>
                  <a:srgbClr val="FFFFFF"/>
                </a:solidFill>
                <a:latin typeface="Kollektif Bold"/>
                <a:ea typeface="Kollektif Bold"/>
                <a:cs typeface="Kollektif Bold"/>
                <a:sym typeface="Kollektif Bold"/>
              </a:rPr>
              <a:t>CÁCH HOẠT ĐỘNG TỔNG QUÁT:</a:t>
            </a:r>
          </a:p>
          <a:p>
            <a:pPr algn="l">
              <a:lnSpc>
                <a:spcPts val="2342"/>
              </a:lnSpc>
            </a:pPr>
          </a:p>
        </p:txBody>
      </p:sp>
      <p:sp>
        <p:nvSpPr>
          <p:cNvPr name="TextBox 11" id="11"/>
          <p:cNvSpPr txBox="true"/>
          <p:nvPr/>
        </p:nvSpPr>
        <p:spPr>
          <a:xfrm rot="0">
            <a:off x="655072" y="2023571"/>
            <a:ext cx="15831027" cy="4217291"/>
          </a:xfrm>
          <a:prstGeom prst="rect">
            <a:avLst/>
          </a:prstGeom>
        </p:spPr>
        <p:txBody>
          <a:bodyPr anchor="t" rtlCol="false" tIns="0" lIns="0" bIns="0" rIns="0">
            <a:spAutoFit/>
          </a:bodyPr>
          <a:lstStyle/>
          <a:p>
            <a:pPr algn="l">
              <a:lnSpc>
                <a:spcPts val="2553"/>
              </a:lnSpc>
              <a:spcBef>
                <a:spcPct val="0"/>
              </a:spcBef>
            </a:pPr>
            <a:r>
              <a:rPr lang="en-US" sz="2300">
                <a:solidFill>
                  <a:srgbClr val="000000"/>
                </a:solidFill>
                <a:latin typeface="DM Sans"/>
                <a:ea typeface="DM Sans"/>
                <a:cs typeface="DM Sans"/>
                <a:sym typeface="DM Sans"/>
              </a:rPr>
              <a:t>Tìm cách tô màu cho đồ thị sao cho không có hai đỉnh kề nhau cùng màu, với số màu giới hạn (ví dụ 3 hoặc 4).</a:t>
            </a:r>
          </a:p>
          <a:p>
            <a:pPr algn="l">
              <a:lnSpc>
                <a:spcPts val="2553"/>
              </a:lnSpc>
              <a:spcBef>
                <a:spcPct val="0"/>
              </a:spcBef>
            </a:pPr>
            <a:r>
              <a:rPr lang="en-US" sz="2300">
                <a:solidFill>
                  <a:srgbClr val="000000"/>
                </a:solidFill>
                <a:latin typeface="DM Sans"/>
                <a:ea typeface="DM Sans"/>
                <a:cs typeface="DM Sans"/>
                <a:sym typeface="DM Sans"/>
              </a:rPr>
              <a:t>Nguyên lý hoạt động:</a:t>
            </a:r>
          </a:p>
          <a:p>
            <a:pPr algn="l">
              <a:lnSpc>
                <a:spcPts val="2553"/>
              </a:lnSpc>
              <a:spcBef>
                <a:spcPct val="0"/>
              </a:spcBef>
            </a:pPr>
            <a:r>
              <a:rPr lang="en-US" sz="2300">
                <a:solidFill>
                  <a:srgbClr val="000000"/>
                </a:solidFill>
                <a:latin typeface="DM Sans"/>
                <a:ea typeface="DM Sans"/>
                <a:cs typeface="DM Sans"/>
                <a:sym typeface="DM Sans"/>
              </a:rPr>
              <a:t>Thuật toán Backtracking là tìm kiếm theo chiều sâu (Depth-First Search), nhưng được cải tiến bằng ba kỹ thuật chính:</a:t>
            </a:r>
          </a:p>
          <a:p>
            <a:pPr algn="l">
              <a:lnSpc>
                <a:spcPts val="2553"/>
              </a:lnSpc>
              <a:spcBef>
                <a:spcPct val="0"/>
              </a:spcBef>
            </a:pPr>
            <a:r>
              <a:rPr lang="en-US" sz="2300">
                <a:solidFill>
                  <a:srgbClr val="000000"/>
                </a:solidFill>
                <a:latin typeface="DM Sans"/>
                <a:ea typeface="DM Sans"/>
                <a:cs typeface="DM Sans"/>
                <a:sym typeface="DM Sans"/>
              </a:rPr>
              <a:t>MRV – Minimum Remaining Values:</a:t>
            </a:r>
          </a:p>
          <a:p>
            <a:pPr algn="l">
              <a:lnSpc>
                <a:spcPts val="2553"/>
              </a:lnSpc>
              <a:spcBef>
                <a:spcPct val="0"/>
              </a:spcBef>
            </a:pPr>
            <a:r>
              <a:rPr lang="en-US" sz="2300">
                <a:solidFill>
                  <a:srgbClr val="000000"/>
                </a:solidFill>
                <a:latin typeface="DM Sans"/>
                <a:ea typeface="DM Sans"/>
                <a:cs typeface="DM Sans"/>
                <a:sym typeface="DM Sans"/>
              </a:rPr>
              <a:t>Khi chọn đỉnh để tô, ta chọn đỉnh có ít lựa chọn màu hợp lệ nhất trước.</a:t>
            </a:r>
          </a:p>
          <a:p>
            <a:pPr algn="l">
              <a:lnSpc>
                <a:spcPts val="2553"/>
              </a:lnSpc>
              <a:spcBef>
                <a:spcPct val="0"/>
              </a:spcBef>
            </a:pPr>
            <a:r>
              <a:rPr lang="en-US" sz="2300">
                <a:solidFill>
                  <a:srgbClr val="000000"/>
                </a:solidFill>
                <a:latin typeface="DM Sans"/>
                <a:ea typeface="DM Sans"/>
                <a:cs typeface="DM Sans"/>
                <a:sym typeface="DM Sans"/>
              </a:rPr>
              <a:t>Mục đích: xử lý trước các đỉnh “khó”, giúp giảm số lần quay lui.</a:t>
            </a:r>
          </a:p>
          <a:p>
            <a:pPr algn="l">
              <a:lnSpc>
                <a:spcPts val="2553"/>
              </a:lnSpc>
              <a:spcBef>
                <a:spcPct val="0"/>
              </a:spcBef>
            </a:pPr>
            <a:r>
              <a:rPr lang="en-US" sz="2300">
                <a:solidFill>
                  <a:srgbClr val="000000"/>
                </a:solidFill>
                <a:latin typeface="DM Sans"/>
                <a:ea typeface="DM Sans"/>
                <a:cs typeface="DM Sans"/>
                <a:sym typeface="DM Sans"/>
              </a:rPr>
              <a:t>LCV – Least Constraining Value:</a:t>
            </a:r>
          </a:p>
          <a:p>
            <a:pPr algn="l">
              <a:lnSpc>
                <a:spcPts val="2553"/>
              </a:lnSpc>
              <a:spcBef>
                <a:spcPct val="0"/>
              </a:spcBef>
            </a:pPr>
            <a:r>
              <a:rPr lang="en-US" sz="2300">
                <a:solidFill>
                  <a:srgbClr val="000000"/>
                </a:solidFill>
                <a:latin typeface="DM Sans"/>
                <a:ea typeface="DM Sans"/>
                <a:cs typeface="DM Sans"/>
                <a:sym typeface="DM Sans"/>
              </a:rPr>
              <a:t>Khi chọn màu cho đỉnh, ta chọn màu ít làm giảm miền giá trị (domain) của các đỉnh lân cận nhất.</a:t>
            </a:r>
          </a:p>
          <a:p>
            <a:pPr algn="l">
              <a:lnSpc>
                <a:spcPts val="2553"/>
              </a:lnSpc>
              <a:spcBef>
                <a:spcPct val="0"/>
              </a:spcBef>
            </a:pPr>
            <a:r>
              <a:rPr lang="en-US" sz="2300">
                <a:solidFill>
                  <a:srgbClr val="000000"/>
                </a:solidFill>
                <a:latin typeface="DM Sans"/>
                <a:ea typeface="DM Sans"/>
                <a:cs typeface="DM Sans"/>
                <a:sym typeface="DM Sans"/>
              </a:rPr>
              <a:t>Mục đích: giữ cho các đỉnh còn lại có nhiều lựa chọn hơn, giảm xung đột sau này.</a:t>
            </a:r>
          </a:p>
          <a:p>
            <a:pPr algn="l">
              <a:lnSpc>
                <a:spcPts val="2553"/>
              </a:lnSpc>
              <a:spcBef>
                <a:spcPct val="0"/>
              </a:spcBef>
            </a:pPr>
            <a:r>
              <a:rPr lang="en-US" sz="2300">
                <a:solidFill>
                  <a:srgbClr val="000000"/>
                </a:solidFill>
                <a:latin typeface="DM Sans"/>
                <a:ea typeface="DM Sans"/>
                <a:cs typeface="DM Sans"/>
                <a:sym typeface="DM Sans"/>
              </a:rPr>
              <a:t>Forward Checking:</a:t>
            </a:r>
          </a:p>
          <a:p>
            <a:pPr algn="l">
              <a:lnSpc>
                <a:spcPts val="2553"/>
              </a:lnSpc>
              <a:spcBef>
                <a:spcPct val="0"/>
              </a:spcBef>
            </a:pPr>
            <a:r>
              <a:rPr lang="en-US" sz="2300">
                <a:solidFill>
                  <a:srgbClr val="000000"/>
                </a:solidFill>
                <a:latin typeface="DM Sans"/>
                <a:ea typeface="DM Sans"/>
                <a:cs typeface="DM Sans"/>
                <a:sym typeface="DM Sans"/>
              </a:rPr>
              <a:t>Sau khi gán màu cho một đỉnh, ta tạm thời loại bỏ màu đó khỏi domain của các đỉnh kề.</a:t>
            </a:r>
          </a:p>
          <a:p>
            <a:pPr algn="l">
              <a:lnSpc>
                <a:spcPts val="2553"/>
              </a:lnSpc>
              <a:spcBef>
                <a:spcPct val="0"/>
              </a:spcBef>
            </a:pPr>
            <a:r>
              <a:rPr lang="en-US" sz="2300">
                <a:solidFill>
                  <a:srgbClr val="000000"/>
                </a:solidFill>
                <a:latin typeface="DM Sans"/>
                <a:ea typeface="DM Sans"/>
                <a:cs typeface="DM Sans"/>
                <a:sym typeface="DM Sans"/>
              </a:rPr>
              <a:t>Nếu có đỉnh nào còn lại không thể nhận bất kỳ màu nào nữa, thuật toán quay lui ngay mà không cần tô tiếp.</a:t>
            </a:r>
          </a:p>
          <a:p>
            <a:pPr algn="l">
              <a:lnSpc>
                <a:spcPts val="2553"/>
              </a:lnSpc>
              <a:spcBef>
                <a:spcPct val="0"/>
              </a:spcBef>
            </a:pPr>
            <a:r>
              <a:rPr lang="en-US" sz="2300">
                <a:solidFill>
                  <a:srgbClr val="000000"/>
                </a:solidFill>
                <a:latin typeface="DM Sans"/>
                <a:ea typeface="DM Sans"/>
                <a:cs typeface="DM Sans"/>
                <a:sym typeface="DM Sans"/>
              </a:rPr>
              <a:t>Mục đích: phát hiện xung đột sớm → tiết kiệm thời gian.</a:t>
            </a:r>
          </a:p>
        </p:txBody>
      </p:sp>
      <p:sp>
        <p:nvSpPr>
          <p:cNvPr name="TextBox 12" id="12"/>
          <p:cNvSpPr txBox="true"/>
          <p:nvPr/>
        </p:nvSpPr>
        <p:spPr>
          <a:xfrm rot="0">
            <a:off x="655072" y="7399686"/>
            <a:ext cx="7497961" cy="2598041"/>
          </a:xfrm>
          <a:prstGeom prst="rect">
            <a:avLst/>
          </a:prstGeom>
        </p:spPr>
        <p:txBody>
          <a:bodyPr anchor="t" rtlCol="false" tIns="0" lIns="0" bIns="0" rIns="0">
            <a:spAutoFit/>
          </a:bodyPr>
          <a:lstStyle/>
          <a:p>
            <a:pPr algn="l">
              <a:lnSpc>
                <a:spcPts val="2553"/>
              </a:lnSpc>
              <a:spcBef>
                <a:spcPct val="0"/>
              </a:spcBef>
            </a:pPr>
            <a:r>
              <a:rPr lang="en-US" sz="2300">
                <a:solidFill>
                  <a:srgbClr val="000000"/>
                </a:solidFill>
                <a:latin typeface="DM Sans"/>
                <a:ea typeface="DM Sans"/>
                <a:cs typeface="DM Sans"/>
                <a:sym typeface="DM Sans"/>
              </a:rPr>
              <a:t>Khởi tạo domain cho tất cả các đỉnh (toàn bộ tập màu).</a:t>
            </a:r>
          </a:p>
          <a:p>
            <a:pPr algn="l">
              <a:lnSpc>
                <a:spcPts val="2553"/>
              </a:lnSpc>
              <a:spcBef>
                <a:spcPct val="0"/>
              </a:spcBef>
            </a:pPr>
            <a:r>
              <a:rPr lang="en-US" sz="2300">
                <a:solidFill>
                  <a:srgbClr val="000000"/>
                </a:solidFill>
                <a:latin typeface="DM Sans"/>
                <a:ea typeface="DM Sans"/>
                <a:cs typeface="DM Sans"/>
                <a:sym typeface="DM Sans"/>
              </a:rPr>
              <a:t>Chọn đỉnh tiếp theo theo MRV.</a:t>
            </a:r>
          </a:p>
          <a:p>
            <a:pPr algn="l">
              <a:lnSpc>
                <a:spcPts val="2553"/>
              </a:lnSpc>
              <a:spcBef>
                <a:spcPct val="0"/>
              </a:spcBef>
            </a:pPr>
            <a:r>
              <a:rPr lang="en-US" sz="2300">
                <a:solidFill>
                  <a:srgbClr val="000000"/>
                </a:solidFill>
                <a:latin typeface="DM Sans"/>
                <a:ea typeface="DM Sans"/>
                <a:cs typeface="DM Sans"/>
                <a:sym typeface="DM Sans"/>
              </a:rPr>
              <a:t>Với mỗi màu theo thứ tự LCV:</a:t>
            </a:r>
          </a:p>
          <a:p>
            <a:pPr algn="l">
              <a:lnSpc>
                <a:spcPts val="2553"/>
              </a:lnSpc>
              <a:spcBef>
                <a:spcPct val="0"/>
              </a:spcBef>
            </a:pPr>
            <a:r>
              <a:rPr lang="en-US" sz="2300">
                <a:solidFill>
                  <a:srgbClr val="000000"/>
                </a:solidFill>
                <a:latin typeface="DM Sans"/>
                <a:ea typeface="DM Sans"/>
                <a:cs typeface="DM Sans"/>
                <a:sym typeface="DM Sans"/>
              </a:rPr>
              <a:t>Gán màu tạm thời.</a:t>
            </a:r>
          </a:p>
          <a:p>
            <a:pPr algn="l">
              <a:lnSpc>
                <a:spcPts val="2553"/>
              </a:lnSpc>
              <a:spcBef>
                <a:spcPct val="0"/>
              </a:spcBef>
            </a:pPr>
            <a:r>
              <a:rPr lang="en-US" sz="2300">
                <a:solidFill>
                  <a:srgbClr val="000000"/>
                </a:solidFill>
                <a:latin typeface="DM Sans"/>
                <a:ea typeface="DM Sans"/>
                <a:cs typeface="DM Sans"/>
                <a:sym typeface="DM Sans"/>
              </a:rPr>
              <a:t>Thực hiện forward checking.</a:t>
            </a:r>
          </a:p>
          <a:p>
            <a:pPr algn="l">
              <a:lnSpc>
                <a:spcPts val="2553"/>
              </a:lnSpc>
              <a:spcBef>
                <a:spcPct val="0"/>
              </a:spcBef>
            </a:pPr>
            <a:r>
              <a:rPr lang="en-US" sz="2300">
                <a:solidFill>
                  <a:srgbClr val="000000"/>
                </a:solidFill>
                <a:latin typeface="DM Sans"/>
                <a:ea typeface="DM Sans"/>
                <a:cs typeface="DM Sans"/>
                <a:sym typeface="DM Sans"/>
              </a:rPr>
              <a:t>Nếu không vi phạm, đệ quy sang đỉnh tiếp theo.</a:t>
            </a:r>
          </a:p>
          <a:p>
            <a:pPr algn="l">
              <a:lnSpc>
                <a:spcPts val="2553"/>
              </a:lnSpc>
              <a:spcBef>
                <a:spcPct val="0"/>
              </a:spcBef>
            </a:pPr>
            <a:r>
              <a:rPr lang="en-US" sz="2300">
                <a:solidFill>
                  <a:srgbClr val="000000"/>
                </a:solidFill>
                <a:latin typeface="DM Sans"/>
                <a:ea typeface="DM Sans"/>
                <a:cs typeface="DM Sans"/>
                <a:sym typeface="DM Sans"/>
              </a:rPr>
              <a:t>Nếu toàn bộ đỉnh được tô thành công → trả về nghiệm.</a:t>
            </a:r>
          </a:p>
          <a:p>
            <a:pPr algn="l">
              <a:lnSpc>
                <a:spcPts val="2553"/>
              </a:lnSpc>
              <a:spcBef>
                <a:spcPct val="0"/>
              </a:spcBef>
            </a:pPr>
            <a:r>
              <a:rPr lang="en-US" sz="2300">
                <a:solidFill>
                  <a:srgbClr val="000000"/>
                </a:solidFill>
                <a:latin typeface="DM Sans"/>
                <a:ea typeface="DM Sans"/>
                <a:cs typeface="DM Sans"/>
                <a:sym typeface="DM Sans"/>
              </a:rPr>
              <a:t>Nếu không, hoàn tác và thử màu khác.</a:t>
            </a: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55072" y="364405"/>
            <a:ext cx="14980874" cy="531496"/>
          </a:xfrm>
          <a:prstGeom prst="rect">
            <a:avLst/>
          </a:prstGeom>
        </p:spPr>
        <p:txBody>
          <a:bodyPr anchor="t" rtlCol="false" tIns="0" lIns="0" bIns="0" rIns="0">
            <a:spAutoFit/>
          </a:bodyPr>
          <a:lstStyle/>
          <a:p>
            <a:pPr algn="l">
              <a:lnSpc>
                <a:spcPts val="3465"/>
              </a:lnSpc>
            </a:pPr>
            <a:r>
              <a:rPr lang="en-US" b="true" sz="3500">
                <a:solidFill>
                  <a:srgbClr val="227C9D"/>
                </a:solidFill>
                <a:latin typeface="Kollektif Bold"/>
                <a:ea typeface="Kollektif Bold"/>
                <a:cs typeface="Kollektif Bold"/>
                <a:sym typeface="Kollektif Bold"/>
              </a:rPr>
              <a:t>THUẬT TOÁN HILL CLIMBING (MIN-CONFLICTS)</a:t>
            </a:r>
          </a:p>
        </p:txBody>
      </p:sp>
      <p:grpSp>
        <p:nvGrpSpPr>
          <p:cNvPr name="Group 3" id="3"/>
          <p:cNvGrpSpPr/>
          <p:nvPr/>
        </p:nvGrpSpPr>
        <p:grpSpPr>
          <a:xfrm rot="0">
            <a:off x="655072" y="1028700"/>
            <a:ext cx="2187457" cy="655044"/>
            <a:chOff x="0" y="0"/>
            <a:chExt cx="904025" cy="270714"/>
          </a:xfrm>
        </p:grpSpPr>
        <p:sp>
          <p:nvSpPr>
            <p:cNvPr name="Freeform 4" id="4"/>
            <p:cNvSpPr/>
            <p:nvPr/>
          </p:nvSpPr>
          <p:spPr>
            <a:xfrm flipH="false" flipV="false" rot="0">
              <a:off x="0" y="0"/>
              <a:ext cx="904025" cy="270714"/>
            </a:xfrm>
            <a:custGeom>
              <a:avLst/>
              <a:gdLst/>
              <a:ahLst/>
              <a:cxnLst/>
              <a:rect r="r" b="b" t="t" l="l"/>
              <a:pathLst>
                <a:path h="270714" w="904025">
                  <a:moveTo>
                    <a:pt x="135357" y="0"/>
                  </a:moveTo>
                  <a:lnTo>
                    <a:pt x="768668" y="0"/>
                  </a:lnTo>
                  <a:cubicBezTo>
                    <a:pt x="804567" y="0"/>
                    <a:pt x="838995" y="14261"/>
                    <a:pt x="864380" y="39645"/>
                  </a:cubicBezTo>
                  <a:cubicBezTo>
                    <a:pt x="889764" y="65030"/>
                    <a:pt x="904025" y="99458"/>
                    <a:pt x="904025" y="135357"/>
                  </a:cubicBezTo>
                  <a:lnTo>
                    <a:pt x="904025" y="135357"/>
                  </a:lnTo>
                  <a:cubicBezTo>
                    <a:pt x="904025" y="210113"/>
                    <a:pt x="843423" y="270714"/>
                    <a:pt x="768668" y="270714"/>
                  </a:cubicBezTo>
                  <a:lnTo>
                    <a:pt x="135357" y="270714"/>
                  </a:lnTo>
                  <a:cubicBezTo>
                    <a:pt x="99458" y="270714"/>
                    <a:pt x="65030" y="256454"/>
                    <a:pt x="39645" y="231069"/>
                  </a:cubicBezTo>
                  <a:cubicBezTo>
                    <a:pt x="14261" y="205685"/>
                    <a:pt x="0" y="171256"/>
                    <a:pt x="0" y="135357"/>
                  </a:cubicBezTo>
                  <a:lnTo>
                    <a:pt x="0" y="135357"/>
                  </a:lnTo>
                  <a:cubicBezTo>
                    <a:pt x="0" y="99458"/>
                    <a:pt x="14261" y="65030"/>
                    <a:pt x="39645" y="39645"/>
                  </a:cubicBezTo>
                  <a:cubicBezTo>
                    <a:pt x="65030" y="14261"/>
                    <a:pt x="99458" y="0"/>
                    <a:pt x="135357" y="0"/>
                  </a:cubicBezTo>
                  <a:close/>
                </a:path>
              </a:pathLst>
            </a:custGeom>
            <a:solidFill>
              <a:srgbClr val="FE6D73"/>
            </a:solidFill>
          </p:spPr>
        </p:sp>
        <p:sp>
          <p:nvSpPr>
            <p:cNvPr name="TextBox 5" id="5"/>
            <p:cNvSpPr txBox="true"/>
            <p:nvPr/>
          </p:nvSpPr>
          <p:spPr>
            <a:xfrm>
              <a:off x="0" y="19050"/>
              <a:ext cx="904025" cy="251664"/>
            </a:xfrm>
            <a:prstGeom prst="rect">
              <a:avLst/>
            </a:prstGeom>
          </p:spPr>
          <p:txBody>
            <a:bodyPr anchor="ctr" rtlCol="false" tIns="50800" lIns="50800" bIns="50800" rIns="50800"/>
            <a:lstStyle/>
            <a:p>
              <a:pPr algn="ctr">
                <a:lnSpc>
                  <a:spcPts val="2553"/>
                </a:lnSpc>
              </a:pPr>
            </a:p>
          </p:txBody>
        </p:sp>
      </p:grpSp>
      <p:grpSp>
        <p:nvGrpSpPr>
          <p:cNvPr name="Group 6" id="6"/>
          <p:cNvGrpSpPr/>
          <p:nvPr/>
        </p:nvGrpSpPr>
        <p:grpSpPr>
          <a:xfrm rot="0">
            <a:off x="655072" y="2545162"/>
            <a:ext cx="4035207" cy="685985"/>
            <a:chOff x="0" y="0"/>
            <a:chExt cx="1592438" cy="270714"/>
          </a:xfrm>
        </p:grpSpPr>
        <p:sp>
          <p:nvSpPr>
            <p:cNvPr name="Freeform 7" id="7"/>
            <p:cNvSpPr/>
            <p:nvPr/>
          </p:nvSpPr>
          <p:spPr>
            <a:xfrm flipH="false" flipV="false" rot="0">
              <a:off x="0" y="0"/>
              <a:ext cx="1592438" cy="270714"/>
            </a:xfrm>
            <a:custGeom>
              <a:avLst/>
              <a:gdLst/>
              <a:ahLst/>
              <a:cxnLst/>
              <a:rect r="r" b="b" t="t" l="l"/>
              <a:pathLst>
                <a:path h="270714" w="1592438">
                  <a:moveTo>
                    <a:pt x="97848" y="0"/>
                  </a:moveTo>
                  <a:lnTo>
                    <a:pt x="1494589" y="0"/>
                  </a:lnTo>
                  <a:cubicBezTo>
                    <a:pt x="1520540" y="0"/>
                    <a:pt x="1545428" y="10309"/>
                    <a:pt x="1563778" y="28659"/>
                  </a:cubicBezTo>
                  <a:cubicBezTo>
                    <a:pt x="1582129" y="47009"/>
                    <a:pt x="1592438" y="71897"/>
                    <a:pt x="1592438" y="97848"/>
                  </a:cubicBezTo>
                  <a:lnTo>
                    <a:pt x="1592438" y="172866"/>
                  </a:lnTo>
                  <a:cubicBezTo>
                    <a:pt x="1592438" y="198817"/>
                    <a:pt x="1582129" y="223705"/>
                    <a:pt x="1563778" y="242055"/>
                  </a:cubicBezTo>
                  <a:cubicBezTo>
                    <a:pt x="1545428" y="260405"/>
                    <a:pt x="1520540" y="270714"/>
                    <a:pt x="1494589" y="270714"/>
                  </a:cubicBezTo>
                  <a:lnTo>
                    <a:pt x="97848" y="270714"/>
                  </a:lnTo>
                  <a:cubicBezTo>
                    <a:pt x="71897" y="270714"/>
                    <a:pt x="47009" y="260405"/>
                    <a:pt x="28659" y="242055"/>
                  </a:cubicBezTo>
                  <a:cubicBezTo>
                    <a:pt x="10309" y="223705"/>
                    <a:pt x="0" y="198817"/>
                    <a:pt x="0" y="172866"/>
                  </a:cubicBezTo>
                  <a:lnTo>
                    <a:pt x="0" y="97848"/>
                  </a:lnTo>
                  <a:cubicBezTo>
                    <a:pt x="0" y="71897"/>
                    <a:pt x="10309" y="47009"/>
                    <a:pt x="28659" y="28659"/>
                  </a:cubicBezTo>
                  <a:cubicBezTo>
                    <a:pt x="47009" y="10309"/>
                    <a:pt x="71897" y="0"/>
                    <a:pt x="97848" y="0"/>
                  </a:cubicBezTo>
                  <a:close/>
                </a:path>
              </a:pathLst>
            </a:custGeom>
            <a:solidFill>
              <a:srgbClr val="FFCB77"/>
            </a:solidFill>
          </p:spPr>
        </p:sp>
        <p:sp>
          <p:nvSpPr>
            <p:cNvPr name="TextBox 8" id="8"/>
            <p:cNvSpPr txBox="true"/>
            <p:nvPr/>
          </p:nvSpPr>
          <p:spPr>
            <a:xfrm>
              <a:off x="0" y="19050"/>
              <a:ext cx="1592438" cy="251664"/>
            </a:xfrm>
            <a:prstGeom prst="rect">
              <a:avLst/>
            </a:prstGeom>
          </p:spPr>
          <p:txBody>
            <a:bodyPr anchor="ctr" rtlCol="false" tIns="50800" lIns="50800" bIns="50800" rIns="50800"/>
            <a:lstStyle/>
            <a:p>
              <a:pPr algn="ctr">
                <a:lnSpc>
                  <a:spcPts val="2553"/>
                </a:lnSpc>
              </a:pPr>
            </a:p>
          </p:txBody>
        </p:sp>
      </p:grpSp>
      <p:sp>
        <p:nvSpPr>
          <p:cNvPr name="TextBox 9" id="9"/>
          <p:cNvSpPr txBox="true"/>
          <p:nvPr/>
        </p:nvSpPr>
        <p:spPr>
          <a:xfrm rot="0">
            <a:off x="874024" y="1153465"/>
            <a:ext cx="2642362" cy="717707"/>
          </a:xfrm>
          <a:prstGeom prst="rect">
            <a:avLst/>
          </a:prstGeom>
        </p:spPr>
        <p:txBody>
          <a:bodyPr anchor="t" rtlCol="false" tIns="0" lIns="0" bIns="0" rIns="0">
            <a:spAutoFit/>
          </a:bodyPr>
          <a:lstStyle/>
          <a:p>
            <a:pPr algn="l">
              <a:lnSpc>
                <a:spcPts val="2549"/>
              </a:lnSpc>
            </a:pPr>
            <a:r>
              <a:rPr lang="en-US" sz="2549" b="true">
                <a:solidFill>
                  <a:srgbClr val="FFFFFF"/>
                </a:solidFill>
                <a:latin typeface="Kollektif Bold"/>
                <a:ea typeface="Kollektif Bold"/>
                <a:cs typeface="Kollektif Bold"/>
                <a:sym typeface="Kollektif Bold"/>
              </a:rPr>
              <a:t>MỤC TIÊU:</a:t>
            </a:r>
          </a:p>
          <a:p>
            <a:pPr algn="l">
              <a:lnSpc>
                <a:spcPts val="2549"/>
              </a:lnSpc>
            </a:pPr>
          </a:p>
        </p:txBody>
      </p:sp>
      <p:sp>
        <p:nvSpPr>
          <p:cNvPr name="TextBox 10" id="10"/>
          <p:cNvSpPr txBox="true"/>
          <p:nvPr/>
        </p:nvSpPr>
        <p:spPr>
          <a:xfrm rot="0">
            <a:off x="885237" y="2799428"/>
            <a:ext cx="3574878" cy="660320"/>
          </a:xfrm>
          <a:prstGeom prst="rect">
            <a:avLst/>
          </a:prstGeom>
        </p:spPr>
        <p:txBody>
          <a:bodyPr anchor="t" rtlCol="false" tIns="0" lIns="0" bIns="0" rIns="0">
            <a:spAutoFit/>
          </a:bodyPr>
          <a:lstStyle/>
          <a:p>
            <a:pPr algn="l">
              <a:lnSpc>
                <a:spcPts val="2342"/>
              </a:lnSpc>
            </a:pPr>
            <a:r>
              <a:rPr lang="en-US" sz="2342" b="true">
                <a:solidFill>
                  <a:srgbClr val="FFFFFF"/>
                </a:solidFill>
                <a:latin typeface="Kollektif Bold"/>
                <a:ea typeface="Kollektif Bold"/>
                <a:cs typeface="Kollektif Bold"/>
                <a:sym typeface="Kollektif Bold"/>
              </a:rPr>
              <a:t>NGUYÊN LÝ HOẠT ĐỘNG:</a:t>
            </a:r>
          </a:p>
          <a:p>
            <a:pPr algn="l">
              <a:lnSpc>
                <a:spcPts val="2342"/>
              </a:lnSpc>
            </a:pPr>
          </a:p>
        </p:txBody>
      </p:sp>
      <p:sp>
        <p:nvSpPr>
          <p:cNvPr name="TextBox 11" id="11"/>
          <p:cNvSpPr txBox="true"/>
          <p:nvPr/>
        </p:nvSpPr>
        <p:spPr>
          <a:xfrm rot="0">
            <a:off x="655072" y="1899746"/>
            <a:ext cx="15759507" cy="767769"/>
          </a:xfrm>
          <a:prstGeom prst="rect">
            <a:avLst/>
          </a:prstGeom>
        </p:spPr>
        <p:txBody>
          <a:bodyPr anchor="t" rtlCol="false" tIns="0" lIns="0" bIns="0" rIns="0">
            <a:spAutoFit/>
          </a:bodyPr>
          <a:lstStyle/>
          <a:p>
            <a:pPr algn="l">
              <a:lnSpc>
                <a:spcPts val="3049"/>
              </a:lnSpc>
              <a:spcBef>
                <a:spcPct val="0"/>
              </a:spcBef>
            </a:pPr>
            <a:r>
              <a:rPr lang="en-US" sz="2747">
                <a:solidFill>
                  <a:srgbClr val="000000"/>
                </a:solidFill>
                <a:latin typeface="DM Sans"/>
                <a:ea typeface="DM Sans"/>
                <a:cs typeface="DM Sans"/>
                <a:sym typeface="DM Sans"/>
              </a:rPr>
              <a:t>Giải</a:t>
            </a:r>
            <a:r>
              <a:rPr lang="en-US" sz="2747">
                <a:solidFill>
                  <a:srgbClr val="000000"/>
                </a:solidFill>
                <a:latin typeface="DM Sans"/>
                <a:ea typeface="DM Sans"/>
                <a:cs typeface="DM Sans"/>
                <a:sym typeface="DM Sans"/>
              </a:rPr>
              <a:t> quyết cùng bài toán tô màu đồ thị nhưng bằng tìm kiếm cục bộ (local search) thay vì quay lui.</a:t>
            </a:r>
          </a:p>
          <a:p>
            <a:pPr algn="l">
              <a:lnSpc>
                <a:spcPts val="3049"/>
              </a:lnSpc>
              <a:spcBef>
                <a:spcPct val="0"/>
              </a:spcBef>
            </a:pPr>
          </a:p>
        </p:txBody>
      </p:sp>
      <p:sp>
        <p:nvSpPr>
          <p:cNvPr name="TextBox 12" id="12"/>
          <p:cNvSpPr txBox="true"/>
          <p:nvPr/>
        </p:nvSpPr>
        <p:spPr>
          <a:xfrm rot="0">
            <a:off x="655072" y="3819908"/>
            <a:ext cx="16604228" cy="3082912"/>
          </a:xfrm>
          <a:prstGeom prst="rect">
            <a:avLst/>
          </a:prstGeom>
        </p:spPr>
        <p:txBody>
          <a:bodyPr anchor="t" rtlCol="false" tIns="0" lIns="0" bIns="0" rIns="0">
            <a:spAutoFit/>
          </a:bodyPr>
          <a:lstStyle/>
          <a:p>
            <a:pPr algn="l">
              <a:lnSpc>
                <a:spcPts val="3069"/>
              </a:lnSpc>
              <a:spcBef>
                <a:spcPct val="0"/>
              </a:spcBef>
            </a:pPr>
            <a:r>
              <a:rPr lang="en-US" sz="2765">
                <a:solidFill>
                  <a:srgbClr val="000000"/>
                </a:solidFill>
                <a:latin typeface="DM Sans"/>
                <a:ea typeface="DM Sans"/>
                <a:cs typeface="DM Sans"/>
                <a:sym typeface="DM Sans"/>
              </a:rPr>
              <a:t>Khởi tạo: Tô ngẫu nhiên các màu cho tất cả các đỉnh.</a:t>
            </a:r>
          </a:p>
          <a:p>
            <a:pPr algn="l">
              <a:lnSpc>
                <a:spcPts val="3069"/>
              </a:lnSpc>
              <a:spcBef>
                <a:spcPct val="0"/>
              </a:spcBef>
            </a:pPr>
            <a:r>
              <a:rPr lang="en-US" sz="2765">
                <a:solidFill>
                  <a:srgbClr val="000000"/>
                </a:solidFill>
                <a:latin typeface="DM Sans"/>
                <a:ea typeface="DM Sans"/>
                <a:cs typeface="DM Sans"/>
                <a:sym typeface="DM Sans"/>
              </a:rPr>
              <a:t>Lặp lại:</a:t>
            </a:r>
          </a:p>
          <a:p>
            <a:pPr algn="l">
              <a:lnSpc>
                <a:spcPts val="3069"/>
              </a:lnSpc>
              <a:spcBef>
                <a:spcPct val="0"/>
              </a:spcBef>
            </a:pPr>
            <a:r>
              <a:rPr lang="en-US" sz="2765">
                <a:solidFill>
                  <a:srgbClr val="000000"/>
                </a:solidFill>
                <a:latin typeface="DM Sans"/>
                <a:ea typeface="DM Sans"/>
                <a:cs typeface="DM Sans"/>
                <a:sym typeface="DM Sans"/>
              </a:rPr>
              <a:t>Kiểm tra số xung đột (đỉnh có cùng màu với đỉnh kề).</a:t>
            </a:r>
          </a:p>
          <a:p>
            <a:pPr algn="l">
              <a:lnSpc>
                <a:spcPts val="3069"/>
              </a:lnSpc>
              <a:spcBef>
                <a:spcPct val="0"/>
              </a:spcBef>
            </a:pPr>
            <a:r>
              <a:rPr lang="en-US" sz="2765">
                <a:solidFill>
                  <a:srgbClr val="000000"/>
                </a:solidFill>
                <a:latin typeface="DM Sans"/>
                <a:ea typeface="DM Sans"/>
                <a:cs typeface="DM Sans"/>
                <a:sym typeface="DM Sans"/>
              </a:rPr>
              <a:t>Chọn ngẫu nhiên một đỉnh đang gây xung đột.</a:t>
            </a:r>
          </a:p>
          <a:p>
            <a:pPr algn="l">
              <a:lnSpc>
                <a:spcPts val="3069"/>
              </a:lnSpc>
              <a:spcBef>
                <a:spcPct val="0"/>
              </a:spcBef>
            </a:pPr>
            <a:r>
              <a:rPr lang="en-US" sz="2765">
                <a:solidFill>
                  <a:srgbClr val="000000"/>
                </a:solidFill>
                <a:latin typeface="DM Sans"/>
                <a:ea typeface="DM Sans"/>
                <a:cs typeface="DM Sans"/>
                <a:sym typeface="DM Sans"/>
              </a:rPr>
              <a:t>Thay đổi màu của đỉnh này thành màu giảm số xung đột nhiều nhất (theo heuristic Min-Conflicts).</a:t>
            </a:r>
          </a:p>
          <a:p>
            <a:pPr algn="l">
              <a:lnSpc>
                <a:spcPts val="3069"/>
              </a:lnSpc>
              <a:spcBef>
                <a:spcPct val="0"/>
              </a:spcBef>
            </a:pPr>
            <a:r>
              <a:rPr lang="en-US" sz="2765">
                <a:solidFill>
                  <a:srgbClr val="000000"/>
                </a:solidFill>
                <a:latin typeface="DM Sans"/>
                <a:ea typeface="DM Sans"/>
                <a:cs typeface="DM Sans"/>
                <a:sym typeface="DM Sans"/>
              </a:rPr>
              <a:t>Nếu không thể cải thiện thêm (mắc kẹt cục bộ), thực hiện random restart — tô lại ngẫu nhiên và lặp lại.</a:t>
            </a:r>
          </a:p>
          <a:p>
            <a:pPr algn="l">
              <a:lnSpc>
                <a:spcPts val="3069"/>
              </a:lnSpc>
              <a:spcBef>
                <a:spcPct val="0"/>
              </a:spcBef>
            </a:pPr>
            <a:r>
              <a:rPr lang="en-US" sz="2765">
                <a:solidFill>
                  <a:srgbClr val="000000"/>
                </a:solidFill>
                <a:latin typeface="DM Sans"/>
                <a:ea typeface="DM Sans"/>
                <a:cs typeface="DM Sans"/>
                <a:sym typeface="DM Sans"/>
              </a:rPr>
              <a:t>Kết thúc: Khi đạt trạng thái không còn xung đột (giải pháp hợp lệ).</a:t>
            </a:r>
          </a:p>
          <a:p>
            <a:pPr algn="l">
              <a:lnSpc>
                <a:spcPts val="3069"/>
              </a:lnSpc>
              <a:spcBef>
                <a:spcPct val="0"/>
              </a:spcBef>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55072" y="1028700"/>
            <a:ext cx="2187457" cy="655044"/>
            <a:chOff x="0" y="0"/>
            <a:chExt cx="904025" cy="270714"/>
          </a:xfrm>
        </p:grpSpPr>
        <p:sp>
          <p:nvSpPr>
            <p:cNvPr name="Freeform 3" id="3"/>
            <p:cNvSpPr/>
            <p:nvPr/>
          </p:nvSpPr>
          <p:spPr>
            <a:xfrm flipH="false" flipV="false" rot="0">
              <a:off x="0" y="0"/>
              <a:ext cx="904025" cy="270714"/>
            </a:xfrm>
            <a:custGeom>
              <a:avLst/>
              <a:gdLst/>
              <a:ahLst/>
              <a:cxnLst/>
              <a:rect r="r" b="b" t="t" l="l"/>
              <a:pathLst>
                <a:path h="270714" w="904025">
                  <a:moveTo>
                    <a:pt x="135357" y="0"/>
                  </a:moveTo>
                  <a:lnTo>
                    <a:pt x="768668" y="0"/>
                  </a:lnTo>
                  <a:cubicBezTo>
                    <a:pt x="804567" y="0"/>
                    <a:pt x="838995" y="14261"/>
                    <a:pt x="864380" y="39645"/>
                  </a:cubicBezTo>
                  <a:cubicBezTo>
                    <a:pt x="889764" y="65030"/>
                    <a:pt x="904025" y="99458"/>
                    <a:pt x="904025" y="135357"/>
                  </a:cubicBezTo>
                  <a:lnTo>
                    <a:pt x="904025" y="135357"/>
                  </a:lnTo>
                  <a:cubicBezTo>
                    <a:pt x="904025" y="210113"/>
                    <a:pt x="843423" y="270714"/>
                    <a:pt x="768668" y="270714"/>
                  </a:cubicBezTo>
                  <a:lnTo>
                    <a:pt x="135357" y="270714"/>
                  </a:lnTo>
                  <a:cubicBezTo>
                    <a:pt x="99458" y="270714"/>
                    <a:pt x="65030" y="256454"/>
                    <a:pt x="39645" y="231069"/>
                  </a:cubicBezTo>
                  <a:cubicBezTo>
                    <a:pt x="14261" y="205685"/>
                    <a:pt x="0" y="171256"/>
                    <a:pt x="0" y="135357"/>
                  </a:cubicBezTo>
                  <a:lnTo>
                    <a:pt x="0" y="135357"/>
                  </a:lnTo>
                  <a:cubicBezTo>
                    <a:pt x="0" y="99458"/>
                    <a:pt x="14261" y="65030"/>
                    <a:pt x="39645" y="39645"/>
                  </a:cubicBezTo>
                  <a:cubicBezTo>
                    <a:pt x="65030" y="14261"/>
                    <a:pt x="99458" y="0"/>
                    <a:pt x="135357" y="0"/>
                  </a:cubicBezTo>
                  <a:close/>
                </a:path>
              </a:pathLst>
            </a:custGeom>
            <a:solidFill>
              <a:srgbClr val="FE6D73"/>
            </a:solidFill>
          </p:spPr>
        </p:sp>
        <p:sp>
          <p:nvSpPr>
            <p:cNvPr name="TextBox 4" id="4"/>
            <p:cNvSpPr txBox="true"/>
            <p:nvPr/>
          </p:nvSpPr>
          <p:spPr>
            <a:xfrm>
              <a:off x="0" y="19050"/>
              <a:ext cx="904025" cy="251664"/>
            </a:xfrm>
            <a:prstGeom prst="rect">
              <a:avLst/>
            </a:prstGeom>
          </p:spPr>
          <p:txBody>
            <a:bodyPr anchor="ctr" rtlCol="false" tIns="50800" lIns="50800" bIns="50800" rIns="50800"/>
            <a:lstStyle/>
            <a:p>
              <a:pPr algn="ctr">
                <a:lnSpc>
                  <a:spcPts val="2553"/>
                </a:lnSpc>
              </a:pPr>
            </a:p>
          </p:txBody>
        </p:sp>
      </p:grpSp>
      <p:sp>
        <p:nvSpPr>
          <p:cNvPr name="Freeform 5" id="5"/>
          <p:cNvSpPr/>
          <p:nvPr/>
        </p:nvSpPr>
        <p:spPr>
          <a:xfrm flipH="false" flipV="false" rot="0">
            <a:off x="4990246" y="7350182"/>
            <a:ext cx="7526040" cy="1148835"/>
          </a:xfrm>
          <a:custGeom>
            <a:avLst/>
            <a:gdLst/>
            <a:ahLst/>
            <a:cxnLst/>
            <a:rect r="r" b="b" t="t" l="l"/>
            <a:pathLst>
              <a:path h="1148835" w="7526040">
                <a:moveTo>
                  <a:pt x="0" y="0"/>
                </a:moveTo>
                <a:lnTo>
                  <a:pt x="7526040" y="0"/>
                </a:lnTo>
                <a:lnTo>
                  <a:pt x="7526040" y="1148835"/>
                </a:lnTo>
                <a:lnTo>
                  <a:pt x="0" y="1148835"/>
                </a:lnTo>
                <a:lnTo>
                  <a:pt x="0" y="0"/>
                </a:lnTo>
                <a:close/>
              </a:path>
            </a:pathLst>
          </a:custGeom>
          <a:blipFill>
            <a:blip r:embed="rId2"/>
            <a:stretch>
              <a:fillRect l="0" t="0" r="0" b="0"/>
            </a:stretch>
          </a:blipFill>
        </p:spPr>
      </p:sp>
      <p:sp>
        <p:nvSpPr>
          <p:cNvPr name="TextBox 6" id="6"/>
          <p:cNvSpPr txBox="true"/>
          <p:nvPr/>
        </p:nvSpPr>
        <p:spPr>
          <a:xfrm rot="0">
            <a:off x="655072" y="364405"/>
            <a:ext cx="14980874" cy="531496"/>
          </a:xfrm>
          <a:prstGeom prst="rect">
            <a:avLst/>
          </a:prstGeom>
        </p:spPr>
        <p:txBody>
          <a:bodyPr anchor="t" rtlCol="false" tIns="0" lIns="0" bIns="0" rIns="0">
            <a:spAutoFit/>
          </a:bodyPr>
          <a:lstStyle/>
          <a:p>
            <a:pPr algn="l">
              <a:lnSpc>
                <a:spcPts val="3465"/>
              </a:lnSpc>
            </a:pPr>
            <a:r>
              <a:rPr lang="en-US" b="true" sz="3500">
                <a:solidFill>
                  <a:srgbClr val="227C9D"/>
                </a:solidFill>
                <a:latin typeface="Kollektif Bold"/>
                <a:ea typeface="Kollektif Bold"/>
                <a:cs typeface="Kollektif Bold"/>
                <a:sym typeface="Kollektif Bold"/>
              </a:rPr>
              <a:t>EXPERIMENT RUNNER</a:t>
            </a:r>
          </a:p>
        </p:txBody>
      </p:sp>
      <p:sp>
        <p:nvSpPr>
          <p:cNvPr name="TextBox 7" id="7"/>
          <p:cNvSpPr txBox="true"/>
          <p:nvPr/>
        </p:nvSpPr>
        <p:spPr>
          <a:xfrm rot="0">
            <a:off x="874024" y="1153465"/>
            <a:ext cx="2642362" cy="717707"/>
          </a:xfrm>
          <a:prstGeom prst="rect">
            <a:avLst/>
          </a:prstGeom>
        </p:spPr>
        <p:txBody>
          <a:bodyPr anchor="t" rtlCol="false" tIns="0" lIns="0" bIns="0" rIns="0">
            <a:spAutoFit/>
          </a:bodyPr>
          <a:lstStyle/>
          <a:p>
            <a:pPr algn="l">
              <a:lnSpc>
                <a:spcPts val="2549"/>
              </a:lnSpc>
            </a:pPr>
            <a:r>
              <a:rPr lang="en-US" sz="2549" b="true">
                <a:solidFill>
                  <a:srgbClr val="FFFFFF"/>
                </a:solidFill>
                <a:latin typeface="Kollektif Bold"/>
                <a:ea typeface="Kollektif Bold"/>
                <a:cs typeface="Kollektif Bold"/>
                <a:sym typeface="Kollektif Bold"/>
              </a:rPr>
              <a:t>MỤC TIÊU:</a:t>
            </a:r>
          </a:p>
          <a:p>
            <a:pPr algn="l">
              <a:lnSpc>
                <a:spcPts val="2549"/>
              </a:lnSpc>
            </a:pPr>
          </a:p>
        </p:txBody>
      </p:sp>
      <p:sp>
        <p:nvSpPr>
          <p:cNvPr name="TextBox 8" id="8"/>
          <p:cNvSpPr txBox="true"/>
          <p:nvPr/>
        </p:nvSpPr>
        <p:spPr>
          <a:xfrm rot="0">
            <a:off x="655072" y="1890221"/>
            <a:ext cx="11675389" cy="853442"/>
          </a:xfrm>
          <a:prstGeom prst="rect">
            <a:avLst/>
          </a:prstGeom>
        </p:spPr>
        <p:txBody>
          <a:bodyPr anchor="t" rtlCol="false" tIns="0" lIns="0" bIns="0" rIns="0">
            <a:spAutoFit/>
          </a:bodyPr>
          <a:lstStyle/>
          <a:p>
            <a:pPr algn="l">
              <a:lnSpc>
                <a:spcPts val="3330"/>
              </a:lnSpc>
              <a:spcBef>
                <a:spcPct val="0"/>
              </a:spcBef>
            </a:pPr>
            <a:r>
              <a:rPr lang="en-US" sz="3000">
                <a:solidFill>
                  <a:srgbClr val="000000"/>
                </a:solidFill>
                <a:latin typeface="DM Sans"/>
                <a:ea typeface="DM Sans"/>
                <a:cs typeface="DM Sans"/>
                <a:sym typeface="DM Sans"/>
              </a:rPr>
              <a:t>S</a:t>
            </a:r>
            <a:r>
              <a:rPr lang="en-US" sz="3000">
                <a:solidFill>
                  <a:srgbClr val="000000"/>
                </a:solidFill>
                <a:latin typeface="DM Sans"/>
                <a:ea typeface="DM Sans"/>
                <a:cs typeface="DM Sans"/>
                <a:sym typeface="DM Sans"/>
              </a:rPr>
              <a:t>o sánh hiệu suất của các thuật toán khi số lượng đỉnh n tăng dần.</a:t>
            </a:r>
          </a:p>
          <a:p>
            <a:pPr algn="l">
              <a:lnSpc>
                <a:spcPts val="3330"/>
              </a:lnSpc>
              <a:spcBef>
                <a:spcPct val="0"/>
              </a:spcBef>
            </a:pPr>
          </a:p>
        </p:txBody>
      </p:sp>
      <p:sp>
        <p:nvSpPr>
          <p:cNvPr name="TextBox 9" id="9"/>
          <p:cNvSpPr txBox="true"/>
          <p:nvPr/>
        </p:nvSpPr>
        <p:spPr>
          <a:xfrm rot="0">
            <a:off x="655072" y="2724842"/>
            <a:ext cx="11244144" cy="4625340"/>
          </a:xfrm>
          <a:prstGeom prst="rect">
            <a:avLst/>
          </a:prstGeom>
        </p:spPr>
        <p:txBody>
          <a:bodyPr anchor="t" rtlCol="false" tIns="0" lIns="0" bIns="0" rIns="0">
            <a:spAutoFit/>
          </a:bodyPr>
          <a:lstStyle/>
          <a:p>
            <a:pPr algn="l">
              <a:lnSpc>
                <a:spcPts val="3330"/>
              </a:lnSpc>
              <a:spcBef>
                <a:spcPct val="0"/>
              </a:spcBef>
            </a:pPr>
            <a:r>
              <a:rPr lang="en-US" sz="3000">
                <a:solidFill>
                  <a:srgbClr val="000000"/>
                </a:solidFill>
                <a:latin typeface="DM Sans"/>
                <a:ea typeface="DM Sans"/>
                <a:cs typeface="DM Sans"/>
                <a:sym typeface="DM Sans"/>
              </a:rPr>
              <a:t>Sin</a:t>
            </a:r>
            <a:r>
              <a:rPr lang="en-US" sz="3000">
                <a:solidFill>
                  <a:srgbClr val="000000"/>
                </a:solidFill>
                <a:latin typeface="DM Sans"/>
                <a:ea typeface="DM Sans"/>
                <a:cs typeface="DM Sans"/>
                <a:sym typeface="DM Sans"/>
              </a:rPr>
              <a:t>h ngẫu nhiên nhiều đồ thị với n đỉnh và xác suất nối cạnh p.</a:t>
            </a:r>
          </a:p>
          <a:p>
            <a:pPr algn="l">
              <a:lnSpc>
                <a:spcPts val="3330"/>
              </a:lnSpc>
              <a:spcBef>
                <a:spcPct val="0"/>
              </a:spcBef>
            </a:pPr>
            <a:r>
              <a:rPr lang="en-US" sz="3000">
                <a:solidFill>
                  <a:srgbClr val="000000"/>
                </a:solidFill>
                <a:latin typeface="DM Sans"/>
                <a:ea typeface="DM Sans"/>
                <a:cs typeface="DM Sans"/>
                <a:sym typeface="DM Sans"/>
              </a:rPr>
              <a:t>Với mỗi đồ thị:</a:t>
            </a:r>
          </a:p>
          <a:p>
            <a:pPr algn="l">
              <a:lnSpc>
                <a:spcPts val="3330"/>
              </a:lnSpc>
              <a:spcBef>
                <a:spcPct val="0"/>
              </a:spcBef>
            </a:pPr>
            <a:r>
              <a:rPr lang="en-US" sz="3000">
                <a:solidFill>
                  <a:srgbClr val="000000"/>
                </a:solidFill>
                <a:latin typeface="DM Sans"/>
                <a:ea typeface="DM Sans"/>
                <a:cs typeface="DM Sans"/>
                <a:sym typeface="DM Sans"/>
              </a:rPr>
              <a:t> Chạy backtracking với MRV + LCV + forward checking.</a:t>
            </a:r>
          </a:p>
          <a:p>
            <a:pPr algn="l">
              <a:lnSpc>
                <a:spcPts val="3330"/>
              </a:lnSpc>
              <a:spcBef>
                <a:spcPct val="0"/>
              </a:spcBef>
            </a:pPr>
            <a:r>
              <a:rPr lang="en-US" sz="3000">
                <a:solidFill>
                  <a:srgbClr val="000000"/>
                </a:solidFill>
                <a:latin typeface="DM Sans"/>
                <a:ea typeface="DM Sans"/>
                <a:cs typeface="DM Sans"/>
                <a:sym typeface="DM Sans"/>
              </a:rPr>
              <a:t> Chạy hill climbing (min-conflicts).</a:t>
            </a:r>
          </a:p>
          <a:p>
            <a:pPr algn="l">
              <a:lnSpc>
                <a:spcPts val="3330"/>
              </a:lnSpc>
              <a:spcBef>
                <a:spcPct val="0"/>
              </a:spcBef>
            </a:pPr>
            <a:r>
              <a:rPr lang="en-US" sz="3000">
                <a:solidFill>
                  <a:srgbClr val="000000"/>
                </a:solidFill>
                <a:latin typeface="DM Sans"/>
                <a:ea typeface="DM Sans"/>
                <a:cs typeface="DM Sans"/>
                <a:sym typeface="DM Sans"/>
              </a:rPr>
              <a:t> Ghi lại:</a:t>
            </a:r>
          </a:p>
          <a:p>
            <a:pPr algn="l">
              <a:lnSpc>
                <a:spcPts val="3330"/>
              </a:lnSpc>
              <a:spcBef>
                <a:spcPct val="0"/>
              </a:spcBef>
            </a:pPr>
            <a:r>
              <a:rPr lang="en-US" sz="3000">
                <a:solidFill>
                  <a:srgbClr val="000000"/>
                </a:solidFill>
                <a:latin typeface="DM Sans"/>
                <a:ea typeface="DM Sans"/>
                <a:cs typeface="DM Sans"/>
                <a:sym typeface="DM Sans"/>
              </a:rPr>
              <a:t> Thời gian thực thi.</a:t>
            </a:r>
          </a:p>
          <a:p>
            <a:pPr algn="l">
              <a:lnSpc>
                <a:spcPts val="3330"/>
              </a:lnSpc>
              <a:spcBef>
                <a:spcPct val="0"/>
              </a:spcBef>
            </a:pPr>
            <a:r>
              <a:rPr lang="en-US" sz="3000">
                <a:solidFill>
                  <a:srgbClr val="000000"/>
                </a:solidFill>
                <a:latin typeface="DM Sans"/>
                <a:ea typeface="DM Sans"/>
                <a:cs typeface="DM Sans"/>
                <a:sym typeface="DM Sans"/>
              </a:rPr>
              <a:t> Số lượng phép gán (backtracking).</a:t>
            </a:r>
          </a:p>
          <a:p>
            <a:pPr algn="l">
              <a:lnSpc>
                <a:spcPts val="3330"/>
              </a:lnSpc>
              <a:spcBef>
                <a:spcPct val="0"/>
              </a:spcBef>
            </a:pPr>
            <a:r>
              <a:rPr lang="en-US" sz="3000">
                <a:solidFill>
                  <a:srgbClr val="000000"/>
                </a:solidFill>
                <a:latin typeface="DM Sans"/>
                <a:ea typeface="DM Sans"/>
                <a:cs typeface="DM Sans"/>
                <a:sym typeface="DM Sans"/>
              </a:rPr>
              <a:t> Số bước leo đồi và số restart (hill climbing).</a:t>
            </a:r>
          </a:p>
          <a:p>
            <a:pPr algn="l">
              <a:lnSpc>
                <a:spcPts val="3330"/>
              </a:lnSpc>
              <a:spcBef>
                <a:spcPct val="0"/>
              </a:spcBef>
            </a:pPr>
            <a:r>
              <a:rPr lang="en-US" sz="3000">
                <a:solidFill>
                  <a:srgbClr val="000000"/>
                </a:solidFill>
                <a:latin typeface="DM Sans"/>
                <a:ea typeface="DM Sans"/>
                <a:cs typeface="DM Sans"/>
                <a:sym typeface="DM Sans"/>
              </a:rPr>
              <a:t>Lặp lại cho nhiều giá trị n (10, 20, 30, 40, …).</a:t>
            </a:r>
          </a:p>
          <a:p>
            <a:pPr algn="l">
              <a:lnSpc>
                <a:spcPts val="3330"/>
              </a:lnSpc>
              <a:spcBef>
                <a:spcPct val="0"/>
              </a:spcBef>
            </a:pPr>
            <a:r>
              <a:rPr lang="en-US" sz="3000">
                <a:solidFill>
                  <a:srgbClr val="000000"/>
                </a:solidFill>
                <a:latin typeface="DM Sans"/>
                <a:ea typeface="DM Sans"/>
                <a:cs typeface="DM Sans"/>
                <a:sym typeface="DM Sans"/>
              </a:rPr>
              <a:t>Tính trung bình số cạnh (constraints) của đồ thị theo công thức:</a:t>
            </a:r>
          </a:p>
          <a:p>
            <a:pPr algn="l">
              <a:lnSpc>
                <a:spcPts val="3330"/>
              </a:lnSpc>
              <a:spcBef>
                <a:spcPct val="0"/>
              </a:spcBef>
            </a:pPr>
          </a:p>
        </p:txBody>
      </p:sp>
      <p:sp>
        <p:nvSpPr>
          <p:cNvPr name="TextBox 10" id="10"/>
          <p:cNvSpPr txBox="true"/>
          <p:nvPr/>
        </p:nvSpPr>
        <p:spPr>
          <a:xfrm rot="0">
            <a:off x="655072" y="8651417"/>
            <a:ext cx="8247936" cy="434342"/>
          </a:xfrm>
          <a:prstGeom prst="rect">
            <a:avLst/>
          </a:prstGeom>
        </p:spPr>
        <p:txBody>
          <a:bodyPr anchor="t" rtlCol="false" tIns="0" lIns="0" bIns="0" rIns="0">
            <a:spAutoFit/>
          </a:bodyPr>
          <a:lstStyle/>
          <a:p>
            <a:pPr algn="l">
              <a:lnSpc>
                <a:spcPts val="3330"/>
              </a:lnSpc>
              <a:spcBef>
                <a:spcPct val="0"/>
              </a:spcBef>
            </a:pPr>
            <a:r>
              <a:rPr lang="en-US" sz="3000">
                <a:solidFill>
                  <a:srgbClr val="000000"/>
                </a:solidFill>
                <a:latin typeface="DM Sans"/>
                <a:ea typeface="DM Sans"/>
                <a:cs typeface="DM Sans"/>
                <a:sym typeface="DM Sans"/>
              </a:rPr>
              <a:t>Ghi lại kết quả và vẽ đồ thị biểu diễn hiệu năng.</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11992" y="514766"/>
            <a:ext cx="12278635" cy="1723374"/>
            <a:chOff x="0" y="0"/>
            <a:chExt cx="3233879" cy="453893"/>
          </a:xfrm>
        </p:grpSpPr>
        <p:sp>
          <p:nvSpPr>
            <p:cNvPr name="Freeform 3" id="3"/>
            <p:cNvSpPr/>
            <p:nvPr/>
          </p:nvSpPr>
          <p:spPr>
            <a:xfrm flipH="false" flipV="false" rot="0">
              <a:off x="0" y="0"/>
              <a:ext cx="3233879" cy="453893"/>
            </a:xfrm>
            <a:custGeom>
              <a:avLst/>
              <a:gdLst/>
              <a:ahLst/>
              <a:cxnLst/>
              <a:rect r="r" b="b" t="t" l="l"/>
              <a:pathLst>
                <a:path h="453893" w="3233879">
                  <a:moveTo>
                    <a:pt x="32157" y="0"/>
                  </a:moveTo>
                  <a:lnTo>
                    <a:pt x="3201723" y="0"/>
                  </a:lnTo>
                  <a:cubicBezTo>
                    <a:pt x="3219482" y="0"/>
                    <a:pt x="3233879" y="14397"/>
                    <a:pt x="3233879" y="32157"/>
                  </a:cubicBezTo>
                  <a:lnTo>
                    <a:pt x="3233879" y="421736"/>
                  </a:lnTo>
                  <a:cubicBezTo>
                    <a:pt x="3233879" y="430265"/>
                    <a:pt x="3230491" y="438444"/>
                    <a:pt x="3224461" y="444474"/>
                  </a:cubicBezTo>
                  <a:cubicBezTo>
                    <a:pt x="3218430" y="450505"/>
                    <a:pt x="3210251" y="453893"/>
                    <a:pt x="3201723" y="453893"/>
                  </a:cubicBezTo>
                  <a:lnTo>
                    <a:pt x="32157" y="453893"/>
                  </a:lnTo>
                  <a:cubicBezTo>
                    <a:pt x="23628" y="453893"/>
                    <a:pt x="15449" y="450505"/>
                    <a:pt x="9418" y="444474"/>
                  </a:cubicBezTo>
                  <a:cubicBezTo>
                    <a:pt x="3388" y="438444"/>
                    <a:pt x="0" y="430265"/>
                    <a:pt x="0" y="421736"/>
                  </a:cubicBezTo>
                  <a:lnTo>
                    <a:pt x="0" y="32157"/>
                  </a:lnTo>
                  <a:cubicBezTo>
                    <a:pt x="0" y="23628"/>
                    <a:pt x="3388" y="15449"/>
                    <a:pt x="9418" y="9418"/>
                  </a:cubicBezTo>
                  <a:cubicBezTo>
                    <a:pt x="15449" y="3388"/>
                    <a:pt x="23628" y="0"/>
                    <a:pt x="32157" y="0"/>
                  </a:cubicBezTo>
                  <a:close/>
                </a:path>
              </a:pathLst>
            </a:custGeom>
            <a:solidFill>
              <a:srgbClr val="48CFAE"/>
            </a:solidFill>
          </p:spPr>
        </p:sp>
        <p:sp>
          <p:nvSpPr>
            <p:cNvPr name="TextBox 4" id="4"/>
            <p:cNvSpPr txBox="true"/>
            <p:nvPr/>
          </p:nvSpPr>
          <p:spPr>
            <a:xfrm>
              <a:off x="0" y="19050"/>
              <a:ext cx="3233879" cy="434843"/>
            </a:xfrm>
            <a:prstGeom prst="rect">
              <a:avLst/>
            </a:prstGeom>
          </p:spPr>
          <p:txBody>
            <a:bodyPr anchor="ctr" rtlCol="false" tIns="50800" lIns="50800" bIns="50800" rIns="50800"/>
            <a:lstStyle/>
            <a:p>
              <a:pPr algn="ctr">
                <a:lnSpc>
                  <a:spcPts val="2553"/>
                </a:lnSpc>
              </a:pPr>
            </a:p>
          </p:txBody>
        </p:sp>
      </p:grpSp>
      <p:sp>
        <p:nvSpPr>
          <p:cNvPr name="Freeform 5" id="5"/>
          <p:cNvSpPr/>
          <p:nvPr/>
        </p:nvSpPr>
        <p:spPr>
          <a:xfrm flipH="false" flipV="false" rot="0">
            <a:off x="4924958" y="2516441"/>
            <a:ext cx="5656951" cy="6880883"/>
          </a:xfrm>
          <a:custGeom>
            <a:avLst/>
            <a:gdLst/>
            <a:ahLst/>
            <a:cxnLst/>
            <a:rect r="r" b="b" t="t" l="l"/>
            <a:pathLst>
              <a:path h="6880883" w="5656951">
                <a:moveTo>
                  <a:pt x="0" y="0"/>
                </a:moveTo>
                <a:lnTo>
                  <a:pt x="5656952" y="0"/>
                </a:lnTo>
                <a:lnTo>
                  <a:pt x="5656952" y="6880883"/>
                </a:lnTo>
                <a:lnTo>
                  <a:pt x="0" y="6880883"/>
                </a:lnTo>
                <a:lnTo>
                  <a:pt x="0" y="0"/>
                </a:lnTo>
                <a:close/>
              </a:path>
            </a:pathLst>
          </a:custGeom>
          <a:blipFill>
            <a:blip r:embed="rId2"/>
            <a:stretch>
              <a:fillRect l="0" t="0" r="0" b="0"/>
            </a:stretch>
          </a:blipFill>
        </p:spPr>
      </p:sp>
      <p:sp>
        <p:nvSpPr>
          <p:cNvPr name="TextBox 6" id="6"/>
          <p:cNvSpPr txBox="true"/>
          <p:nvPr/>
        </p:nvSpPr>
        <p:spPr>
          <a:xfrm rot="0">
            <a:off x="1028700" y="715962"/>
            <a:ext cx="12026007" cy="1609726"/>
          </a:xfrm>
          <a:prstGeom prst="rect">
            <a:avLst/>
          </a:prstGeom>
        </p:spPr>
        <p:txBody>
          <a:bodyPr anchor="t" rtlCol="false" tIns="0" lIns="0" bIns="0" rIns="0">
            <a:spAutoFit/>
          </a:bodyPr>
          <a:lstStyle/>
          <a:p>
            <a:pPr algn="l">
              <a:lnSpc>
                <a:spcPts val="3000"/>
              </a:lnSpc>
            </a:pPr>
            <a:r>
              <a:rPr lang="en-US" sz="3000" b="true">
                <a:solidFill>
                  <a:srgbClr val="FFFFFF"/>
                </a:solidFill>
                <a:latin typeface="Kollektif Bold"/>
                <a:ea typeface="Kollektif Bold"/>
                <a:cs typeface="Kollektif Bold"/>
                <a:sym typeface="Kollektif Bold"/>
              </a:rPr>
              <a:t>KẾT QUẢ:</a:t>
            </a:r>
          </a:p>
          <a:p>
            <a:pPr algn="l">
              <a:lnSpc>
                <a:spcPts val="3000"/>
              </a:lnSpc>
            </a:pPr>
            <a:r>
              <a:rPr lang="en-US" sz="3000" b="true">
                <a:solidFill>
                  <a:srgbClr val="FFFFFF"/>
                </a:solidFill>
                <a:latin typeface="Kollektif Bold"/>
                <a:ea typeface="Kollektif Bold"/>
                <a:cs typeface="Kollektif Bold"/>
                <a:sym typeface="Kollektif Bold"/>
              </a:rPr>
              <a:t>BẢNG THỐNG KÊ HIỆU NĂNG THEO KÍCH THƯỚC ĐỒ THỊ N = 20, 40, 80 VÀ SỐ LƯỢNG MÀU = 3, 4.</a:t>
            </a:r>
          </a:p>
          <a:p>
            <a:pPr algn="l">
              <a:lnSpc>
                <a:spcPts val="3000"/>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11992" y="447056"/>
            <a:ext cx="2794017" cy="788963"/>
            <a:chOff x="0" y="0"/>
            <a:chExt cx="735873" cy="207793"/>
          </a:xfrm>
        </p:grpSpPr>
        <p:sp>
          <p:nvSpPr>
            <p:cNvPr name="Freeform 3" id="3"/>
            <p:cNvSpPr/>
            <p:nvPr/>
          </p:nvSpPr>
          <p:spPr>
            <a:xfrm flipH="false" flipV="false" rot="0">
              <a:off x="0" y="0"/>
              <a:ext cx="735873" cy="207793"/>
            </a:xfrm>
            <a:custGeom>
              <a:avLst/>
              <a:gdLst/>
              <a:ahLst/>
              <a:cxnLst/>
              <a:rect r="r" b="b" t="t" l="l"/>
              <a:pathLst>
                <a:path h="207793" w="735873">
                  <a:moveTo>
                    <a:pt x="103896" y="0"/>
                  </a:moveTo>
                  <a:lnTo>
                    <a:pt x="631976" y="0"/>
                  </a:lnTo>
                  <a:cubicBezTo>
                    <a:pt x="689357" y="0"/>
                    <a:pt x="735873" y="46516"/>
                    <a:pt x="735873" y="103896"/>
                  </a:cubicBezTo>
                  <a:lnTo>
                    <a:pt x="735873" y="103896"/>
                  </a:lnTo>
                  <a:cubicBezTo>
                    <a:pt x="735873" y="131451"/>
                    <a:pt x="724926" y="157878"/>
                    <a:pt x="705442" y="177362"/>
                  </a:cubicBezTo>
                  <a:cubicBezTo>
                    <a:pt x="685958" y="196846"/>
                    <a:pt x="659531" y="207793"/>
                    <a:pt x="631976" y="207793"/>
                  </a:cubicBezTo>
                  <a:lnTo>
                    <a:pt x="103896" y="207793"/>
                  </a:lnTo>
                  <a:cubicBezTo>
                    <a:pt x="46516" y="207793"/>
                    <a:pt x="0" y="161277"/>
                    <a:pt x="0" y="103896"/>
                  </a:cubicBezTo>
                  <a:lnTo>
                    <a:pt x="0" y="103896"/>
                  </a:lnTo>
                  <a:cubicBezTo>
                    <a:pt x="0" y="46516"/>
                    <a:pt x="46516" y="0"/>
                    <a:pt x="103896" y="0"/>
                  </a:cubicBezTo>
                  <a:close/>
                </a:path>
              </a:pathLst>
            </a:custGeom>
            <a:solidFill>
              <a:srgbClr val="48CFAE"/>
            </a:solidFill>
          </p:spPr>
        </p:sp>
        <p:sp>
          <p:nvSpPr>
            <p:cNvPr name="TextBox 4" id="4"/>
            <p:cNvSpPr txBox="true"/>
            <p:nvPr/>
          </p:nvSpPr>
          <p:spPr>
            <a:xfrm>
              <a:off x="0" y="19050"/>
              <a:ext cx="735873" cy="188743"/>
            </a:xfrm>
            <a:prstGeom prst="rect">
              <a:avLst/>
            </a:prstGeom>
          </p:spPr>
          <p:txBody>
            <a:bodyPr anchor="ctr" rtlCol="false" tIns="50800" lIns="50800" bIns="50800" rIns="50800"/>
            <a:lstStyle/>
            <a:p>
              <a:pPr algn="ctr">
                <a:lnSpc>
                  <a:spcPts val="2553"/>
                </a:lnSpc>
              </a:pPr>
            </a:p>
          </p:txBody>
        </p:sp>
      </p:grpSp>
      <p:grpSp>
        <p:nvGrpSpPr>
          <p:cNvPr name="Group 5" id="5"/>
          <p:cNvGrpSpPr/>
          <p:nvPr/>
        </p:nvGrpSpPr>
        <p:grpSpPr>
          <a:xfrm rot="0">
            <a:off x="514172" y="4143796"/>
            <a:ext cx="6158513" cy="721433"/>
            <a:chOff x="0" y="0"/>
            <a:chExt cx="1621995" cy="190007"/>
          </a:xfrm>
        </p:grpSpPr>
        <p:sp>
          <p:nvSpPr>
            <p:cNvPr name="Freeform 6" id="6"/>
            <p:cNvSpPr/>
            <p:nvPr/>
          </p:nvSpPr>
          <p:spPr>
            <a:xfrm flipH="false" flipV="false" rot="0">
              <a:off x="0" y="0"/>
              <a:ext cx="1621995" cy="190007"/>
            </a:xfrm>
            <a:custGeom>
              <a:avLst/>
              <a:gdLst/>
              <a:ahLst/>
              <a:cxnLst/>
              <a:rect r="r" b="b" t="t" l="l"/>
              <a:pathLst>
                <a:path h="190007" w="1621995">
                  <a:moveTo>
                    <a:pt x="64113" y="0"/>
                  </a:moveTo>
                  <a:lnTo>
                    <a:pt x="1557883" y="0"/>
                  </a:lnTo>
                  <a:cubicBezTo>
                    <a:pt x="1574886" y="0"/>
                    <a:pt x="1591194" y="6755"/>
                    <a:pt x="1603217" y="18778"/>
                  </a:cubicBezTo>
                  <a:cubicBezTo>
                    <a:pt x="1615240" y="30802"/>
                    <a:pt x="1621995" y="47109"/>
                    <a:pt x="1621995" y="64113"/>
                  </a:cubicBezTo>
                  <a:lnTo>
                    <a:pt x="1621995" y="125894"/>
                  </a:lnTo>
                  <a:cubicBezTo>
                    <a:pt x="1621995" y="161303"/>
                    <a:pt x="1593291" y="190007"/>
                    <a:pt x="1557883" y="190007"/>
                  </a:cubicBezTo>
                  <a:lnTo>
                    <a:pt x="64113" y="190007"/>
                  </a:lnTo>
                  <a:cubicBezTo>
                    <a:pt x="28704" y="190007"/>
                    <a:pt x="0" y="161303"/>
                    <a:pt x="0" y="125894"/>
                  </a:cubicBezTo>
                  <a:lnTo>
                    <a:pt x="0" y="64113"/>
                  </a:lnTo>
                  <a:cubicBezTo>
                    <a:pt x="0" y="28704"/>
                    <a:pt x="28704" y="0"/>
                    <a:pt x="64113" y="0"/>
                  </a:cubicBezTo>
                  <a:close/>
                </a:path>
              </a:pathLst>
            </a:custGeom>
            <a:solidFill>
              <a:srgbClr val="48CFAE"/>
            </a:solidFill>
          </p:spPr>
        </p:sp>
        <p:sp>
          <p:nvSpPr>
            <p:cNvPr name="TextBox 7" id="7"/>
            <p:cNvSpPr txBox="true"/>
            <p:nvPr/>
          </p:nvSpPr>
          <p:spPr>
            <a:xfrm>
              <a:off x="0" y="19050"/>
              <a:ext cx="1621995" cy="170957"/>
            </a:xfrm>
            <a:prstGeom prst="rect">
              <a:avLst/>
            </a:prstGeom>
          </p:spPr>
          <p:txBody>
            <a:bodyPr anchor="ctr" rtlCol="false" tIns="50800" lIns="50800" bIns="50800" rIns="50800"/>
            <a:lstStyle/>
            <a:p>
              <a:pPr algn="ctr">
                <a:lnSpc>
                  <a:spcPts val="1998"/>
                </a:lnSpc>
              </a:pPr>
            </a:p>
          </p:txBody>
        </p:sp>
      </p:grpSp>
      <p:graphicFrame>
        <p:nvGraphicFramePr>
          <p:cNvPr name="Object 8" id="8"/>
          <p:cNvGraphicFramePr/>
          <p:nvPr/>
        </p:nvGraphicFramePr>
        <p:xfrm>
          <a:off x="514172" y="5284328"/>
          <a:ext cx="3771900" cy="4400550"/>
        </p:xfrm>
        <a:graphic>
          <a:graphicData uri="http://schemas.openxmlformats.org/presentationml/2006/ole">
            <p:oleObj imgW="4648200" imgH="52705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9" id="9"/>
          <p:cNvSpPr txBox="true"/>
          <p:nvPr/>
        </p:nvSpPr>
        <p:spPr>
          <a:xfrm rot="0">
            <a:off x="514172" y="1512608"/>
            <a:ext cx="13199150" cy="2212088"/>
          </a:xfrm>
          <a:prstGeom prst="rect">
            <a:avLst/>
          </a:prstGeom>
        </p:spPr>
        <p:txBody>
          <a:bodyPr anchor="t" rtlCol="false" tIns="0" lIns="0" bIns="0" rIns="0">
            <a:spAutoFit/>
          </a:bodyPr>
          <a:lstStyle/>
          <a:p>
            <a:pPr algn="just">
              <a:lnSpc>
                <a:spcPts val="3108"/>
              </a:lnSpc>
              <a:spcBef>
                <a:spcPct val="0"/>
              </a:spcBef>
            </a:pPr>
            <a:r>
              <a:rPr lang="en-US" sz="2800">
                <a:solidFill>
                  <a:srgbClr val="000000"/>
                </a:solidFill>
                <a:latin typeface="DM Sans"/>
                <a:ea typeface="DM Sans"/>
                <a:cs typeface="DM Sans"/>
                <a:sym typeface="DM Sans"/>
              </a:rPr>
              <a:t>Dòng đầu tiên:</a:t>
            </a:r>
          </a:p>
          <a:p>
            <a:pPr algn="just">
              <a:lnSpc>
                <a:spcPts val="2886"/>
              </a:lnSpc>
              <a:spcBef>
                <a:spcPct val="0"/>
              </a:spcBef>
            </a:pPr>
            <a:r>
              <a:rPr lang="en-US" sz="2600">
                <a:solidFill>
                  <a:srgbClr val="000000"/>
                </a:solidFill>
                <a:latin typeface="DM Sans"/>
                <a:ea typeface="DM Sans"/>
                <a:cs typeface="DM Sans"/>
                <a:sym typeface="DM Sans"/>
              </a:rPr>
              <a:t>n = 20: đồ thị có 20 đỉnh (nodes).</a:t>
            </a:r>
          </a:p>
          <a:p>
            <a:pPr algn="just">
              <a:lnSpc>
                <a:spcPts val="2886"/>
              </a:lnSpc>
              <a:spcBef>
                <a:spcPct val="0"/>
              </a:spcBef>
            </a:pPr>
            <a:r>
              <a:rPr lang="en-US" sz="2600">
                <a:solidFill>
                  <a:srgbClr val="000000"/>
                </a:solidFill>
                <a:latin typeface="DM Sans"/>
                <a:ea typeface="DM Sans"/>
                <a:cs typeface="DM Sans"/>
                <a:sym typeface="DM Sans"/>
              </a:rPr>
              <a:t>colors = 3: thử tô đồ thị bằng 3 màu.</a:t>
            </a:r>
          </a:p>
          <a:p>
            <a:pPr algn="just">
              <a:lnSpc>
                <a:spcPts val="2886"/>
              </a:lnSpc>
              <a:spcBef>
                <a:spcPct val="0"/>
              </a:spcBef>
            </a:pPr>
            <a:r>
              <a:rPr lang="en-US" sz="2600">
                <a:solidFill>
                  <a:srgbClr val="000000"/>
                </a:solidFill>
                <a:latin typeface="DM Sans"/>
                <a:ea typeface="DM Sans"/>
                <a:cs typeface="DM Sans"/>
                <a:sym typeface="DM Sans"/>
              </a:rPr>
              <a:t>inst = 0: đây là lần thử thứ 0 (một trong nhiều đồ thị ngẫu nhiên được sinh cho n = 20).</a:t>
            </a:r>
          </a:p>
          <a:p>
            <a:pPr algn="just">
              <a:lnSpc>
                <a:spcPts val="2886"/>
              </a:lnSpc>
              <a:spcBef>
                <a:spcPct val="0"/>
              </a:spcBef>
            </a:pPr>
            <a:r>
              <a:rPr lang="en-US" sz="2600">
                <a:solidFill>
                  <a:srgbClr val="000000"/>
                </a:solidFill>
                <a:latin typeface="DM Sans"/>
                <a:ea typeface="DM Sans"/>
                <a:cs typeface="DM Sans"/>
                <a:sym typeface="DM Sans"/>
              </a:rPr>
              <a:t>edges = 49: số cạnh (ràng buộc “hai đỉnh kề không được cùng màu”) trong đồ thị là 49.</a:t>
            </a:r>
          </a:p>
          <a:p>
            <a:pPr algn="just">
              <a:lnSpc>
                <a:spcPts val="2886"/>
              </a:lnSpc>
              <a:spcBef>
                <a:spcPct val="0"/>
              </a:spcBef>
            </a:pPr>
            <a:r>
              <a:rPr lang="en-US" sz="2600">
                <a:solidFill>
                  <a:srgbClr val="000000"/>
                </a:solidFill>
                <a:latin typeface="DM Sans"/>
                <a:ea typeface="DM Sans"/>
                <a:cs typeface="DM Sans"/>
                <a:sym typeface="DM Sans"/>
              </a:rPr>
              <a:t>→ và số cạnh trung bình tăng gần tuyến tính với n.</a:t>
            </a:r>
          </a:p>
        </p:txBody>
      </p:sp>
      <p:sp>
        <p:nvSpPr>
          <p:cNvPr name="TextBox 10" id="10"/>
          <p:cNvSpPr txBox="true"/>
          <p:nvPr/>
        </p:nvSpPr>
        <p:spPr>
          <a:xfrm rot="0">
            <a:off x="960755" y="603412"/>
            <a:ext cx="1896489" cy="466726"/>
          </a:xfrm>
          <a:prstGeom prst="rect">
            <a:avLst/>
          </a:prstGeom>
        </p:spPr>
        <p:txBody>
          <a:bodyPr anchor="t" rtlCol="false" tIns="0" lIns="0" bIns="0" rIns="0">
            <a:spAutoFit/>
          </a:bodyPr>
          <a:lstStyle/>
          <a:p>
            <a:pPr algn="l">
              <a:lnSpc>
                <a:spcPts val="3000"/>
              </a:lnSpc>
            </a:pPr>
            <a:r>
              <a:rPr lang="en-US" b="true" sz="3000">
                <a:solidFill>
                  <a:srgbClr val="FFFFFF"/>
                </a:solidFill>
                <a:latin typeface="Kollektif Bold"/>
                <a:ea typeface="Kollektif Bold"/>
                <a:cs typeface="Kollektif Bold"/>
                <a:sym typeface="Kollektif Bold"/>
              </a:rPr>
              <a:t>Ý NGHĨA:</a:t>
            </a:r>
          </a:p>
        </p:txBody>
      </p:sp>
      <p:sp>
        <p:nvSpPr>
          <p:cNvPr name="TextBox 11" id="11"/>
          <p:cNvSpPr txBox="true"/>
          <p:nvPr/>
        </p:nvSpPr>
        <p:spPr>
          <a:xfrm rot="0">
            <a:off x="960755" y="4306074"/>
            <a:ext cx="5711929" cy="387351"/>
          </a:xfrm>
          <a:prstGeom prst="rect">
            <a:avLst/>
          </a:prstGeom>
        </p:spPr>
        <p:txBody>
          <a:bodyPr anchor="t" rtlCol="false" tIns="0" lIns="0" bIns="0" rIns="0">
            <a:spAutoFit/>
          </a:bodyPr>
          <a:lstStyle/>
          <a:p>
            <a:pPr algn="l">
              <a:lnSpc>
                <a:spcPts val="2500"/>
              </a:lnSpc>
            </a:pPr>
            <a:r>
              <a:rPr lang="en-US" b="true" sz="2500">
                <a:solidFill>
                  <a:srgbClr val="FFFFFF"/>
                </a:solidFill>
                <a:latin typeface="Kollektif Bold"/>
                <a:ea typeface="Kollektif Bold"/>
                <a:cs typeface="Kollektif Bold"/>
                <a:sym typeface="Kollektif Bold"/>
              </a:rPr>
              <a:t>CÁC CHỈ SỐ TRONG BẢNG KẾT QUẢ</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09998" y="871130"/>
            <a:ext cx="13760146" cy="3499690"/>
          </a:xfrm>
          <a:custGeom>
            <a:avLst/>
            <a:gdLst/>
            <a:ahLst/>
            <a:cxnLst/>
            <a:rect r="r" b="b" t="t" l="l"/>
            <a:pathLst>
              <a:path h="3499690" w="13760146">
                <a:moveTo>
                  <a:pt x="0" y="0"/>
                </a:moveTo>
                <a:lnTo>
                  <a:pt x="13760147" y="0"/>
                </a:lnTo>
                <a:lnTo>
                  <a:pt x="13760147" y="3499690"/>
                </a:lnTo>
                <a:lnTo>
                  <a:pt x="0" y="3499690"/>
                </a:lnTo>
                <a:lnTo>
                  <a:pt x="0" y="0"/>
                </a:lnTo>
                <a:close/>
              </a:path>
            </a:pathLst>
          </a:custGeom>
          <a:blipFill>
            <a:blip r:embed="rId2"/>
            <a:stretch>
              <a:fillRect l="0" t="0" r="0" b="0"/>
            </a:stretch>
          </a:blipFill>
        </p:spPr>
      </p:sp>
      <p:sp>
        <p:nvSpPr>
          <p:cNvPr name="Freeform 3" id="3"/>
          <p:cNvSpPr/>
          <p:nvPr/>
        </p:nvSpPr>
        <p:spPr>
          <a:xfrm flipH="false" flipV="false" rot="0">
            <a:off x="2680922" y="4998828"/>
            <a:ext cx="11981928" cy="4259472"/>
          </a:xfrm>
          <a:custGeom>
            <a:avLst/>
            <a:gdLst/>
            <a:ahLst/>
            <a:cxnLst/>
            <a:rect r="r" b="b" t="t" l="l"/>
            <a:pathLst>
              <a:path h="4259472" w="11981928">
                <a:moveTo>
                  <a:pt x="0" y="0"/>
                </a:moveTo>
                <a:lnTo>
                  <a:pt x="11981928" y="0"/>
                </a:lnTo>
                <a:lnTo>
                  <a:pt x="11981928" y="4259472"/>
                </a:lnTo>
                <a:lnTo>
                  <a:pt x="0" y="4259472"/>
                </a:lnTo>
                <a:lnTo>
                  <a:pt x="0" y="0"/>
                </a:lnTo>
                <a:close/>
              </a:path>
            </a:pathLst>
          </a:custGeom>
          <a:blipFill>
            <a:blip r:embed="rId3"/>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53399" y="193629"/>
            <a:ext cx="4103278" cy="835071"/>
            <a:chOff x="0" y="0"/>
            <a:chExt cx="1695789" cy="345115"/>
          </a:xfrm>
        </p:grpSpPr>
        <p:sp>
          <p:nvSpPr>
            <p:cNvPr name="Freeform 3" id="3"/>
            <p:cNvSpPr/>
            <p:nvPr/>
          </p:nvSpPr>
          <p:spPr>
            <a:xfrm flipH="false" flipV="false" rot="0">
              <a:off x="0" y="0"/>
              <a:ext cx="1695789" cy="345115"/>
            </a:xfrm>
            <a:custGeom>
              <a:avLst/>
              <a:gdLst/>
              <a:ahLst/>
              <a:cxnLst/>
              <a:rect r="r" b="b" t="t" l="l"/>
              <a:pathLst>
                <a:path h="345115" w="1695789">
                  <a:moveTo>
                    <a:pt x="96225" y="0"/>
                  </a:moveTo>
                  <a:lnTo>
                    <a:pt x="1599564" y="0"/>
                  </a:lnTo>
                  <a:cubicBezTo>
                    <a:pt x="1652707" y="0"/>
                    <a:pt x="1695789" y="43081"/>
                    <a:pt x="1695789" y="96225"/>
                  </a:cubicBezTo>
                  <a:lnTo>
                    <a:pt x="1695789" y="248890"/>
                  </a:lnTo>
                  <a:cubicBezTo>
                    <a:pt x="1695789" y="274411"/>
                    <a:pt x="1685651" y="298886"/>
                    <a:pt x="1667605" y="316932"/>
                  </a:cubicBezTo>
                  <a:cubicBezTo>
                    <a:pt x="1649560" y="334978"/>
                    <a:pt x="1625084" y="345115"/>
                    <a:pt x="1599564" y="345115"/>
                  </a:cubicBezTo>
                  <a:lnTo>
                    <a:pt x="96225" y="345115"/>
                  </a:lnTo>
                  <a:cubicBezTo>
                    <a:pt x="70705" y="345115"/>
                    <a:pt x="46229" y="334978"/>
                    <a:pt x="28184" y="316932"/>
                  </a:cubicBezTo>
                  <a:cubicBezTo>
                    <a:pt x="10138" y="298886"/>
                    <a:pt x="0" y="274411"/>
                    <a:pt x="0" y="248890"/>
                  </a:cubicBezTo>
                  <a:lnTo>
                    <a:pt x="0" y="96225"/>
                  </a:lnTo>
                  <a:cubicBezTo>
                    <a:pt x="0" y="70705"/>
                    <a:pt x="10138" y="46229"/>
                    <a:pt x="28184" y="28184"/>
                  </a:cubicBezTo>
                  <a:cubicBezTo>
                    <a:pt x="46229" y="10138"/>
                    <a:pt x="70705" y="0"/>
                    <a:pt x="96225" y="0"/>
                  </a:cubicBezTo>
                  <a:close/>
                </a:path>
              </a:pathLst>
            </a:custGeom>
            <a:solidFill>
              <a:srgbClr val="FE6D73"/>
            </a:solidFill>
          </p:spPr>
        </p:sp>
        <p:sp>
          <p:nvSpPr>
            <p:cNvPr name="TextBox 4" id="4"/>
            <p:cNvSpPr txBox="true"/>
            <p:nvPr/>
          </p:nvSpPr>
          <p:spPr>
            <a:xfrm>
              <a:off x="0" y="19050"/>
              <a:ext cx="1695789" cy="326065"/>
            </a:xfrm>
            <a:prstGeom prst="rect">
              <a:avLst/>
            </a:prstGeom>
          </p:spPr>
          <p:txBody>
            <a:bodyPr anchor="ctr" rtlCol="false" tIns="50800" lIns="50800" bIns="50800" rIns="50800"/>
            <a:lstStyle/>
            <a:p>
              <a:pPr algn="ctr">
                <a:lnSpc>
                  <a:spcPts val="2553"/>
                </a:lnSpc>
              </a:pPr>
            </a:p>
          </p:txBody>
        </p:sp>
      </p:grpSp>
      <p:sp>
        <p:nvSpPr>
          <p:cNvPr name="TextBox 5" id="5"/>
          <p:cNvSpPr txBox="true"/>
          <p:nvPr/>
        </p:nvSpPr>
        <p:spPr>
          <a:xfrm rot="0">
            <a:off x="1028700" y="258305"/>
            <a:ext cx="3180366" cy="955966"/>
          </a:xfrm>
          <a:prstGeom prst="rect">
            <a:avLst/>
          </a:prstGeom>
        </p:spPr>
        <p:txBody>
          <a:bodyPr anchor="t" rtlCol="false" tIns="0" lIns="0" bIns="0" rIns="0">
            <a:spAutoFit/>
          </a:bodyPr>
          <a:lstStyle/>
          <a:p>
            <a:pPr algn="l">
              <a:lnSpc>
                <a:spcPts val="2342"/>
              </a:lnSpc>
            </a:pPr>
            <a:r>
              <a:rPr lang="en-US" sz="2342" b="true">
                <a:solidFill>
                  <a:srgbClr val="FFFFFF"/>
                </a:solidFill>
                <a:latin typeface="Kollektif Bold"/>
                <a:ea typeface="Kollektif Bold"/>
                <a:cs typeface="Kollektif Bold"/>
                <a:sym typeface="Kollektif Bold"/>
              </a:rPr>
              <a:t>NHẬN XÉT THEO TỪNG THUẬT TOÁN:</a:t>
            </a:r>
          </a:p>
          <a:p>
            <a:pPr algn="l">
              <a:lnSpc>
                <a:spcPts val="2342"/>
              </a:lnSpc>
            </a:pPr>
          </a:p>
        </p:txBody>
      </p:sp>
      <p:grpSp>
        <p:nvGrpSpPr>
          <p:cNvPr name="Group 6" id="6"/>
          <p:cNvGrpSpPr/>
          <p:nvPr/>
        </p:nvGrpSpPr>
        <p:grpSpPr>
          <a:xfrm rot="0">
            <a:off x="511992" y="1324948"/>
            <a:ext cx="4392229" cy="969043"/>
            <a:chOff x="0" y="0"/>
            <a:chExt cx="1156801" cy="255221"/>
          </a:xfrm>
        </p:grpSpPr>
        <p:sp>
          <p:nvSpPr>
            <p:cNvPr name="Freeform 7" id="7"/>
            <p:cNvSpPr/>
            <p:nvPr/>
          </p:nvSpPr>
          <p:spPr>
            <a:xfrm flipH="false" flipV="false" rot="0">
              <a:off x="0" y="0"/>
              <a:ext cx="1156801" cy="255221"/>
            </a:xfrm>
            <a:custGeom>
              <a:avLst/>
              <a:gdLst/>
              <a:ahLst/>
              <a:cxnLst/>
              <a:rect r="r" b="b" t="t" l="l"/>
              <a:pathLst>
                <a:path h="255221" w="1156801">
                  <a:moveTo>
                    <a:pt x="89895" y="0"/>
                  </a:moveTo>
                  <a:lnTo>
                    <a:pt x="1066906" y="0"/>
                  </a:lnTo>
                  <a:cubicBezTo>
                    <a:pt x="1090748" y="0"/>
                    <a:pt x="1113613" y="9471"/>
                    <a:pt x="1130472" y="26330"/>
                  </a:cubicBezTo>
                  <a:cubicBezTo>
                    <a:pt x="1147330" y="43188"/>
                    <a:pt x="1156801" y="66053"/>
                    <a:pt x="1156801" y="89895"/>
                  </a:cubicBezTo>
                  <a:lnTo>
                    <a:pt x="1156801" y="165327"/>
                  </a:lnTo>
                  <a:cubicBezTo>
                    <a:pt x="1156801" y="214974"/>
                    <a:pt x="1116554" y="255221"/>
                    <a:pt x="1066906" y="255221"/>
                  </a:cubicBezTo>
                  <a:lnTo>
                    <a:pt x="89895" y="255221"/>
                  </a:lnTo>
                  <a:cubicBezTo>
                    <a:pt x="66053" y="255221"/>
                    <a:pt x="43188" y="245750"/>
                    <a:pt x="26330" y="228892"/>
                  </a:cubicBezTo>
                  <a:cubicBezTo>
                    <a:pt x="9471" y="212033"/>
                    <a:pt x="0" y="189168"/>
                    <a:pt x="0" y="165327"/>
                  </a:cubicBezTo>
                  <a:lnTo>
                    <a:pt x="0" y="89895"/>
                  </a:lnTo>
                  <a:cubicBezTo>
                    <a:pt x="0" y="66053"/>
                    <a:pt x="9471" y="43188"/>
                    <a:pt x="26330" y="26330"/>
                  </a:cubicBezTo>
                  <a:cubicBezTo>
                    <a:pt x="43188" y="9471"/>
                    <a:pt x="66053" y="0"/>
                    <a:pt x="89895" y="0"/>
                  </a:cubicBezTo>
                  <a:close/>
                </a:path>
              </a:pathLst>
            </a:custGeom>
            <a:solidFill>
              <a:srgbClr val="48CFAE"/>
            </a:solidFill>
          </p:spPr>
        </p:sp>
        <p:sp>
          <p:nvSpPr>
            <p:cNvPr name="TextBox 8" id="8"/>
            <p:cNvSpPr txBox="true"/>
            <p:nvPr/>
          </p:nvSpPr>
          <p:spPr>
            <a:xfrm>
              <a:off x="0" y="19050"/>
              <a:ext cx="1156801" cy="236171"/>
            </a:xfrm>
            <a:prstGeom prst="rect">
              <a:avLst/>
            </a:prstGeom>
          </p:spPr>
          <p:txBody>
            <a:bodyPr anchor="ctr" rtlCol="false" tIns="50800" lIns="50800" bIns="50800" rIns="50800"/>
            <a:lstStyle/>
            <a:p>
              <a:pPr algn="ctr">
                <a:lnSpc>
                  <a:spcPts val="2553"/>
                </a:lnSpc>
              </a:pPr>
            </a:p>
          </p:txBody>
        </p:sp>
      </p:grpSp>
      <p:sp>
        <p:nvSpPr>
          <p:cNvPr name="TextBox 9" id="9"/>
          <p:cNvSpPr txBox="true"/>
          <p:nvPr/>
        </p:nvSpPr>
        <p:spPr>
          <a:xfrm rot="0">
            <a:off x="857439" y="1504696"/>
            <a:ext cx="3701334" cy="609547"/>
          </a:xfrm>
          <a:prstGeom prst="rect">
            <a:avLst/>
          </a:prstGeom>
        </p:spPr>
        <p:txBody>
          <a:bodyPr anchor="t" rtlCol="false" tIns="0" lIns="0" bIns="0" rIns="0">
            <a:spAutoFit/>
          </a:bodyPr>
          <a:lstStyle/>
          <a:p>
            <a:pPr algn="l">
              <a:lnSpc>
                <a:spcPts val="2247"/>
              </a:lnSpc>
            </a:pPr>
            <a:r>
              <a:rPr lang="en-US" b="true" sz="2247">
                <a:solidFill>
                  <a:srgbClr val="FFFFFF"/>
                </a:solidFill>
                <a:latin typeface="Kollektif Bold"/>
                <a:ea typeface="Kollektif Bold"/>
                <a:cs typeface="Kollektif Bold"/>
                <a:sym typeface="Kollektif Bold"/>
              </a:rPr>
              <a:t>BACKTRACKING CƠ BẢN (BASE_NODES):</a:t>
            </a:r>
          </a:p>
        </p:txBody>
      </p:sp>
      <p:sp>
        <p:nvSpPr>
          <p:cNvPr name="TextBox 10" id="10"/>
          <p:cNvSpPr txBox="true"/>
          <p:nvPr/>
        </p:nvSpPr>
        <p:spPr>
          <a:xfrm rot="0">
            <a:off x="511992" y="2608316"/>
            <a:ext cx="12512160" cy="2602613"/>
          </a:xfrm>
          <a:prstGeom prst="rect">
            <a:avLst/>
          </a:prstGeom>
        </p:spPr>
        <p:txBody>
          <a:bodyPr anchor="t" rtlCol="false" tIns="0" lIns="0" bIns="0" rIns="0">
            <a:spAutoFit/>
          </a:bodyPr>
          <a:lstStyle/>
          <a:p>
            <a:pPr algn="l">
              <a:lnSpc>
                <a:spcPts val="2997"/>
              </a:lnSpc>
              <a:spcBef>
                <a:spcPct val="0"/>
              </a:spcBef>
            </a:pPr>
            <a:r>
              <a:rPr lang="en-US" sz="2700">
                <a:solidFill>
                  <a:srgbClr val="000000"/>
                </a:solidFill>
                <a:latin typeface="DM Sans"/>
                <a:ea typeface="DM Sans"/>
                <a:cs typeface="DM Sans"/>
                <a:sym typeface="DM Sans"/>
              </a:rPr>
              <a:t>Số lượng biến được gán tăng nhanh khi n tăng:</a:t>
            </a:r>
          </a:p>
          <a:p>
            <a:pPr algn="l">
              <a:lnSpc>
                <a:spcPts val="2997"/>
              </a:lnSpc>
              <a:spcBef>
                <a:spcPct val="0"/>
              </a:spcBef>
            </a:pPr>
            <a:r>
              <a:rPr lang="en-US" sz="2700">
                <a:solidFill>
                  <a:srgbClr val="000000"/>
                </a:solidFill>
                <a:latin typeface="DM Sans"/>
                <a:ea typeface="DM Sans"/>
                <a:cs typeface="DM Sans"/>
                <a:sym typeface="DM Sans"/>
              </a:rPr>
              <a:t>n=20: trung bình 110 node checked</a:t>
            </a:r>
          </a:p>
          <a:p>
            <a:pPr algn="l">
              <a:lnSpc>
                <a:spcPts val="2997"/>
              </a:lnSpc>
              <a:spcBef>
                <a:spcPct val="0"/>
              </a:spcBef>
            </a:pPr>
            <a:r>
              <a:rPr lang="en-US" sz="2700">
                <a:solidFill>
                  <a:srgbClr val="000000"/>
                </a:solidFill>
                <a:latin typeface="DM Sans"/>
                <a:ea typeface="DM Sans"/>
                <a:cs typeface="DM Sans"/>
                <a:sym typeface="DM Sans"/>
              </a:rPr>
              <a:t>n=40: khoảng 72–62 node</a:t>
            </a:r>
          </a:p>
          <a:p>
            <a:pPr algn="l">
              <a:lnSpc>
                <a:spcPts val="2997"/>
              </a:lnSpc>
              <a:spcBef>
                <a:spcPct val="0"/>
              </a:spcBef>
            </a:pPr>
            <a:r>
              <a:rPr lang="en-US" sz="2700">
                <a:solidFill>
                  <a:srgbClr val="000000"/>
                </a:solidFill>
                <a:latin typeface="DM Sans"/>
                <a:ea typeface="DM Sans"/>
                <a:cs typeface="DM Sans"/>
                <a:sym typeface="DM Sans"/>
              </a:rPr>
              <a:t>n=80: lên tới 273–4504 node</a:t>
            </a:r>
          </a:p>
          <a:p>
            <a:pPr algn="l">
              <a:lnSpc>
                <a:spcPts val="2997"/>
              </a:lnSpc>
              <a:spcBef>
                <a:spcPct val="0"/>
              </a:spcBef>
            </a:pPr>
            <a:r>
              <a:rPr lang="en-US" sz="2700">
                <a:solidFill>
                  <a:srgbClr val="000000"/>
                </a:solidFill>
                <a:latin typeface="DM Sans"/>
                <a:ea typeface="DM Sans"/>
                <a:cs typeface="DM Sans"/>
                <a:sym typeface="DM Sans"/>
              </a:rPr>
              <a:t>Khi chỉ có 3 màu, số lần kiểm tra tăng cực nhanh → nhiều lần backtrack.</a:t>
            </a:r>
          </a:p>
          <a:p>
            <a:pPr algn="l">
              <a:lnSpc>
                <a:spcPts val="2997"/>
              </a:lnSpc>
              <a:spcBef>
                <a:spcPct val="0"/>
              </a:spcBef>
            </a:pPr>
            <a:r>
              <a:rPr lang="en-US" sz="2700">
                <a:solidFill>
                  <a:srgbClr val="000000"/>
                </a:solidFill>
                <a:latin typeface="DM Sans"/>
                <a:ea typeface="DM Sans"/>
                <a:cs typeface="DM Sans"/>
                <a:sym typeface="DM Sans"/>
              </a:rPr>
              <a:t>Khi tăng lên 4 màu, thuật toán dễ tìm nghiệm hơn (vì không gian màu rộng hơn).</a:t>
            </a:r>
          </a:p>
          <a:p>
            <a:pPr algn="l">
              <a:lnSpc>
                <a:spcPts val="2997"/>
              </a:lnSpc>
              <a:spcBef>
                <a:spcPct val="0"/>
              </a:spcBef>
            </a:pPr>
            <a:r>
              <a:rPr lang="en-US" sz="2700">
                <a:solidFill>
                  <a:srgbClr val="000000"/>
                </a:solidFill>
                <a:latin typeface="DM Sans"/>
                <a:ea typeface="DM Sans"/>
                <a:cs typeface="DM Sans"/>
                <a:sym typeface="DM Sans"/>
              </a:rPr>
              <a:t>Kết luận: Backtracking cơ bản rất chậm khi đồ thị lớn và ít màu.</a:t>
            </a:r>
          </a:p>
        </p:txBody>
      </p:sp>
      <p:grpSp>
        <p:nvGrpSpPr>
          <p:cNvPr name="Group 11" id="11"/>
          <p:cNvGrpSpPr/>
          <p:nvPr/>
        </p:nvGrpSpPr>
        <p:grpSpPr>
          <a:xfrm rot="0">
            <a:off x="511992" y="5506204"/>
            <a:ext cx="5018028" cy="969043"/>
            <a:chOff x="0" y="0"/>
            <a:chExt cx="1321620" cy="255221"/>
          </a:xfrm>
        </p:grpSpPr>
        <p:sp>
          <p:nvSpPr>
            <p:cNvPr name="Freeform 12" id="12"/>
            <p:cNvSpPr/>
            <p:nvPr/>
          </p:nvSpPr>
          <p:spPr>
            <a:xfrm flipH="false" flipV="false" rot="0">
              <a:off x="0" y="0"/>
              <a:ext cx="1321620" cy="255221"/>
            </a:xfrm>
            <a:custGeom>
              <a:avLst/>
              <a:gdLst/>
              <a:ahLst/>
              <a:cxnLst/>
              <a:rect r="r" b="b" t="t" l="l"/>
              <a:pathLst>
                <a:path h="255221" w="1321620">
                  <a:moveTo>
                    <a:pt x="78684" y="0"/>
                  </a:moveTo>
                  <a:lnTo>
                    <a:pt x="1242937" y="0"/>
                  </a:lnTo>
                  <a:cubicBezTo>
                    <a:pt x="1286393" y="0"/>
                    <a:pt x="1321620" y="35228"/>
                    <a:pt x="1321620" y="78684"/>
                  </a:cubicBezTo>
                  <a:lnTo>
                    <a:pt x="1321620" y="176537"/>
                  </a:lnTo>
                  <a:cubicBezTo>
                    <a:pt x="1321620" y="197406"/>
                    <a:pt x="1313331" y="217419"/>
                    <a:pt x="1298575" y="232175"/>
                  </a:cubicBezTo>
                  <a:cubicBezTo>
                    <a:pt x="1283818" y="246931"/>
                    <a:pt x="1263805" y="255221"/>
                    <a:pt x="1242937" y="255221"/>
                  </a:cubicBezTo>
                  <a:lnTo>
                    <a:pt x="78684" y="255221"/>
                  </a:lnTo>
                  <a:cubicBezTo>
                    <a:pt x="57816" y="255221"/>
                    <a:pt x="37802" y="246931"/>
                    <a:pt x="23046" y="232175"/>
                  </a:cubicBezTo>
                  <a:cubicBezTo>
                    <a:pt x="8290" y="217419"/>
                    <a:pt x="0" y="197406"/>
                    <a:pt x="0" y="176537"/>
                  </a:cubicBezTo>
                  <a:lnTo>
                    <a:pt x="0" y="78684"/>
                  </a:lnTo>
                  <a:cubicBezTo>
                    <a:pt x="0" y="35228"/>
                    <a:pt x="35228" y="0"/>
                    <a:pt x="78684" y="0"/>
                  </a:cubicBezTo>
                  <a:close/>
                </a:path>
              </a:pathLst>
            </a:custGeom>
            <a:solidFill>
              <a:srgbClr val="48CFAE"/>
            </a:solidFill>
          </p:spPr>
        </p:sp>
        <p:sp>
          <p:nvSpPr>
            <p:cNvPr name="TextBox 13" id="13"/>
            <p:cNvSpPr txBox="true"/>
            <p:nvPr/>
          </p:nvSpPr>
          <p:spPr>
            <a:xfrm>
              <a:off x="0" y="19050"/>
              <a:ext cx="1321620" cy="236171"/>
            </a:xfrm>
            <a:prstGeom prst="rect">
              <a:avLst/>
            </a:prstGeom>
          </p:spPr>
          <p:txBody>
            <a:bodyPr anchor="ctr" rtlCol="false" tIns="50800" lIns="50800" bIns="50800" rIns="50800"/>
            <a:lstStyle/>
            <a:p>
              <a:pPr algn="ctr">
                <a:lnSpc>
                  <a:spcPts val="2553"/>
                </a:lnSpc>
              </a:pPr>
            </a:p>
          </p:txBody>
        </p:sp>
      </p:grpSp>
      <p:sp>
        <p:nvSpPr>
          <p:cNvPr name="TextBox 14" id="14"/>
          <p:cNvSpPr txBox="true"/>
          <p:nvPr/>
        </p:nvSpPr>
        <p:spPr>
          <a:xfrm rot="0">
            <a:off x="857439" y="5685952"/>
            <a:ext cx="4672580" cy="885772"/>
          </a:xfrm>
          <a:prstGeom prst="rect">
            <a:avLst/>
          </a:prstGeom>
        </p:spPr>
        <p:txBody>
          <a:bodyPr anchor="t" rtlCol="false" tIns="0" lIns="0" bIns="0" rIns="0">
            <a:spAutoFit/>
          </a:bodyPr>
          <a:lstStyle/>
          <a:p>
            <a:pPr algn="l">
              <a:lnSpc>
                <a:spcPts val="2247"/>
              </a:lnSpc>
            </a:pPr>
            <a:r>
              <a:rPr lang="en-US" b="true" sz="2247">
                <a:solidFill>
                  <a:srgbClr val="FFFFFF"/>
                </a:solidFill>
                <a:latin typeface="Kollektif Bold"/>
                <a:ea typeface="Kollektif Bold"/>
                <a:cs typeface="Kollektif Bold"/>
                <a:sym typeface="Kollektif Bold"/>
              </a:rPr>
              <a:t>BACKTRACKING + MRV + LCV + FORWARD CHECKING:</a:t>
            </a:r>
          </a:p>
          <a:p>
            <a:pPr algn="l">
              <a:lnSpc>
                <a:spcPts val="2247"/>
              </a:lnSpc>
            </a:pPr>
          </a:p>
        </p:txBody>
      </p:sp>
      <p:sp>
        <p:nvSpPr>
          <p:cNvPr name="TextBox 15" id="15"/>
          <p:cNvSpPr txBox="true"/>
          <p:nvPr/>
        </p:nvSpPr>
        <p:spPr>
          <a:xfrm rot="0">
            <a:off x="511992" y="6789572"/>
            <a:ext cx="17217033" cy="3345563"/>
          </a:xfrm>
          <a:prstGeom prst="rect">
            <a:avLst/>
          </a:prstGeom>
        </p:spPr>
        <p:txBody>
          <a:bodyPr anchor="t" rtlCol="false" tIns="0" lIns="0" bIns="0" rIns="0">
            <a:spAutoFit/>
          </a:bodyPr>
          <a:lstStyle/>
          <a:p>
            <a:pPr algn="l">
              <a:lnSpc>
                <a:spcPts val="2997"/>
              </a:lnSpc>
              <a:spcBef>
                <a:spcPct val="0"/>
              </a:spcBef>
            </a:pPr>
            <a:r>
              <a:rPr lang="en-US" sz="2700">
                <a:solidFill>
                  <a:srgbClr val="000000"/>
                </a:solidFill>
                <a:latin typeface="DM Sans"/>
                <a:ea typeface="DM Sans"/>
                <a:cs typeface="DM Sans"/>
                <a:sym typeface="DM Sans"/>
              </a:rPr>
              <a:t>Kết quả giảm mạnh về s</a:t>
            </a:r>
            <a:r>
              <a:rPr lang="en-US" sz="2700">
                <a:solidFill>
                  <a:srgbClr val="000000"/>
                </a:solidFill>
                <a:latin typeface="DM Sans"/>
                <a:ea typeface="DM Sans"/>
                <a:cs typeface="DM Sans"/>
                <a:sym typeface="DM Sans"/>
              </a:rPr>
              <a:t>ố lượng node cần gán:</a:t>
            </a:r>
          </a:p>
          <a:p>
            <a:pPr algn="l">
              <a:lnSpc>
                <a:spcPts val="2997"/>
              </a:lnSpc>
              <a:spcBef>
                <a:spcPct val="0"/>
              </a:spcBef>
            </a:pPr>
            <a:r>
              <a:rPr lang="en-US" sz="2700">
                <a:solidFill>
                  <a:srgbClr val="000000"/>
                </a:solidFill>
                <a:latin typeface="DM Sans"/>
                <a:ea typeface="DM Sans"/>
                <a:cs typeface="DM Sans"/>
                <a:sym typeface="DM Sans"/>
              </a:rPr>
              <a:t>Ví dụ n=40, colors=3: từ ~10.994 (MRV+LCV) xuống chỉ còn 46 khi thêm Forward Checking!</a:t>
            </a:r>
          </a:p>
          <a:p>
            <a:pPr algn="l">
              <a:lnSpc>
                <a:spcPts val="2997"/>
              </a:lnSpc>
              <a:spcBef>
                <a:spcPct val="0"/>
              </a:spcBef>
            </a:pPr>
            <a:r>
              <a:rPr lang="en-US" sz="2700">
                <a:solidFill>
                  <a:srgbClr val="000000"/>
                </a:solidFill>
                <a:latin typeface="DM Sans"/>
                <a:ea typeface="DM Sans"/>
                <a:cs typeface="DM Sans"/>
                <a:sym typeface="DM Sans"/>
              </a:rPr>
              <a:t>Với n=80, colors=4: từ hàng trăm nghìn node xuống chỉ còn ~87 node.</a:t>
            </a:r>
          </a:p>
          <a:p>
            <a:pPr algn="l">
              <a:lnSpc>
                <a:spcPts val="2997"/>
              </a:lnSpc>
              <a:spcBef>
                <a:spcPct val="0"/>
              </a:spcBef>
            </a:pPr>
            <a:r>
              <a:rPr lang="en-US" sz="2700">
                <a:solidFill>
                  <a:srgbClr val="000000"/>
                </a:solidFill>
                <a:latin typeface="DM Sans"/>
                <a:ea typeface="DM Sans"/>
                <a:cs typeface="DM Sans"/>
                <a:sym typeface="DM Sans"/>
              </a:rPr>
              <a:t>Chứng minh rằng:</a:t>
            </a:r>
          </a:p>
          <a:p>
            <a:pPr algn="l">
              <a:lnSpc>
                <a:spcPts val="2997"/>
              </a:lnSpc>
              <a:spcBef>
                <a:spcPct val="0"/>
              </a:spcBef>
            </a:pPr>
            <a:r>
              <a:rPr lang="en-US" sz="2700">
                <a:solidFill>
                  <a:srgbClr val="000000"/>
                </a:solidFill>
                <a:latin typeface="DM Sans"/>
                <a:ea typeface="DM Sans"/>
                <a:cs typeface="DM Sans"/>
                <a:sym typeface="DM Sans"/>
              </a:rPr>
              <a:t>MRV (Minimum Remaining Values) giúp chọn biến có ít lựa chọn nhất trước, giảm nhánh tìm kiếm.</a:t>
            </a:r>
          </a:p>
          <a:p>
            <a:pPr algn="l">
              <a:lnSpc>
                <a:spcPts val="2997"/>
              </a:lnSpc>
              <a:spcBef>
                <a:spcPct val="0"/>
              </a:spcBef>
            </a:pPr>
            <a:r>
              <a:rPr lang="en-US" sz="2700">
                <a:solidFill>
                  <a:srgbClr val="000000"/>
                </a:solidFill>
                <a:latin typeface="DM Sans"/>
                <a:ea typeface="DM Sans"/>
                <a:cs typeface="DM Sans"/>
                <a:sym typeface="DM Sans"/>
              </a:rPr>
              <a:t>LCV (Least Constraining Value) giúp chọn giá trị ít gây xung đột cho các biến khác.</a:t>
            </a:r>
          </a:p>
          <a:p>
            <a:pPr algn="l">
              <a:lnSpc>
                <a:spcPts val="2997"/>
              </a:lnSpc>
              <a:spcBef>
                <a:spcPct val="0"/>
              </a:spcBef>
            </a:pPr>
            <a:r>
              <a:rPr lang="en-US" sz="2700">
                <a:solidFill>
                  <a:srgbClr val="000000"/>
                </a:solidFill>
                <a:latin typeface="DM Sans"/>
                <a:ea typeface="DM Sans"/>
                <a:cs typeface="DM Sans"/>
                <a:sym typeface="DM Sans"/>
              </a:rPr>
              <a:t>Forward Checking phát hiện xung đột sớm → cắt tỉa nhanh nhánh vô nghiệm.</a:t>
            </a:r>
          </a:p>
          <a:p>
            <a:pPr algn="l">
              <a:lnSpc>
                <a:spcPts val="2997"/>
              </a:lnSpc>
              <a:spcBef>
                <a:spcPct val="0"/>
              </a:spcBef>
            </a:pPr>
            <a:r>
              <a:rPr lang="en-US" sz="2700">
                <a:solidFill>
                  <a:srgbClr val="000000"/>
                </a:solidFill>
                <a:latin typeface="DM Sans"/>
                <a:ea typeface="DM Sans"/>
                <a:cs typeface="DM Sans"/>
                <a:sym typeface="DM Sans"/>
              </a:rPr>
              <a:t>Kết luận: Khi kết hợp MRV + LCV + Forward Checking, hiệu năng cải thiện rõ rệt, giảm mạnh số lần thử nghiệm.</a:t>
            </a:r>
          </a:p>
          <a:p>
            <a:pPr algn="l">
              <a:lnSpc>
                <a:spcPts val="2997"/>
              </a:lnSpc>
              <a:spcBef>
                <a:spcPct val="0"/>
              </a:spcBef>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86891" y="283875"/>
            <a:ext cx="5018028" cy="969043"/>
            <a:chOff x="0" y="0"/>
            <a:chExt cx="1321620" cy="255221"/>
          </a:xfrm>
        </p:grpSpPr>
        <p:sp>
          <p:nvSpPr>
            <p:cNvPr name="Freeform 3" id="3"/>
            <p:cNvSpPr/>
            <p:nvPr/>
          </p:nvSpPr>
          <p:spPr>
            <a:xfrm flipH="false" flipV="false" rot="0">
              <a:off x="0" y="0"/>
              <a:ext cx="1321620" cy="255221"/>
            </a:xfrm>
            <a:custGeom>
              <a:avLst/>
              <a:gdLst/>
              <a:ahLst/>
              <a:cxnLst/>
              <a:rect r="r" b="b" t="t" l="l"/>
              <a:pathLst>
                <a:path h="255221" w="1321620">
                  <a:moveTo>
                    <a:pt x="78684" y="0"/>
                  </a:moveTo>
                  <a:lnTo>
                    <a:pt x="1242937" y="0"/>
                  </a:lnTo>
                  <a:cubicBezTo>
                    <a:pt x="1286393" y="0"/>
                    <a:pt x="1321620" y="35228"/>
                    <a:pt x="1321620" y="78684"/>
                  </a:cubicBezTo>
                  <a:lnTo>
                    <a:pt x="1321620" y="176537"/>
                  </a:lnTo>
                  <a:cubicBezTo>
                    <a:pt x="1321620" y="197406"/>
                    <a:pt x="1313331" y="217419"/>
                    <a:pt x="1298575" y="232175"/>
                  </a:cubicBezTo>
                  <a:cubicBezTo>
                    <a:pt x="1283818" y="246931"/>
                    <a:pt x="1263805" y="255221"/>
                    <a:pt x="1242937" y="255221"/>
                  </a:cubicBezTo>
                  <a:lnTo>
                    <a:pt x="78684" y="255221"/>
                  </a:lnTo>
                  <a:cubicBezTo>
                    <a:pt x="57816" y="255221"/>
                    <a:pt x="37802" y="246931"/>
                    <a:pt x="23046" y="232175"/>
                  </a:cubicBezTo>
                  <a:cubicBezTo>
                    <a:pt x="8290" y="217419"/>
                    <a:pt x="0" y="197406"/>
                    <a:pt x="0" y="176537"/>
                  </a:cubicBezTo>
                  <a:lnTo>
                    <a:pt x="0" y="78684"/>
                  </a:lnTo>
                  <a:cubicBezTo>
                    <a:pt x="0" y="35228"/>
                    <a:pt x="35228" y="0"/>
                    <a:pt x="78684" y="0"/>
                  </a:cubicBezTo>
                  <a:close/>
                </a:path>
              </a:pathLst>
            </a:custGeom>
            <a:solidFill>
              <a:srgbClr val="48CFAE"/>
            </a:solidFill>
          </p:spPr>
        </p:sp>
        <p:sp>
          <p:nvSpPr>
            <p:cNvPr name="TextBox 4" id="4"/>
            <p:cNvSpPr txBox="true"/>
            <p:nvPr/>
          </p:nvSpPr>
          <p:spPr>
            <a:xfrm>
              <a:off x="0" y="19050"/>
              <a:ext cx="1321620" cy="236171"/>
            </a:xfrm>
            <a:prstGeom prst="rect">
              <a:avLst/>
            </a:prstGeom>
          </p:spPr>
          <p:txBody>
            <a:bodyPr anchor="ctr" rtlCol="false" tIns="50800" lIns="50800" bIns="50800" rIns="50800"/>
            <a:lstStyle/>
            <a:p>
              <a:pPr algn="ctr">
                <a:lnSpc>
                  <a:spcPts val="2553"/>
                </a:lnSpc>
              </a:pPr>
            </a:p>
          </p:txBody>
        </p:sp>
      </p:grpSp>
      <p:grpSp>
        <p:nvGrpSpPr>
          <p:cNvPr name="Group 5" id="5"/>
          <p:cNvGrpSpPr/>
          <p:nvPr/>
        </p:nvGrpSpPr>
        <p:grpSpPr>
          <a:xfrm rot="0">
            <a:off x="459615" y="4912805"/>
            <a:ext cx="4528501" cy="655044"/>
            <a:chOff x="0" y="0"/>
            <a:chExt cx="1871524" cy="270714"/>
          </a:xfrm>
        </p:grpSpPr>
        <p:sp>
          <p:nvSpPr>
            <p:cNvPr name="Freeform 6" id="6"/>
            <p:cNvSpPr/>
            <p:nvPr/>
          </p:nvSpPr>
          <p:spPr>
            <a:xfrm flipH="false" flipV="false" rot="0">
              <a:off x="0" y="0"/>
              <a:ext cx="1871524" cy="270714"/>
            </a:xfrm>
            <a:custGeom>
              <a:avLst/>
              <a:gdLst/>
              <a:ahLst/>
              <a:cxnLst/>
              <a:rect r="r" b="b" t="t" l="l"/>
              <a:pathLst>
                <a:path h="270714" w="1871524">
                  <a:moveTo>
                    <a:pt x="87190" y="0"/>
                  </a:moveTo>
                  <a:lnTo>
                    <a:pt x="1784334" y="0"/>
                  </a:lnTo>
                  <a:cubicBezTo>
                    <a:pt x="1807458" y="0"/>
                    <a:pt x="1829635" y="9186"/>
                    <a:pt x="1845987" y="25537"/>
                  </a:cubicBezTo>
                  <a:cubicBezTo>
                    <a:pt x="1862338" y="41888"/>
                    <a:pt x="1871524" y="64065"/>
                    <a:pt x="1871524" y="87190"/>
                  </a:cubicBezTo>
                  <a:lnTo>
                    <a:pt x="1871524" y="183525"/>
                  </a:lnTo>
                  <a:cubicBezTo>
                    <a:pt x="1871524" y="231678"/>
                    <a:pt x="1832488" y="270714"/>
                    <a:pt x="1784334" y="270714"/>
                  </a:cubicBezTo>
                  <a:lnTo>
                    <a:pt x="87190" y="270714"/>
                  </a:lnTo>
                  <a:cubicBezTo>
                    <a:pt x="64065" y="270714"/>
                    <a:pt x="41888" y="261528"/>
                    <a:pt x="25537" y="245177"/>
                  </a:cubicBezTo>
                  <a:cubicBezTo>
                    <a:pt x="9186" y="228826"/>
                    <a:pt x="0" y="206649"/>
                    <a:pt x="0" y="183525"/>
                  </a:cubicBezTo>
                  <a:lnTo>
                    <a:pt x="0" y="87190"/>
                  </a:lnTo>
                  <a:cubicBezTo>
                    <a:pt x="0" y="64065"/>
                    <a:pt x="9186" y="41888"/>
                    <a:pt x="25537" y="25537"/>
                  </a:cubicBezTo>
                  <a:cubicBezTo>
                    <a:pt x="41888" y="9186"/>
                    <a:pt x="64065" y="0"/>
                    <a:pt x="87190" y="0"/>
                  </a:cubicBezTo>
                  <a:close/>
                </a:path>
              </a:pathLst>
            </a:custGeom>
            <a:solidFill>
              <a:srgbClr val="FE6D73"/>
            </a:solidFill>
          </p:spPr>
        </p:sp>
        <p:sp>
          <p:nvSpPr>
            <p:cNvPr name="TextBox 7" id="7"/>
            <p:cNvSpPr txBox="true"/>
            <p:nvPr/>
          </p:nvSpPr>
          <p:spPr>
            <a:xfrm>
              <a:off x="0" y="19050"/>
              <a:ext cx="1871524" cy="251664"/>
            </a:xfrm>
            <a:prstGeom prst="rect">
              <a:avLst/>
            </a:prstGeom>
          </p:spPr>
          <p:txBody>
            <a:bodyPr anchor="ctr" rtlCol="false" tIns="50800" lIns="50800" bIns="50800" rIns="50800"/>
            <a:lstStyle/>
            <a:p>
              <a:pPr algn="ctr">
                <a:lnSpc>
                  <a:spcPts val="2553"/>
                </a:lnSpc>
              </a:pPr>
            </a:p>
          </p:txBody>
        </p:sp>
      </p:grpSp>
      <p:graphicFrame>
        <p:nvGraphicFramePr>
          <p:cNvPr name="Object 8" id="8"/>
          <p:cNvGraphicFramePr/>
          <p:nvPr/>
        </p:nvGraphicFramePr>
        <p:xfrm>
          <a:off x="459615" y="6024654"/>
          <a:ext cx="7543800" cy="2514600"/>
        </p:xfrm>
        <a:graphic>
          <a:graphicData uri="http://schemas.openxmlformats.org/presentationml/2006/ole">
            <p:oleObj imgW="9042400" imgH="4013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9" id="9"/>
          <p:cNvSpPr txBox="true"/>
          <p:nvPr/>
        </p:nvSpPr>
        <p:spPr>
          <a:xfrm rot="0">
            <a:off x="459615" y="601735"/>
            <a:ext cx="4672580" cy="333322"/>
          </a:xfrm>
          <a:prstGeom prst="rect">
            <a:avLst/>
          </a:prstGeom>
        </p:spPr>
        <p:txBody>
          <a:bodyPr anchor="t" rtlCol="false" tIns="0" lIns="0" bIns="0" rIns="0">
            <a:spAutoFit/>
          </a:bodyPr>
          <a:lstStyle/>
          <a:p>
            <a:pPr algn="l">
              <a:lnSpc>
                <a:spcPts val="2247"/>
              </a:lnSpc>
            </a:pPr>
            <a:r>
              <a:rPr lang="en-US" b="true" sz="2247">
                <a:solidFill>
                  <a:srgbClr val="FFFFFF"/>
                </a:solidFill>
                <a:latin typeface="Kollektif Bold"/>
                <a:ea typeface="Kollektif Bold"/>
                <a:cs typeface="Kollektif Bold"/>
                <a:sym typeface="Kollektif Bold"/>
              </a:rPr>
              <a:t>HILL CLIMBING (MIN-CONFLICTS):</a:t>
            </a:r>
          </a:p>
        </p:txBody>
      </p:sp>
      <p:sp>
        <p:nvSpPr>
          <p:cNvPr name="TextBox 10" id="10"/>
          <p:cNvSpPr txBox="true"/>
          <p:nvPr/>
        </p:nvSpPr>
        <p:spPr>
          <a:xfrm rot="0">
            <a:off x="286891" y="1567243"/>
            <a:ext cx="17142023" cy="3345563"/>
          </a:xfrm>
          <a:prstGeom prst="rect">
            <a:avLst/>
          </a:prstGeom>
        </p:spPr>
        <p:txBody>
          <a:bodyPr anchor="t" rtlCol="false" tIns="0" lIns="0" bIns="0" rIns="0">
            <a:spAutoFit/>
          </a:bodyPr>
          <a:lstStyle/>
          <a:p>
            <a:pPr algn="l">
              <a:lnSpc>
                <a:spcPts val="2997"/>
              </a:lnSpc>
              <a:spcBef>
                <a:spcPct val="0"/>
              </a:spcBef>
            </a:pPr>
            <a:r>
              <a:rPr lang="en-US" sz="2700">
                <a:solidFill>
                  <a:srgbClr val="000000"/>
                </a:solidFill>
                <a:latin typeface="DM Sans"/>
                <a:ea typeface="DM Sans"/>
                <a:cs typeface="DM Sans"/>
                <a:sym typeface="DM Sans"/>
              </a:rPr>
              <a:t>Được đo bằng s</a:t>
            </a:r>
            <a:r>
              <a:rPr lang="en-US" sz="2700">
                <a:solidFill>
                  <a:srgbClr val="000000"/>
                </a:solidFill>
                <a:latin typeface="DM Sans"/>
                <a:ea typeface="DM Sans"/>
                <a:cs typeface="DM Sans"/>
                <a:sym typeface="DM Sans"/>
              </a:rPr>
              <a:t>ố bước di chuyển (steps) và số lần khởi động lại (restarts).</a:t>
            </a:r>
          </a:p>
          <a:p>
            <a:pPr algn="l">
              <a:lnSpc>
                <a:spcPts val="2997"/>
              </a:lnSpc>
              <a:spcBef>
                <a:spcPct val="0"/>
              </a:spcBef>
            </a:pPr>
            <a:r>
              <a:rPr lang="en-US" sz="2700">
                <a:solidFill>
                  <a:srgbClr val="000000"/>
                </a:solidFill>
                <a:latin typeface="DM Sans"/>
                <a:ea typeface="DM Sans"/>
                <a:cs typeface="DM Sans"/>
                <a:sym typeface="DM Sans"/>
              </a:rPr>
              <a:t>Với colors=3, hầu hết các trường hợp đạt 400,000 bước → nghĩa là không hội tụ, hoặc bị kẹt ở local minima.</a:t>
            </a:r>
          </a:p>
          <a:p>
            <a:pPr algn="l">
              <a:lnSpc>
                <a:spcPts val="2997"/>
              </a:lnSpc>
              <a:spcBef>
                <a:spcPct val="0"/>
              </a:spcBef>
            </a:pPr>
            <a:r>
              <a:rPr lang="en-US" sz="2700">
                <a:solidFill>
                  <a:srgbClr val="000000"/>
                </a:solidFill>
                <a:latin typeface="DM Sans"/>
                <a:ea typeface="DM Sans"/>
                <a:cs typeface="DM Sans"/>
                <a:sym typeface="DM Sans"/>
              </a:rPr>
              <a:t>Với colors=4, số bước giảm mạnh xuống vài trăm → hội tụ nhanh hơn, và số lần restart ≈ 1.</a:t>
            </a:r>
          </a:p>
          <a:p>
            <a:pPr algn="l">
              <a:lnSpc>
                <a:spcPts val="2997"/>
              </a:lnSpc>
              <a:spcBef>
                <a:spcPct val="0"/>
              </a:spcBef>
            </a:pPr>
          </a:p>
          <a:p>
            <a:pPr algn="l">
              <a:lnSpc>
                <a:spcPts val="2997"/>
              </a:lnSpc>
              <a:spcBef>
                <a:spcPct val="0"/>
              </a:spcBef>
            </a:pPr>
            <a:r>
              <a:rPr lang="en-US" sz="2700">
                <a:solidFill>
                  <a:srgbClr val="000000"/>
                </a:solidFill>
                <a:latin typeface="DM Sans"/>
                <a:ea typeface="DM Sans"/>
                <a:cs typeface="DM Sans"/>
                <a:sym typeface="DM Sans"/>
              </a:rPr>
              <a:t>Kết luận:</a:t>
            </a:r>
          </a:p>
          <a:p>
            <a:pPr algn="l">
              <a:lnSpc>
                <a:spcPts val="2997"/>
              </a:lnSpc>
              <a:spcBef>
                <a:spcPct val="0"/>
              </a:spcBef>
            </a:pPr>
            <a:r>
              <a:rPr lang="en-US" sz="2700">
                <a:solidFill>
                  <a:srgbClr val="000000"/>
                </a:solidFill>
                <a:latin typeface="DM Sans"/>
                <a:ea typeface="DM Sans"/>
                <a:cs typeface="DM Sans"/>
                <a:sym typeface="DM Sans"/>
              </a:rPr>
              <a:t>Hill Climbing hoạt động tốt khi số màu đủ lớn (&gt;=4).</a:t>
            </a:r>
          </a:p>
          <a:p>
            <a:pPr algn="l">
              <a:lnSpc>
                <a:spcPts val="2997"/>
              </a:lnSpc>
              <a:spcBef>
                <a:spcPct val="0"/>
              </a:spcBef>
            </a:pPr>
            <a:r>
              <a:rPr lang="en-US" sz="2700">
                <a:solidFill>
                  <a:srgbClr val="000000"/>
                </a:solidFill>
                <a:latin typeface="DM Sans"/>
                <a:ea typeface="DM Sans"/>
                <a:cs typeface="DM Sans"/>
                <a:sym typeface="DM Sans"/>
              </a:rPr>
              <a:t>Nhưng dễ bị kẹt cực trị khi màu quá ít (3).</a:t>
            </a:r>
          </a:p>
          <a:p>
            <a:pPr algn="l">
              <a:lnSpc>
                <a:spcPts val="2997"/>
              </a:lnSpc>
              <a:spcBef>
                <a:spcPct val="0"/>
              </a:spcBef>
            </a:pPr>
            <a:r>
              <a:rPr lang="en-US" sz="2700">
                <a:solidFill>
                  <a:srgbClr val="000000"/>
                </a:solidFill>
                <a:latin typeface="DM Sans"/>
                <a:ea typeface="DM Sans"/>
                <a:cs typeface="DM Sans"/>
                <a:sym typeface="DM Sans"/>
              </a:rPr>
              <a:t>Ưu điểm: thời gian thực thi cực nhanh cho bài toán lớn, nhưng cần tham số phù hợp (steps, restarts).</a:t>
            </a:r>
          </a:p>
          <a:p>
            <a:pPr algn="l">
              <a:lnSpc>
                <a:spcPts val="2997"/>
              </a:lnSpc>
              <a:spcBef>
                <a:spcPct val="0"/>
              </a:spcBef>
            </a:pPr>
          </a:p>
        </p:txBody>
      </p:sp>
      <p:sp>
        <p:nvSpPr>
          <p:cNvPr name="TextBox 11" id="11"/>
          <p:cNvSpPr txBox="true"/>
          <p:nvPr/>
        </p:nvSpPr>
        <p:spPr>
          <a:xfrm rot="0">
            <a:off x="678567" y="5037570"/>
            <a:ext cx="3992964" cy="395990"/>
          </a:xfrm>
          <a:prstGeom prst="rect">
            <a:avLst/>
          </a:prstGeom>
        </p:spPr>
        <p:txBody>
          <a:bodyPr anchor="t" rtlCol="false" tIns="0" lIns="0" bIns="0" rIns="0">
            <a:spAutoFit/>
          </a:bodyPr>
          <a:lstStyle/>
          <a:p>
            <a:pPr algn="l">
              <a:lnSpc>
                <a:spcPts val="2549"/>
              </a:lnSpc>
            </a:pPr>
            <a:r>
              <a:rPr lang="en-US" sz="2549" b="true">
                <a:solidFill>
                  <a:srgbClr val="FFFFFF"/>
                </a:solidFill>
                <a:latin typeface="Kollektif Bold"/>
                <a:ea typeface="Kollektif Bold"/>
                <a:cs typeface="Kollektif Bold"/>
                <a:sym typeface="Kollektif Bold"/>
              </a:rPr>
              <a:t>TỔNG HỢP ĐÁNH GIÁ:</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53399" y="193629"/>
            <a:ext cx="2354707" cy="835071"/>
            <a:chOff x="0" y="0"/>
            <a:chExt cx="973146" cy="345115"/>
          </a:xfrm>
        </p:grpSpPr>
        <p:sp>
          <p:nvSpPr>
            <p:cNvPr name="Freeform 3" id="3"/>
            <p:cNvSpPr/>
            <p:nvPr/>
          </p:nvSpPr>
          <p:spPr>
            <a:xfrm flipH="false" flipV="false" rot="0">
              <a:off x="0" y="0"/>
              <a:ext cx="973146" cy="345115"/>
            </a:xfrm>
            <a:custGeom>
              <a:avLst/>
              <a:gdLst/>
              <a:ahLst/>
              <a:cxnLst/>
              <a:rect r="r" b="b" t="t" l="l"/>
              <a:pathLst>
                <a:path h="345115" w="973146">
                  <a:moveTo>
                    <a:pt x="167680" y="0"/>
                  </a:moveTo>
                  <a:lnTo>
                    <a:pt x="805465" y="0"/>
                  </a:lnTo>
                  <a:cubicBezTo>
                    <a:pt x="849937" y="0"/>
                    <a:pt x="892587" y="17666"/>
                    <a:pt x="924033" y="49112"/>
                  </a:cubicBezTo>
                  <a:cubicBezTo>
                    <a:pt x="955479" y="80559"/>
                    <a:pt x="973146" y="123209"/>
                    <a:pt x="973146" y="167680"/>
                  </a:cubicBezTo>
                  <a:lnTo>
                    <a:pt x="973146" y="177435"/>
                  </a:lnTo>
                  <a:cubicBezTo>
                    <a:pt x="973146" y="270042"/>
                    <a:pt x="898073" y="345115"/>
                    <a:pt x="805465" y="345115"/>
                  </a:cubicBezTo>
                  <a:lnTo>
                    <a:pt x="167680" y="345115"/>
                  </a:lnTo>
                  <a:cubicBezTo>
                    <a:pt x="123209" y="345115"/>
                    <a:pt x="80559" y="327449"/>
                    <a:pt x="49112" y="296003"/>
                  </a:cubicBezTo>
                  <a:cubicBezTo>
                    <a:pt x="17666" y="264557"/>
                    <a:pt x="0" y="221907"/>
                    <a:pt x="0" y="177435"/>
                  </a:cubicBezTo>
                  <a:lnTo>
                    <a:pt x="0" y="167680"/>
                  </a:lnTo>
                  <a:cubicBezTo>
                    <a:pt x="0" y="123209"/>
                    <a:pt x="17666" y="80559"/>
                    <a:pt x="49112" y="49112"/>
                  </a:cubicBezTo>
                  <a:cubicBezTo>
                    <a:pt x="80559" y="17666"/>
                    <a:pt x="123209" y="0"/>
                    <a:pt x="167680" y="0"/>
                  </a:cubicBezTo>
                  <a:close/>
                </a:path>
              </a:pathLst>
            </a:custGeom>
            <a:solidFill>
              <a:srgbClr val="FE6D73"/>
            </a:solidFill>
          </p:spPr>
        </p:sp>
        <p:sp>
          <p:nvSpPr>
            <p:cNvPr name="TextBox 4" id="4"/>
            <p:cNvSpPr txBox="true"/>
            <p:nvPr/>
          </p:nvSpPr>
          <p:spPr>
            <a:xfrm>
              <a:off x="0" y="19050"/>
              <a:ext cx="973146" cy="326065"/>
            </a:xfrm>
            <a:prstGeom prst="rect">
              <a:avLst/>
            </a:prstGeom>
          </p:spPr>
          <p:txBody>
            <a:bodyPr anchor="ctr" rtlCol="false" tIns="50800" lIns="50800" bIns="50800" rIns="50800"/>
            <a:lstStyle/>
            <a:p>
              <a:pPr algn="ctr">
                <a:lnSpc>
                  <a:spcPts val="2553"/>
                </a:lnSpc>
              </a:pPr>
            </a:p>
          </p:txBody>
        </p:sp>
      </p:grpSp>
      <p:grpSp>
        <p:nvGrpSpPr>
          <p:cNvPr name="Group 5" id="5"/>
          <p:cNvGrpSpPr/>
          <p:nvPr/>
        </p:nvGrpSpPr>
        <p:grpSpPr>
          <a:xfrm rot="0">
            <a:off x="511992" y="1324948"/>
            <a:ext cx="5944661" cy="1048299"/>
            <a:chOff x="0" y="0"/>
            <a:chExt cx="1447301" cy="255221"/>
          </a:xfrm>
        </p:grpSpPr>
        <p:sp>
          <p:nvSpPr>
            <p:cNvPr name="Freeform 6" id="6"/>
            <p:cNvSpPr/>
            <p:nvPr/>
          </p:nvSpPr>
          <p:spPr>
            <a:xfrm flipH="false" flipV="false" rot="0">
              <a:off x="0" y="0"/>
              <a:ext cx="1447301" cy="255221"/>
            </a:xfrm>
            <a:custGeom>
              <a:avLst/>
              <a:gdLst/>
              <a:ahLst/>
              <a:cxnLst/>
              <a:rect r="r" b="b" t="t" l="l"/>
              <a:pathLst>
                <a:path h="255221" w="1447301">
                  <a:moveTo>
                    <a:pt x="66419" y="0"/>
                  </a:moveTo>
                  <a:lnTo>
                    <a:pt x="1380882" y="0"/>
                  </a:lnTo>
                  <a:cubicBezTo>
                    <a:pt x="1398498" y="0"/>
                    <a:pt x="1415392" y="6998"/>
                    <a:pt x="1427847" y="19454"/>
                  </a:cubicBezTo>
                  <a:cubicBezTo>
                    <a:pt x="1440303" y="31910"/>
                    <a:pt x="1447301" y="48804"/>
                    <a:pt x="1447301" y="66419"/>
                  </a:cubicBezTo>
                  <a:lnTo>
                    <a:pt x="1447301" y="188802"/>
                  </a:lnTo>
                  <a:cubicBezTo>
                    <a:pt x="1447301" y="206418"/>
                    <a:pt x="1440303" y="223312"/>
                    <a:pt x="1427847" y="235768"/>
                  </a:cubicBezTo>
                  <a:cubicBezTo>
                    <a:pt x="1415392" y="248224"/>
                    <a:pt x="1398498" y="255221"/>
                    <a:pt x="1380882" y="255221"/>
                  </a:cubicBezTo>
                  <a:lnTo>
                    <a:pt x="66419" y="255221"/>
                  </a:lnTo>
                  <a:cubicBezTo>
                    <a:pt x="48804" y="255221"/>
                    <a:pt x="31910" y="248224"/>
                    <a:pt x="19454" y="235768"/>
                  </a:cubicBezTo>
                  <a:cubicBezTo>
                    <a:pt x="6998" y="223312"/>
                    <a:pt x="0" y="206418"/>
                    <a:pt x="0" y="188802"/>
                  </a:cubicBezTo>
                  <a:lnTo>
                    <a:pt x="0" y="66419"/>
                  </a:lnTo>
                  <a:cubicBezTo>
                    <a:pt x="0" y="48804"/>
                    <a:pt x="6998" y="31910"/>
                    <a:pt x="19454" y="19454"/>
                  </a:cubicBezTo>
                  <a:cubicBezTo>
                    <a:pt x="31910" y="6998"/>
                    <a:pt x="48804" y="0"/>
                    <a:pt x="66419" y="0"/>
                  </a:cubicBezTo>
                  <a:close/>
                </a:path>
              </a:pathLst>
            </a:custGeom>
            <a:solidFill>
              <a:srgbClr val="48CFAE"/>
            </a:solidFill>
          </p:spPr>
        </p:sp>
        <p:sp>
          <p:nvSpPr>
            <p:cNvPr name="TextBox 7" id="7"/>
            <p:cNvSpPr txBox="true"/>
            <p:nvPr/>
          </p:nvSpPr>
          <p:spPr>
            <a:xfrm>
              <a:off x="0" y="19050"/>
              <a:ext cx="1447301" cy="236171"/>
            </a:xfrm>
            <a:prstGeom prst="rect">
              <a:avLst/>
            </a:prstGeom>
          </p:spPr>
          <p:txBody>
            <a:bodyPr anchor="ctr" rtlCol="false" tIns="50800" lIns="50800" bIns="50800" rIns="50800"/>
            <a:lstStyle/>
            <a:p>
              <a:pPr algn="ctr">
                <a:lnSpc>
                  <a:spcPts val="2553"/>
                </a:lnSpc>
              </a:pPr>
            </a:p>
          </p:txBody>
        </p:sp>
      </p:grpSp>
      <p:sp>
        <p:nvSpPr>
          <p:cNvPr name="Freeform 8" id="8"/>
          <p:cNvSpPr/>
          <p:nvPr/>
        </p:nvSpPr>
        <p:spPr>
          <a:xfrm flipH="false" flipV="false" rot="0">
            <a:off x="511992" y="2716146"/>
            <a:ext cx="8062122" cy="5456329"/>
          </a:xfrm>
          <a:custGeom>
            <a:avLst/>
            <a:gdLst/>
            <a:ahLst/>
            <a:cxnLst/>
            <a:rect r="r" b="b" t="t" l="l"/>
            <a:pathLst>
              <a:path h="5456329" w="8062122">
                <a:moveTo>
                  <a:pt x="0" y="0"/>
                </a:moveTo>
                <a:lnTo>
                  <a:pt x="8062122" y="0"/>
                </a:lnTo>
                <a:lnTo>
                  <a:pt x="8062122" y="5456330"/>
                </a:lnTo>
                <a:lnTo>
                  <a:pt x="0" y="5456330"/>
                </a:lnTo>
                <a:lnTo>
                  <a:pt x="0" y="0"/>
                </a:lnTo>
                <a:close/>
              </a:path>
            </a:pathLst>
          </a:custGeom>
          <a:blipFill>
            <a:blip r:embed="rId2"/>
            <a:stretch>
              <a:fillRect l="0" t="0" r="0" b="0"/>
            </a:stretch>
          </a:blipFill>
        </p:spPr>
      </p:sp>
      <p:sp>
        <p:nvSpPr>
          <p:cNvPr name="TextBox 9" id="9"/>
          <p:cNvSpPr txBox="true"/>
          <p:nvPr/>
        </p:nvSpPr>
        <p:spPr>
          <a:xfrm rot="0">
            <a:off x="857439" y="368380"/>
            <a:ext cx="1376338" cy="660320"/>
          </a:xfrm>
          <a:prstGeom prst="rect">
            <a:avLst/>
          </a:prstGeom>
        </p:spPr>
        <p:txBody>
          <a:bodyPr anchor="t" rtlCol="false" tIns="0" lIns="0" bIns="0" rIns="0">
            <a:spAutoFit/>
          </a:bodyPr>
          <a:lstStyle/>
          <a:p>
            <a:pPr algn="l">
              <a:lnSpc>
                <a:spcPts val="2342"/>
              </a:lnSpc>
            </a:pPr>
            <a:r>
              <a:rPr lang="en-US" sz="2342" b="true">
                <a:solidFill>
                  <a:srgbClr val="FFFFFF"/>
                </a:solidFill>
                <a:latin typeface="Kollektif Bold"/>
                <a:ea typeface="Kollektif Bold"/>
                <a:cs typeface="Kollektif Bold"/>
                <a:sym typeface="Kollektif Bold"/>
              </a:rPr>
              <a:t>BIỂU ĐỒ:</a:t>
            </a:r>
          </a:p>
          <a:p>
            <a:pPr algn="l">
              <a:lnSpc>
                <a:spcPts val="2342"/>
              </a:lnSpc>
            </a:pPr>
          </a:p>
        </p:txBody>
      </p:sp>
      <p:sp>
        <p:nvSpPr>
          <p:cNvPr name="TextBox 10" id="10"/>
          <p:cNvSpPr txBox="true"/>
          <p:nvPr/>
        </p:nvSpPr>
        <p:spPr>
          <a:xfrm rot="0">
            <a:off x="873517" y="1704321"/>
            <a:ext cx="5221611" cy="668926"/>
          </a:xfrm>
          <a:prstGeom prst="rect">
            <a:avLst/>
          </a:prstGeom>
        </p:spPr>
        <p:txBody>
          <a:bodyPr anchor="t" rtlCol="false" tIns="0" lIns="0" bIns="0" rIns="0">
            <a:spAutoFit/>
          </a:bodyPr>
          <a:lstStyle/>
          <a:p>
            <a:pPr algn="l">
              <a:lnSpc>
                <a:spcPts val="2431"/>
              </a:lnSpc>
            </a:pPr>
            <a:r>
              <a:rPr lang="en-US" sz="2431" b="true">
                <a:solidFill>
                  <a:srgbClr val="FFFFFF"/>
                </a:solidFill>
                <a:latin typeface="Kollektif Bold"/>
                <a:ea typeface="Kollektif Bold"/>
                <a:cs typeface="Kollektif Bold"/>
                <a:sym typeface="Kollektif Bold"/>
              </a:rPr>
              <a:t>BIỂU ĐỒ “AVERAGE EDGES VS N”.</a:t>
            </a:r>
          </a:p>
          <a:p>
            <a:pPr algn="l">
              <a:lnSpc>
                <a:spcPts val="2431"/>
              </a:lnSpc>
            </a:pPr>
          </a:p>
        </p:txBody>
      </p:sp>
      <p:sp>
        <p:nvSpPr>
          <p:cNvPr name="TextBox 11" id="11"/>
          <p:cNvSpPr txBox="true"/>
          <p:nvPr/>
        </p:nvSpPr>
        <p:spPr>
          <a:xfrm rot="0">
            <a:off x="511992" y="8543951"/>
            <a:ext cx="8062122" cy="1116713"/>
          </a:xfrm>
          <a:prstGeom prst="rect">
            <a:avLst/>
          </a:prstGeom>
        </p:spPr>
        <p:txBody>
          <a:bodyPr anchor="t" rtlCol="false" tIns="0" lIns="0" bIns="0" rIns="0">
            <a:spAutoFit/>
          </a:bodyPr>
          <a:lstStyle/>
          <a:p>
            <a:pPr algn="ctr">
              <a:lnSpc>
                <a:spcPts val="2997"/>
              </a:lnSpc>
              <a:spcBef>
                <a:spcPct val="0"/>
              </a:spcBef>
            </a:pPr>
            <a:r>
              <a:rPr lang="en-US" sz="2700">
                <a:solidFill>
                  <a:srgbClr val="000000"/>
                </a:solidFill>
                <a:latin typeface="DM Sans"/>
                <a:ea typeface="DM Sans"/>
                <a:cs typeface="DM Sans"/>
                <a:sym typeface="DM Sans"/>
              </a:rPr>
              <a:t>Biểu đồ thể hiện số cạnh trung bình trong đồ thị được tạo bằng Delaunay triangulation khi tăng số lượng đỉnh n.</a:t>
            </a:r>
          </a:p>
        </p:txBody>
      </p:sp>
      <p:sp>
        <p:nvSpPr>
          <p:cNvPr name="TextBox 12" id="12"/>
          <p:cNvSpPr txBox="true"/>
          <p:nvPr/>
        </p:nvSpPr>
        <p:spPr>
          <a:xfrm rot="0">
            <a:off x="9431706" y="3343521"/>
            <a:ext cx="8030184" cy="3620645"/>
          </a:xfrm>
          <a:prstGeom prst="rect">
            <a:avLst/>
          </a:prstGeom>
        </p:spPr>
        <p:txBody>
          <a:bodyPr anchor="t" rtlCol="false" tIns="0" lIns="0" bIns="0" rIns="0">
            <a:spAutoFit/>
          </a:bodyPr>
          <a:lstStyle/>
          <a:p>
            <a:pPr algn="just">
              <a:lnSpc>
                <a:spcPts val="2886"/>
              </a:lnSpc>
              <a:spcBef>
                <a:spcPct val="0"/>
              </a:spcBef>
            </a:pPr>
            <a:r>
              <a:rPr lang="en-US" sz="2600">
                <a:solidFill>
                  <a:srgbClr val="000000"/>
                </a:solidFill>
                <a:latin typeface="DM Sans"/>
                <a:ea typeface="DM Sans"/>
                <a:cs typeface="DM Sans"/>
                <a:sym typeface="DM Sans"/>
              </a:rPr>
              <a:t>Nhận xét:</a:t>
            </a:r>
          </a:p>
          <a:p>
            <a:pPr algn="just">
              <a:lnSpc>
                <a:spcPts val="2886"/>
              </a:lnSpc>
              <a:spcBef>
                <a:spcPct val="0"/>
              </a:spcBef>
            </a:pPr>
            <a:r>
              <a:rPr lang="en-US" sz="2600">
                <a:solidFill>
                  <a:srgbClr val="000000"/>
                </a:solidFill>
                <a:latin typeface="DM Sans"/>
                <a:ea typeface="DM Sans"/>
                <a:cs typeface="DM Sans"/>
                <a:sym typeface="DM Sans"/>
              </a:rPr>
              <a:t>· Số cạnh tăng gần như tuyến tính theo số đỉnh.</a:t>
            </a:r>
          </a:p>
          <a:p>
            <a:pPr algn="just">
              <a:lnSpc>
                <a:spcPts val="2886"/>
              </a:lnSpc>
              <a:spcBef>
                <a:spcPct val="0"/>
              </a:spcBef>
            </a:pPr>
            <a:r>
              <a:rPr lang="en-US" sz="2600">
                <a:solidFill>
                  <a:srgbClr val="000000"/>
                </a:solidFill>
                <a:latin typeface="DM Sans"/>
                <a:ea typeface="DM Sans"/>
                <a:cs typeface="DM Sans"/>
                <a:sym typeface="DM Sans"/>
              </a:rPr>
              <a:t>· Với cùng một số đỉnh, đồ thị có 3 màu và 4 màu có số cạnh trung bình tương đương, vì việc tạo cạnh không phụ thuộc vào số màu.</a:t>
            </a:r>
          </a:p>
          <a:p>
            <a:pPr algn="just">
              <a:lnSpc>
                <a:spcPts val="2886"/>
              </a:lnSpc>
              <a:spcBef>
                <a:spcPct val="0"/>
              </a:spcBef>
            </a:pPr>
            <a:r>
              <a:rPr lang="en-US" sz="2600">
                <a:solidFill>
                  <a:srgbClr val="000000"/>
                </a:solidFill>
                <a:latin typeface="DM Sans"/>
                <a:ea typeface="DM Sans"/>
                <a:cs typeface="DM Sans"/>
                <a:sym typeface="DM Sans"/>
              </a:rPr>
              <a:t>· Khi n=20,40,80n = 20, 40, 80 số cạnh trung bình lần lượt xấp xỉ 49, 107 và 225.</a:t>
            </a:r>
          </a:p>
          <a:p>
            <a:pPr algn="just">
              <a:lnSpc>
                <a:spcPts val="2886"/>
              </a:lnSpc>
              <a:spcBef>
                <a:spcPct val="0"/>
              </a:spcBef>
            </a:pPr>
            <a:r>
              <a:rPr lang="en-US" sz="2600">
                <a:solidFill>
                  <a:srgbClr val="000000"/>
                </a:solidFill>
                <a:latin typeface="DM Sans"/>
                <a:ea typeface="DM Sans"/>
                <a:cs typeface="DM Sans"/>
                <a:sym typeface="DM Sans"/>
              </a:rPr>
              <a:t>Kết luận: Khi đồ thị phức tạp hơn (nhiều đỉnh hơn), ràng buộc giữa các biến cũng tăng đáng kể </a:t>
            </a:r>
          </a:p>
          <a:p>
            <a:pPr algn="just">
              <a:lnSpc>
                <a:spcPts val="2886"/>
              </a:lnSpc>
              <a:spcBef>
                <a:spcPct val="0"/>
              </a:spcBef>
            </a:pPr>
            <a:r>
              <a:rPr lang="en-US" sz="2600">
                <a:solidFill>
                  <a:srgbClr val="000000"/>
                </a:solidFill>
                <a:latin typeface="DM Sans"/>
                <a:ea typeface="DM Sans"/>
                <a:cs typeface="DM Sans"/>
                <a:sym typeface="DM Sans"/>
              </a:rPr>
              <a:t>→ bài toán CSP trở nên khó hơn.</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11992" y="1028700"/>
            <a:ext cx="5944661" cy="1048299"/>
            <a:chOff x="0" y="0"/>
            <a:chExt cx="1447301" cy="255221"/>
          </a:xfrm>
        </p:grpSpPr>
        <p:sp>
          <p:nvSpPr>
            <p:cNvPr name="Freeform 3" id="3"/>
            <p:cNvSpPr/>
            <p:nvPr/>
          </p:nvSpPr>
          <p:spPr>
            <a:xfrm flipH="false" flipV="false" rot="0">
              <a:off x="0" y="0"/>
              <a:ext cx="1447301" cy="255221"/>
            </a:xfrm>
            <a:custGeom>
              <a:avLst/>
              <a:gdLst/>
              <a:ahLst/>
              <a:cxnLst/>
              <a:rect r="r" b="b" t="t" l="l"/>
              <a:pathLst>
                <a:path h="255221" w="1447301">
                  <a:moveTo>
                    <a:pt x="66419" y="0"/>
                  </a:moveTo>
                  <a:lnTo>
                    <a:pt x="1380882" y="0"/>
                  </a:lnTo>
                  <a:cubicBezTo>
                    <a:pt x="1398498" y="0"/>
                    <a:pt x="1415392" y="6998"/>
                    <a:pt x="1427847" y="19454"/>
                  </a:cubicBezTo>
                  <a:cubicBezTo>
                    <a:pt x="1440303" y="31910"/>
                    <a:pt x="1447301" y="48804"/>
                    <a:pt x="1447301" y="66419"/>
                  </a:cubicBezTo>
                  <a:lnTo>
                    <a:pt x="1447301" y="188802"/>
                  </a:lnTo>
                  <a:cubicBezTo>
                    <a:pt x="1447301" y="206418"/>
                    <a:pt x="1440303" y="223312"/>
                    <a:pt x="1427847" y="235768"/>
                  </a:cubicBezTo>
                  <a:cubicBezTo>
                    <a:pt x="1415392" y="248224"/>
                    <a:pt x="1398498" y="255221"/>
                    <a:pt x="1380882" y="255221"/>
                  </a:cubicBezTo>
                  <a:lnTo>
                    <a:pt x="66419" y="255221"/>
                  </a:lnTo>
                  <a:cubicBezTo>
                    <a:pt x="48804" y="255221"/>
                    <a:pt x="31910" y="248224"/>
                    <a:pt x="19454" y="235768"/>
                  </a:cubicBezTo>
                  <a:cubicBezTo>
                    <a:pt x="6998" y="223312"/>
                    <a:pt x="0" y="206418"/>
                    <a:pt x="0" y="188802"/>
                  </a:cubicBezTo>
                  <a:lnTo>
                    <a:pt x="0" y="66419"/>
                  </a:lnTo>
                  <a:cubicBezTo>
                    <a:pt x="0" y="48804"/>
                    <a:pt x="6998" y="31910"/>
                    <a:pt x="19454" y="19454"/>
                  </a:cubicBezTo>
                  <a:cubicBezTo>
                    <a:pt x="31910" y="6998"/>
                    <a:pt x="48804" y="0"/>
                    <a:pt x="66419" y="0"/>
                  </a:cubicBezTo>
                  <a:close/>
                </a:path>
              </a:pathLst>
            </a:custGeom>
            <a:solidFill>
              <a:srgbClr val="48CFAE"/>
            </a:solidFill>
          </p:spPr>
        </p:sp>
        <p:sp>
          <p:nvSpPr>
            <p:cNvPr name="TextBox 4" id="4"/>
            <p:cNvSpPr txBox="true"/>
            <p:nvPr/>
          </p:nvSpPr>
          <p:spPr>
            <a:xfrm>
              <a:off x="0" y="19050"/>
              <a:ext cx="1447301" cy="236171"/>
            </a:xfrm>
            <a:prstGeom prst="rect">
              <a:avLst/>
            </a:prstGeom>
          </p:spPr>
          <p:txBody>
            <a:bodyPr anchor="ctr" rtlCol="false" tIns="50800" lIns="50800" bIns="50800" rIns="50800"/>
            <a:lstStyle/>
            <a:p>
              <a:pPr algn="ctr">
                <a:lnSpc>
                  <a:spcPts val="2553"/>
                </a:lnSpc>
              </a:pPr>
            </a:p>
          </p:txBody>
        </p:sp>
      </p:grpSp>
      <p:sp>
        <p:nvSpPr>
          <p:cNvPr name="Freeform 5" id="5"/>
          <p:cNvSpPr/>
          <p:nvPr/>
        </p:nvSpPr>
        <p:spPr>
          <a:xfrm flipH="false" flipV="false" rot="0">
            <a:off x="511992" y="2417909"/>
            <a:ext cx="8386435" cy="5451183"/>
          </a:xfrm>
          <a:custGeom>
            <a:avLst/>
            <a:gdLst/>
            <a:ahLst/>
            <a:cxnLst/>
            <a:rect r="r" b="b" t="t" l="l"/>
            <a:pathLst>
              <a:path h="5451183" w="8386435">
                <a:moveTo>
                  <a:pt x="0" y="0"/>
                </a:moveTo>
                <a:lnTo>
                  <a:pt x="8386434" y="0"/>
                </a:lnTo>
                <a:lnTo>
                  <a:pt x="8386434" y="5451182"/>
                </a:lnTo>
                <a:lnTo>
                  <a:pt x="0" y="5451182"/>
                </a:lnTo>
                <a:lnTo>
                  <a:pt x="0" y="0"/>
                </a:lnTo>
                <a:close/>
              </a:path>
            </a:pathLst>
          </a:custGeom>
          <a:blipFill>
            <a:blip r:embed="rId2"/>
            <a:stretch>
              <a:fillRect l="0" t="0" r="0" b="0"/>
            </a:stretch>
          </a:blipFill>
        </p:spPr>
      </p:sp>
      <p:sp>
        <p:nvSpPr>
          <p:cNvPr name="TextBox 6" id="6"/>
          <p:cNvSpPr txBox="true"/>
          <p:nvPr/>
        </p:nvSpPr>
        <p:spPr>
          <a:xfrm rot="0">
            <a:off x="1028700" y="1295523"/>
            <a:ext cx="5221611" cy="967742"/>
          </a:xfrm>
          <a:prstGeom prst="rect">
            <a:avLst/>
          </a:prstGeom>
        </p:spPr>
        <p:txBody>
          <a:bodyPr anchor="t" rtlCol="false" tIns="0" lIns="0" bIns="0" rIns="0">
            <a:spAutoFit/>
          </a:bodyPr>
          <a:lstStyle/>
          <a:p>
            <a:pPr algn="l">
              <a:lnSpc>
                <a:spcPts val="2431"/>
              </a:lnSpc>
            </a:pPr>
            <a:r>
              <a:rPr lang="en-US" sz="2431" b="true">
                <a:solidFill>
                  <a:srgbClr val="FFFFFF"/>
                </a:solidFill>
                <a:latin typeface="Kollektif Bold"/>
                <a:ea typeface="Kollektif Bold"/>
                <a:cs typeface="Kollektif Bold"/>
                <a:sym typeface="Kollektif Bold"/>
              </a:rPr>
              <a:t>BIỂU ĐỒ “NODES EXPLORED (MRV+LCV) VS N”.</a:t>
            </a:r>
          </a:p>
          <a:p>
            <a:pPr algn="l">
              <a:lnSpc>
                <a:spcPts val="2431"/>
              </a:lnSpc>
            </a:pPr>
          </a:p>
        </p:txBody>
      </p:sp>
      <p:sp>
        <p:nvSpPr>
          <p:cNvPr name="TextBox 7" id="7"/>
          <p:cNvSpPr txBox="true"/>
          <p:nvPr/>
        </p:nvSpPr>
        <p:spPr>
          <a:xfrm rot="0">
            <a:off x="511992" y="8543951"/>
            <a:ext cx="8062122" cy="1116713"/>
          </a:xfrm>
          <a:prstGeom prst="rect">
            <a:avLst/>
          </a:prstGeom>
        </p:spPr>
        <p:txBody>
          <a:bodyPr anchor="t" rtlCol="false" tIns="0" lIns="0" bIns="0" rIns="0">
            <a:spAutoFit/>
          </a:bodyPr>
          <a:lstStyle/>
          <a:p>
            <a:pPr algn="ctr">
              <a:lnSpc>
                <a:spcPts val="2997"/>
              </a:lnSpc>
              <a:spcBef>
                <a:spcPct val="0"/>
              </a:spcBef>
            </a:pPr>
            <a:r>
              <a:rPr lang="en-US" sz="2700">
                <a:solidFill>
                  <a:srgbClr val="000000"/>
                </a:solidFill>
                <a:latin typeface="DM Sans"/>
                <a:ea typeface="DM Sans"/>
                <a:cs typeface="DM Sans"/>
                <a:sym typeface="DM Sans"/>
              </a:rPr>
              <a:t>Số</a:t>
            </a:r>
            <a:r>
              <a:rPr lang="en-US" sz="2700">
                <a:solidFill>
                  <a:srgbClr val="000000"/>
                </a:solidFill>
                <a:latin typeface="DM Sans"/>
                <a:ea typeface="DM Sans"/>
                <a:cs typeface="DM Sans"/>
                <a:sym typeface="DM Sans"/>
              </a:rPr>
              <a:t> nút (gán biến) mà thuật toán backtracking với MRV (Minimum Remaining Values) và LCV (Least Constraining Value) phải duyệt qua.</a:t>
            </a:r>
          </a:p>
        </p:txBody>
      </p:sp>
      <p:sp>
        <p:nvSpPr>
          <p:cNvPr name="TextBox 8" id="8"/>
          <p:cNvSpPr txBox="true"/>
          <p:nvPr/>
        </p:nvSpPr>
        <p:spPr>
          <a:xfrm rot="0">
            <a:off x="9431706" y="3343521"/>
            <a:ext cx="8030184" cy="3982595"/>
          </a:xfrm>
          <a:prstGeom prst="rect">
            <a:avLst/>
          </a:prstGeom>
        </p:spPr>
        <p:txBody>
          <a:bodyPr anchor="t" rtlCol="false" tIns="0" lIns="0" bIns="0" rIns="0">
            <a:spAutoFit/>
          </a:bodyPr>
          <a:lstStyle/>
          <a:p>
            <a:pPr algn="just">
              <a:lnSpc>
                <a:spcPts val="2886"/>
              </a:lnSpc>
              <a:spcBef>
                <a:spcPct val="0"/>
              </a:spcBef>
            </a:pPr>
            <a:r>
              <a:rPr lang="en-US" sz="2600">
                <a:solidFill>
                  <a:srgbClr val="000000"/>
                </a:solidFill>
                <a:latin typeface="DM Sans"/>
                <a:ea typeface="DM Sans"/>
                <a:cs typeface="DM Sans"/>
                <a:sym typeface="DM Sans"/>
              </a:rPr>
              <a:t>Nhận xét:</a:t>
            </a:r>
          </a:p>
          <a:p>
            <a:pPr algn="just">
              <a:lnSpc>
                <a:spcPts val="2886"/>
              </a:lnSpc>
              <a:spcBef>
                <a:spcPct val="0"/>
              </a:spcBef>
            </a:pPr>
            <a:r>
              <a:rPr lang="en-US" sz="2600">
                <a:solidFill>
                  <a:srgbClr val="000000"/>
                </a:solidFill>
                <a:latin typeface="DM Sans"/>
                <a:ea typeface="DM Sans"/>
                <a:cs typeface="DM Sans"/>
                <a:sym typeface="DM Sans"/>
              </a:rPr>
              <a:t>Khi n tăng, số nút duyệt tăng rất mạnh, gần như theo cấp số mũ.</a:t>
            </a:r>
          </a:p>
          <a:p>
            <a:pPr algn="just">
              <a:lnSpc>
                <a:spcPts val="2886"/>
              </a:lnSpc>
              <a:spcBef>
                <a:spcPct val="0"/>
              </a:spcBef>
            </a:pPr>
            <a:r>
              <a:rPr lang="en-US" sz="2600">
                <a:solidFill>
                  <a:srgbClr val="000000"/>
                </a:solidFill>
                <a:latin typeface="DM Sans"/>
                <a:ea typeface="DM Sans"/>
                <a:cs typeface="DM Sans"/>
                <a:sym typeface="DM Sans"/>
              </a:rPr>
              <a:t>Với 3 màu, số nút duyệt cao hơn 4 màu → vì ít màu hơn làm ràng buộc khắt khe hơn.</a:t>
            </a:r>
          </a:p>
          <a:p>
            <a:pPr algn="just">
              <a:lnSpc>
                <a:spcPts val="2886"/>
              </a:lnSpc>
              <a:spcBef>
                <a:spcPct val="0"/>
              </a:spcBef>
            </a:pPr>
            <a:r>
              <a:rPr lang="en-US" sz="2600">
                <a:solidFill>
                  <a:srgbClr val="000000"/>
                </a:solidFill>
                <a:latin typeface="DM Sans"/>
                <a:ea typeface="DM Sans"/>
                <a:cs typeface="DM Sans"/>
                <a:sym typeface="DM Sans"/>
              </a:rPr>
              <a:t>Khi n=80, thuật toán cần trên 700.000 nút, chứng tỏ MRV+LCV giúp tối ưu nhưng vẫn chưa đủ hiệu quả khi đồ thị lớn.</a:t>
            </a:r>
          </a:p>
          <a:p>
            <a:pPr algn="just">
              <a:lnSpc>
                <a:spcPts val="2886"/>
              </a:lnSpc>
              <a:spcBef>
                <a:spcPct val="0"/>
              </a:spcBef>
            </a:pPr>
            <a:r>
              <a:rPr lang="en-US" sz="2600">
                <a:solidFill>
                  <a:srgbClr val="000000"/>
                </a:solidFill>
                <a:latin typeface="DM Sans"/>
                <a:ea typeface="DM Sans"/>
                <a:cs typeface="DM Sans"/>
                <a:sym typeface="DM Sans"/>
              </a:rPr>
              <a:t>Kết luận: MRV+LCV giúp giảm không gian tìm kiếm, nhưng hiệu suất vẫn giảm nhanh khi số đỉnh tăng.</a:t>
            </a:r>
          </a:p>
          <a:p>
            <a:pPr algn="just">
              <a:lnSpc>
                <a:spcPts val="2886"/>
              </a:lnSpc>
              <a:spcBef>
                <a:spcPct val="0"/>
              </a:spcBef>
            </a:pP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11992" y="1028700"/>
            <a:ext cx="5944661" cy="1048299"/>
            <a:chOff x="0" y="0"/>
            <a:chExt cx="1447301" cy="255221"/>
          </a:xfrm>
        </p:grpSpPr>
        <p:sp>
          <p:nvSpPr>
            <p:cNvPr name="Freeform 3" id="3"/>
            <p:cNvSpPr/>
            <p:nvPr/>
          </p:nvSpPr>
          <p:spPr>
            <a:xfrm flipH="false" flipV="false" rot="0">
              <a:off x="0" y="0"/>
              <a:ext cx="1447301" cy="255221"/>
            </a:xfrm>
            <a:custGeom>
              <a:avLst/>
              <a:gdLst/>
              <a:ahLst/>
              <a:cxnLst/>
              <a:rect r="r" b="b" t="t" l="l"/>
              <a:pathLst>
                <a:path h="255221" w="1447301">
                  <a:moveTo>
                    <a:pt x="66419" y="0"/>
                  </a:moveTo>
                  <a:lnTo>
                    <a:pt x="1380882" y="0"/>
                  </a:lnTo>
                  <a:cubicBezTo>
                    <a:pt x="1398498" y="0"/>
                    <a:pt x="1415392" y="6998"/>
                    <a:pt x="1427847" y="19454"/>
                  </a:cubicBezTo>
                  <a:cubicBezTo>
                    <a:pt x="1440303" y="31910"/>
                    <a:pt x="1447301" y="48804"/>
                    <a:pt x="1447301" y="66419"/>
                  </a:cubicBezTo>
                  <a:lnTo>
                    <a:pt x="1447301" y="188802"/>
                  </a:lnTo>
                  <a:cubicBezTo>
                    <a:pt x="1447301" y="206418"/>
                    <a:pt x="1440303" y="223312"/>
                    <a:pt x="1427847" y="235768"/>
                  </a:cubicBezTo>
                  <a:cubicBezTo>
                    <a:pt x="1415392" y="248224"/>
                    <a:pt x="1398498" y="255221"/>
                    <a:pt x="1380882" y="255221"/>
                  </a:cubicBezTo>
                  <a:lnTo>
                    <a:pt x="66419" y="255221"/>
                  </a:lnTo>
                  <a:cubicBezTo>
                    <a:pt x="48804" y="255221"/>
                    <a:pt x="31910" y="248224"/>
                    <a:pt x="19454" y="235768"/>
                  </a:cubicBezTo>
                  <a:cubicBezTo>
                    <a:pt x="6998" y="223312"/>
                    <a:pt x="0" y="206418"/>
                    <a:pt x="0" y="188802"/>
                  </a:cubicBezTo>
                  <a:lnTo>
                    <a:pt x="0" y="66419"/>
                  </a:lnTo>
                  <a:cubicBezTo>
                    <a:pt x="0" y="48804"/>
                    <a:pt x="6998" y="31910"/>
                    <a:pt x="19454" y="19454"/>
                  </a:cubicBezTo>
                  <a:cubicBezTo>
                    <a:pt x="31910" y="6998"/>
                    <a:pt x="48804" y="0"/>
                    <a:pt x="66419" y="0"/>
                  </a:cubicBezTo>
                  <a:close/>
                </a:path>
              </a:pathLst>
            </a:custGeom>
            <a:solidFill>
              <a:srgbClr val="48CFAE"/>
            </a:solidFill>
          </p:spPr>
        </p:sp>
        <p:sp>
          <p:nvSpPr>
            <p:cNvPr name="TextBox 4" id="4"/>
            <p:cNvSpPr txBox="true"/>
            <p:nvPr/>
          </p:nvSpPr>
          <p:spPr>
            <a:xfrm>
              <a:off x="0" y="19050"/>
              <a:ext cx="1447301" cy="236171"/>
            </a:xfrm>
            <a:prstGeom prst="rect">
              <a:avLst/>
            </a:prstGeom>
          </p:spPr>
          <p:txBody>
            <a:bodyPr anchor="ctr" rtlCol="false" tIns="50800" lIns="50800" bIns="50800" rIns="50800"/>
            <a:lstStyle/>
            <a:p>
              <a:pPr algn="ctr">
                <a:lnSpc>
                  <a:spcPts val="2553"/>
                </a:lnSpc>
              </a:pPr>
            </a:p>
          </p:txBody>
        </p:sp>
      </p:grpSp>
      <p:sp>
        <p:nvSpPr>
          <p:cNvPr name="Freeform 5" id="5"/>
          <p:cNvSpPr/>
          <p:nvPr/>
        </p:nvSpPr>
        <p:spPr>
          <a:xfrm flipH="false" flipV="false" rot="0">
            <a:off x="480631" y="2478467"/>
            <a:ext cx="8663369" cy="5330065"/>
          </a:xfrm>
          <a:custGeom>
            <a:avLst/>
            <a:gdLst/>
            <a:ahLst/>
            <a:cxnLst/>
            <a:rect r="r" b="b" t="t" l="l"/>
            <a:pathLst>
              <a:path h="5330065" w="8663369">
                <a:moveTo>
                  <a:pt x="0" y="0"/>
                </a:moveTo>
                <a:lnTo>
                  <a:pt x="8663369" y="0"/>
                </a:lnTo>
                <a:lnTo>
                  <a:pt x="8663369" y="5330066"/>
                </a:lnTo>
                <a:lnTo>
                  <a:pt x="0" y="5330066"/>
                </a:lnTo>
                <a:lnTo>
                  <a:pt x="0" y="0"/>
                </a:lnTo>
                <a:close/>
              </a:path>
            </a:pathLst>
          </a:custGeom>
          <a:blipFill>
            <a:blip r:embed="rId2"/>
            <a:stretch>
              <a:fillRect l="0" t="0" r="0" b="0"/>
            </a:stretch>
          </a:blipFill>
        </p:spPr>
      </p:sp>
      <p:sp>
        <p:nvSpPr>
          <p:cNvPr name="TextBox 6" id="6"/>
          <p:cNvSpPr txBox="true"/>
          <p:nvPr/>
        </p:nvSpPr>
        <p:spPr>
          <a:xfrm rot="0">
            <a:off x="1028700" y="1295523"/>
            <a:ext cx="5221611" cy="967742"/>
          </a:xfrm>
          <a:prstGeom prst="rect">
            <a:avLst/>
          </a:prstGeom>
        </p:spPr>
        <p:txBody>
          <a:bodyPr anchor="t" rtlCol="false" tIns="0" lIns="0" bIns="0" rIns="0">
            <a:spAutoFit/>
          </a:bodyPr>
          <a:lstStyle/>
          <a:p>
            <a:pPr algn="l">
              <a:lnSpc>
                <a:spcPts val="2431"/>
              </a:lnSpc>
            </a:pPr>
            <a:r>
              <a:rPr lang="en-US" sz="2431" b="true">
                <a:solidFill>
                  <a:srgbClr val="FFFFFF"/>
                </a:solidFill>
                <a:latin typeface="Kollektif Bold"/>
                <a:ea typeface="Kollektif Bold"/>
                <a:cs typeface="Kollektif Bold"/>
                <a:sym typeface="Kollektif Bold"/>
              </a:rPr>
              <a:t>BIỂU ĐỒ “NODES EXPLORED (MRV+LCV+FC) VS N”.</a:t>
            </a:r>
          </a:p>
          <a:p>
            <a:pPr algn="l">
              <a:lnSpc>
                <a:spcPts val="2431"/>
              </a:lnSpc>
            </a:pPr>
          </a:p>
        </p:txBody>
      </p:sp>
      <p:sp>
        <p:nvSpPr>
          <p:cNvPr name="TextBox 7" id="7"/>
          <p:cNvSpPr txBox="true"/>
          <p:nvPr/>
        </p:nvSpPr>
        <p:spPr>
          <a:xfrm rot="0">
            <a:off x="511992" y="8543951"/>
            <a:ext cx="8062122" cy="1116713"/>
          </a:xfrm>
          <a:prstGeom prst="rect">
            <a:avLst/>
          </a:prstGeom>
        </p:spPr>
        <p:txBody>
          <a:bodyPr anchor="t" rtlCol="false" tIns="0" lIns="0" bIns="0" rIns="0">
            <a:spAutoFit/>
          </a:bodyPr>
          <a:lstStyle/>
          <a:p>
            <a:pPr algn="ctr">
              <a:lnSpc>
                <a:spcPts val="2997"/>
              </a:lnSpc>
              <a:spcBef>
                <a:spcPct val="0"/>
              </a:spcBef>
            </a:pPr>
            <a:r>
              <a:rPr lang="en-US" sz="2700">
                <a:solidFill>
                  <a:srgbClr val="000000"/>
                </a:solidFill>
                <a:latin typeface="DM Sans"/>
                <a:ea typeface="DM Sans"/>
                <a:cs typeface="DM Sans"/>
                <a:sym typeface="DM Sans"/>
              </a:rPr>
              <a:t>So</a:t>
            </a:r>
            <a:r>
              <a:rPr lang="en-US" sz="2700">
                <a:solidFill>
                  <a:srgbClr val="000000"/>
                </a:solidFill>
                <a:latin typeface="DM Sans"/>
                <a:ea typeface="DM Sans"/>
                <a:cs typeface="DM Sans"/>
                <a:sym typeface="DM Sans"/>
              </a:rPr>
              <a:t> sánh hiệu quả khi thêm Forward Checking (FC) — tức kiểm tra trước các giá trị còn hợp lệ.</a:t>
            </a:r>
          </a:p>
          <a:p>
            <a:pPr algn="ctr">
              <a:lnSpc>
                <a:spcPts val="2997"/>
              </a:lnSpc>
              <a:spcBef>
                <a:spcPct val="0"/>
              </a:spcBef>
            </a:pPr>
          </a:p>
        </p:txBody>
      </p:sp>
      <p:sp>
        <p:nvSpPr>
          <p:cNvPr name="TextBox 8" id="8"/>
          <p:cNvSpPr txBox="true"/>
          <p:nvPr/>
        </p:nvSpPr>
        <p:spPr>
          <a:xfrm rot="0">
            <a:off x="9431706" y="3343521"/>
            <a:ext cx="8030184" cy="4344545"/>
          </a:xfrm>
          <a:prstGeom prst="rect">
            <a:avLst/>
          </a:prstGeom>
        </p:spPr>
        <p:txBody>
          <a:bodyPr anchor="t" rtlCol="false" tIns="0" lIns="0" bIns="0" rIns="0">
            <a:spAutoFit/>
          </a:bodyPr>
          <a:lstStyle/>
          <a:p>
            <a:pPr algn="just">
              <a:lnSpc>
                <a:spcPts val="2886"/>
              </a:lnSpc>
              <a:spcBef>
                <a:spcPct val="0"/>
              </a:spcBef>
            </a:pPr>
            <a:r>
              <a:rPr lang="en-US" sz="2600">
                <a:solidFill>
                  <a:srgbClr val="000000"/>
                </a:solidFill>
                <a:latin typeface="DM Sans"/>
                <a:ea typeface="DM Sans"/>
                <a:cs typeface="DM Sans"/>
                <a:sym typeface="DM Sans"/>
              </a:rPr>
              <a:t>Nhận xét:</a:t>
            </a:r>
          </a:p>
          <a:p>
            <a:pPr algn="just">
              <a:lnSpc>
                <a:spcPts val="2886"/>
              </a:lnSpc>
              <a:spcBef>
                <a:spcPct val="0"/>
              </a:spcBef>
            </a:pPr>
            <a:r>
              <a:rPr lang="en-US" sz="2600">
                <a:solidFill>
                  <a:srgbClr val="000000"/>
                </a:solidFill>
                <a:latin typeface="DM Sans"/>
                <a:ea typeface="DM Sans"/>
                <a:cs typeface="DM Sans"/>
                <a:sym typeface="DM Sans"/>
              </a:rPr>
              <a:t>Số nút duyệt giảm rất mạnh so với MRV+LCV, chỉ còn vài chục nút trong khi trước đó là hàng nghìn đến hàng trăm nghìn.</a:t>
            </a:r>
          </a:p>
          <a:p>
            <a:pPr algn="just">
              <a:lnSpc>
                <a:spcPts val="2886"/>
              </a:lnSpc>
              <a:spcBef>
                <a:spcPct val="0"/>
              </a:spcBef>
            </a:pPr>
            <a:r>
              <a:rPr lang="en-US" sz="2600">
                <a:solidFill>
                  <a:srgbClr val="000000"/>
                </a:solidFill>
                <a:latin typeface="DM Sans"/>
                <a:ea typeface="DM Sans"/>
                <a:cs typeface="DM Sans"/>
                <a:sym typeface="DM Sans"/>
              </a:rPr>
              <a:t>Với 3 màu, số nút ổn định hơn khi tăng n, chứng minh FC giúp ngăn lan truyền xung đột sớm.</a:t>
            </a:r>
          </a:p>
          <a:p>
            <a:pPr algn="just">
              <a:lnSpc>
                <a:spcPts val="2886"/>
              </a:lnSpc>
              <a:spcBef>
                <a:spcPct val="0"/>
              </a:spcBef>
            </a:pPr>
            <a:r>
              <a:rPr lang="en-US" sz="2600">
                <a:solidFill>
                  <a:srgbClr val="000000"/>
                </a:solidFill>
                <a:latin typeface="DM Sans"/>
                <a:ea typeface="DM Sans"/>
                <a:cs typeface="DM Sans"/>
                <a:sym typeface="DM Sans"/>
              </a:rPr>
              <a:t>Với 4 màu, số nút duyệt tăng nhanh hơn nhưng vẫn thấp hơn rất nhiều so với không dùng FC.</a:t>
            </a:r>
          </a:p>
          <a:p>
            <a:pPr algn="just">
              <a:lnSpc>
                <a:spcPts val="2886"/>
              </a:lnSpc>
              <a:spcBef>
                <a:spcPct val="0"/>
              </a:spcBef>
            </a:pPr>
            <a:r>
              <a:rPr lang="en-US" sz="2600">
                <a:solidFill>
                  <a:srgbClr val="000000"/>
                </a:solidFill>
                <a:latin typeface="DM Sans"/>
                <a:ea typeface="DM Sans"/>
                <a:cs typeface="DM Sans"/>
                <a:sym typeface="DM Sans"/>
              </a:rPr>
              <a:t>Kết luận: Kết hợp MRV + LCV + Forward Checking là chiến lược hiệu quả nhất cho bài toán tô màu đồ thị trong nhóm thuật toán Backtracking.</a:t>
            </a:r>
          </a:p>
          <a:p>
            <a:pPr algn="just">
              <a:lnSpc>
                <a:spcPts val="2886"/>
              </a:lnSpc>
              <a:spcBef>
                <a:spcPct val="0"/>
              </a:spcBef>
            </a:pP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11992" y="1028700"/>
            <a:ext cx="5944661" cy="1048299"/>
            <a:chOff x="0" y="0"/>
            <a:chExt cx="1447301" cy="255221"/>
          </a:xfrm>
        </p:grpSpPr>
        <p:sp>
          <p:nvSpPr>
            <p:cNvPr name="Freeform 3" id="3"/>
            <p:cNvSpPr/>
            <p:nvPr/>
          </p:nvSpPr>
          <p:spPr>
            <a:xfrm flipH="false" flipV="false" rot="0">
              <a:off x="0" y="0"/>
              <a:ext cx="1447301" cy="255221"/>
            </a:xfrm>
            <a:custGeom>
              <a:avLst/>
              <a:gdLst/>
              <a:ahLst/>
              <a:cxnLst/>
              <a:rect r="r" b="b" t="t" l="l"/>
              <a:pathLst>
                <a:path h="255221" w="1447301">
                  <a:moveTo>
                    <a:pt x="66419" y="0"/>
                  </a:moveTo>
                  <a:lnTo>
                    <a:pt x="1380882" y="0"/>
                  </a:lnTo>
                  <a:cubicBezTo>
                    <a:pt x="1398498" y="0"/>
                    <a:pt x="1415392" y="6998"/>
                    <a:pt x="1427847" y="19454"/>
                  </a:cubicBezTo>
                  <a:cubicBezTo>
                    <a:pt x="1440303" y="31910"/>
                    <a:pt x="1447301" y="48804"/>
                    <a:pt x="1447301" y="66419"/>
                  </a:cubicBezTo>
                  <a:lnTo>
                    <a:pt x="1447301" y="188802"/>
                  </a:lnTo>
                  <a:cubicBezTo>
                    <a:pt x="1447301" y="206418"/>
                    <a:pt x="1440303" y="223312"/>
                    <a:pt x="1427847" y="235768"/>
                  </a:cubicBezTo>
                  <a:cubicBezTo>
                    <a:pt x="1415392" y="248224"/>
                    <a:pt x="1398498" y="255221"/>
                    <a:pt x="1380882" y="255221"/>
                  </a:cubicBezTo>
                  <a:lnTo>
                    <a:pt x="66419" y="255221"/>
                  </a:lnTo>
                  <a:cubicBezTo>
                    <a:pt x="48804" y="255221"/>
                    <a:pt x="31910" y="248224"/>
                    <a:pt x="19454" y="235768"/>
                  </a:cubicBezTo>
                  <a:cubicBezTo>
                    <a:pt x="6998" y="223312"/>
                    <a:pt x="0" y="206418"/>
                    <a:pt x="0" y="188802"/>
                  </a:cubicBezTo>
                  <a:lnTo>
                    <a:pt x="0" y="66419"/>
                  </a:lnTo>
                  <a:cubicBezTo>
                    <a:pt x="0" y="48804"/>
                    <a:pt x="6998" y="31910"/>
                    <a:pt x="19454" y="19454"/>
                  </a:cubicBezTo>
                  <a:cubicBezTo>
                    <a:pt x="31910" y="6998"/>
                    <a:pt x="48804" y="0"/>
                    <a:pt x="66419" y="0"/>
                  </a:cubicBezTo>
                  <a:close/>
                </a:path>
              </a:pathLst>
            </a:custGeom>
            <a:solidFill>
              <a:srgbClr val="48CFAE"/>
            </a:solidFill>
          </p:spPr>
        </p:sp>
        <p:sp>
          <p:nvSpPr>
            <p:cNvPr name="TextBox 4" id="4"/>
            <p:cNvSpPr txBox="true"/>
            <p:nvPr/>
          </p:nvSpPr>
          <p:spPr>
            <a:xfrm>
              <a:off x="0" y="19050"/>
              <a:ext cx="1447301" cy="236171"/>
            </a:xfrm>
            <a:prstGeom prst="rect">
              <a:avLst/>
            </a:prstGeom>
          </p:spPr>
          <p:txBody>
            <a:bodyPr anchor="ctr" rtlCol="false" tIns="50800" lIns="50800" bIns="50800" rIns="50800"/>
            <a:lstStyle/>
            <a:p>
              <a:pPr algn="ctr">
                <a:lnSpc>
                  <a:spcPts val="2553"/>
                </a:lnSpc>
              </a:pPr>
            </a:p>
          </p:txBody>
        </p:sp>
      </p:grpSp>
      <p:sp>
        <p:nvSpPr>
          <p:cNvPr name="Freeform 5" id="5"/>
          <p:cNvSpPr/>
          <p:nvPr/>
        </p:nvSpPr>
        <p:spPr>
          <a:xfrm flipH="false" flipV="false" rot="0">
            <a:off x="480631" y="2478467"/>
            <a:ext cx="8663369" cy="5330065"/>
          </a:xfrm>
          <a:custGeom>
            <a:avLst/>
            <a:gdLst/>
            <a:ahLst/>
            <a:cxnLst/>
            <a:rect r="r" b="b" t="t" l="l"/>
            <a:pathLst>
              <a:path h="5330065" w="8663369">
                <a:moveTo>
                  <a:pt x="0" y="0"/>
                </a:moveTo>
                <a:lnTo>
                  <a:pt x="8663369" y="0"/>
                </a:lnTo>
                <a:lnTo>
                  <a:pt x="8663369" y="5330066"/>
                </a:lnTo>
                <a:lnTo>
                  <a:pt x="0" y="5330066"/>
                </a:lnTo>
                <a:lnTo>
                  <a:pt x="0" y="0"/>
                </a:lnTo>
                <a:close/>
              </a:path>
            </a:pathLst>
          </a:custGeom>
          <a:blipFill>
            <a:blip r:embed="rId2"/>
            <a:stretch>
              <a:fillRect l="0" t="0" r="0" b="0"/>
            </a:stretch>
          </a:blipFill>
        </p:spPr>
      </p:sp>
      <p:sp>
        <p:nvSpPr>
          <p:cNvPr name="TextBox 6" id="6"/>
          <p:cNvSpPr txBox="true"/>
          <p:nvPr/>
        </p:nvSpPr>
        <p:spPr>
          <a:xfrm rot="0">
            <a:off x="1028700" y="1295523"/>
            <a:ext cx="5221611" cy="967742"/>
          </a:xfrm>
          <a:prstGeom prst="rect">
            <a:avLst/>
          </a:prstGeom>
        </p:spPr>
        <p:txBody>
          <a:bodyPr anchor="t" rtlCol="false" tIns="0" lIns="0" bIns="0" rIns="0">
            <a:spAutoFit/>
          </a:bodyPr>
          <a:lstStyle/>
          <a:p>
            <a:pPr algn="l">
              <a:lnSpc>
                <a:spcPts val="2431"/>
              </a:lnSpc>
            </a:pPr>
            <a:r>
              <a:rPr lang="en-US" sz="2431" b="true">
                <a:solidFill>
                  <a:srgbClr val="FFFFFF"/>
                </a:solidFill>
                <a:latin typeface="Kollektif Bold"/>
                <a:ea typeface="Kollektif Bold"/>
                <a:cs typeface="Kollektif Bold"/>
                <a:sym typeface="Kollektif Bold"/>
              </a:rPr>
              <a:t>BIỂU ĐỒ “NODES EXPLORED (MRV+LCV+FC) VS N”.</a:t>
            </a:r>
          </a:p>
          <a:p>
            <a:pPr algn="l">
              <a:lnSpc>
                <a:spcPts val="2431"/>
              </a:lnSpc>
            </a:pPr>
          </a:p>
        </p:txBody>
      </p:sp>
      <p:sp>
        <p:nvSpPr>
          <p:cNvPr name="TextBox 7" id="7"/>
          <p:cNvSpPr txBox="true"/>
          <p:nvPr/>
        </p:nvSpPr>
        <p:spPr>
          <a:xfrm rot="0">
            <a:off x="511992" y="8543951"/>
            <a:ext cx="8062122" cy="1116713"/>
          </a:xfrm>
          <a:prstGeom prst="rect">
            <a:avLst/>
          </a:prstGeom>
        </p:spPr>
        <p:txBody>
          <a:bodyPr anchor="t" rtlCol="false" tIns="0" lIns="0" bIns="0" rIns="0">
            <a:spAutoFit/>
          </a:bodyPr>
          <a:lstStyle/>
          <a:p>
            <a:pPr algn="ctr">
              <a:lnSpc>
                <a:spcPts val="2997"/>
              </a:lnSpc>
              <a:spcBef>
                <a:spcPct val="0"/>
              </a:spcBef>
            </a:pPr>
            <a:r>
              <a:rPr lang="en-US" sz="2700">
                <a:solidFill>
                  <a:srgbClr val="000000"/>
                </a:solidFill>
                <a:latin typeface="DM Sans"/>
                <a:ea typeface="DM Sans"/>
                <a:cs typeface="DM Sans"/>
                <a:sym typeface="DM Sans"/>
              </a:rPr>
              <a:t>So</a:t>
            </a:r>
            <a:r>
              <a:rPr lang="en-US" sz="2700">
                <a:solidFill>
                  <a:srgbClr val="000000"/>
                </a:solidFill>
                <a:latin typeface="DM Sans"/>
                <a:ea typeface="DM Sans"/>
                <a:cs typeface="DM Sans"/>
                <a:sym typeface="DM Sans"/>
              </a:rPr>
              <a:t> sánh hiệu quả khi thêm Forward Checking (FC) — tức kiểm tra trước các giá trị còn hợp lệ.</a:t>
            </a:r>
          </a:p>
          <a:p>
            <a:pPr algn="ctr">
              <a:lnSpc>
                <a:spcPts val="2997"/>
              </a:lnSpc>
              <a:spcBef>
                <a:spcPct val="0"/>
              </a:spcBef>
            </a:pPr>
          </a:p>
        </p:txBody>
      </p:sp>
      <p:sp>
        <p:nvSpPr>
          <p:cNvPr name="TextBox 8" id="8"/>
          <p:cNvSpPr txBox="true"/>
          <p:nvPr/>
        </p:nvSpPr>
        <p:spPr>
          <a:xfrm rot="0">
            <a:off x="9431706" y="3343521"/>
            <a:ext cx="8030184" cy="4344545"/>
          </a:xfrm>
          <a:prstGeom prst="rect">
            <a:avLst/>
          </a:prstGeom>
        </p:spPr>
        <p:txBody>
          <a:bodyPr anchor="t" rtlCol="false" tIns="0" lIns="0" bIns="0" rIns="0">
            <a:spAutoFit/>
          </a:bodyPr>
          <a:lstStyle/>
          <a:p>
            <a:pPr algn="just">
              <a:lnSpc>
                <a:spcPts val="2886"/>
              </a:lnSpc>
              <a:spcBef>
                <a:spcPct val="0"/>
              </a:spcBef>
            </a:pPr>
            <a:r>
              <a:rPr lang="en-US" sz="2600">
                <a:solidFill>
                  <a:srgbClr val="000000"/>
                </a:solidFill>
                <a:latin typeface="DM Sans"/>
                <a:ea typeface="DM Sans"/>
                <a:cs typeface="DM Sans"/>
                <a:sym typeface="DM Sans"/>
              </a:rPr>
              <a:t>Nhận xét:</a:t>
            </a:r>
          </a:p>
          <a:p>
            <a:pPr algn="just">
              <a:lnSpc>
                <a:spcPts val="2886"/>
              </a:lnSpc>
              <a:spcBef>
                <a:spcPct val="0"/>
              </a:spcBef>
            </a:pPr>
            <a:r>
              <a:rPr lang="en-US" sz="2600">
                <a:solidFill>
                  <a:srgbClr val="000000"/>
                </a:solidFill>
                <a:latin typeface="DM Sans"/>
                <a:ea typeface="DM Sans"/>
                <a:cs typeface="DM Sans"/>
                <a:sym typeface="DM Sans"/>
              </a:rPr>
              <a:t>Số nút duyệt giảm rất mạnh so với MRV+LCV, chỉ còn vài chục nút trong khi trước đó là hàng nghìn đến hàng trăm nghìn.</a:t>
            </a:r>
          </a:p>
          <a:p>
            <a:pPr algn="just">
              <a:lnSpc>
                <a:spcPts val="2886"/>
              </a:lnSpc>
              <a:spcBef>
                <a:spcPct val="0"/>
              </a:spcBef>
            </a:pPr>
            <a:r>
              <a:rPr lang="en-US" sz="2600">
                <a:solidFill>
                  <a:srgbClr val="000000"/>
                </a:solidFill>
                <a:latin typeface="DM Sans"/>
                <a:ea typeface="DM Sans"/>
                <a:cs typeface="DM Sans"/>
                <a:sym typeface="DM Sans"/>
              </a:rPr>
              <a:t>Với 3 màu, số nút ổn định hơn khi tăng n, chứng minh FC giúp ngăn lan truyền xung đột sớm.</a:t>
            </a:r>
          </a:p>
          <a:p>
            <a:pPr algn="just">
              <a:lnSpc>
                <a:spcPts val="2886"/>
              </a:lnSpc>
              <a:spcBef>
                <a:spcPct val="0"/>
              </a:spcBef>
            </a:pPr>
            <a:r>
              <a:rPr lang="en-US" sz="2600">
                <a:solidFill>
                  <a:srgbClr val="000000"/>
                </a:solidFill>
                <a:latin typeface="DM Sans"/>
                <a:ea typeface="DM Sans"/>
                <a:cs typeface="DM Sans"/>
                <a:sym typeface="DM Sans"/>
              </a:rPr>
              <a:t>Với 4 màu, số nút duyệt tăng nhanh hơn nhưng vẫn thấp hơn rất nhiều so với không dùng FC.</a:t>
            </a:r>
          </a:p>
          <a:p>
            <a:pPr algn="just">
              <a:lnSpc>
                <a:spcPts val="2886"/>
              </a:lnSpc>
              <a:spcBef>
                <a:spcPct val="0"/>
              </a:spcBef>
            </a:pPr>
            <a:r>
              <a:rPr lang="en-US" sz="2600">
                <a:solidFill>
                  <a:srgbClr val="000000"/>
                </a:solidFill>
                <a:latin typeface="DM Sans"/>
                <a:ea typeface="DM Sans"/>
                <a:cs typeface="DM Sans"/>
                <a:sym typeface="DM Sans"/>
              </a:rPr>
              <a:t>Kết luận: Kết hợp MRV + LCV + Forward Checking là chiến lược hiệu quả nhất cho bài toán tô màu đồ thị trong nhóm thuật toán Backtracking.</a:t>
            </a:r>
          </a:p>
          <a:p>
            <a:pPr algn="just">
              <a:lnSpc>
                <a:spcPts val="2886"/>
              </a:lnSpc>
              <a:spcBef>
                <a:spcPct val="0"/>
              </a:spcBef>
            </a:pP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11992" y="1253800"/>
            <a:ext cx="6507412" cy="1048299"/>
            <a:chOff x="0" y="0"/>
            <a:chExt cx="1584310" cy="255221"/>
          </a:xfrm>
        </p:grpSpPr>
        <p:sp>
          <p:nvSpPr>
            <p:cNvPr name="Freeform 3" id="3"/>
            <p:cNvSpPr/>
            <p:nvPr/>
          </p:nvSpPr>
          <p:spPr>
            <a:xfrm flipH="false" flipV="false" rot="0">
              <a:off x="0" y="0"/>
              <a:ext cx="1584310" cy="255221"/>
            </a:xfrm>
            <a:custGeom>
              <a:avLst/>
              <a:gdLst/>
              <a:ahLst/>
              <a:cxnLst/>
              <a:rect r="r" b="b" t="t" l="l"/>
              <a:pathLst>
                <a:path h="255221" w="1584310">
                  <a:moveTo>
                    <a:pt x="60675" y="0"/>
                  </a:moveTo>
                  <a:lnTo>
                    <a:pt x="1523635" y="0"/>
                  </a:lnTo>
                  <a:cubicBezTo>
                    <a:pt x="1539727" y="0"/>
                    <a:pt x="1555160" y="6393"/>
                    <a:pt x="1566538" y="17771"/>
                  </a:cubicBezTo>
                  <a:cubicBezTo>
                    <a:pt x="1577917" y="29150"/>
                    <a:pt x="1584310" y="44583"/>
                    <a:pt x="1584310" y="60675"/>
                  </a:cubicBezTo>
                  <a:lnTo>
                    <a:pt x="1584310" y="194546"/>
                  </a:lnTo>
                  <a:cubicBezTo>
                    <a:pt x="1584310" y="210638"/>
                    <a:pt x="1577917" y="226071"/>
                    <a:pt x="1566538" y="237450"/>
                  </a:cubicBezTo>
                  <a:cubicBezTo>
                    <a:pt x="1555160" y="248829"/>
                    <a:pt x="1539727" y="255221"/>
                    <a:pt x="1523635" y="255221"/>
                  </a:cubicBezTo>
                  <a:lnTo>
                    <a:pt x="60675" y="255221"/>
                  </a:lnTo>
                  <a:cubicBezTo>
                    <a:pt x="44583" y="255221"/>
                    <a:pt x="29150" y="248829"/>
                    <a:pt x="17771" y="237450"/>
                  </a:cubicBezTo>
                  <a:cubicBezTo>
                    <a:pt x="6393" y="226071"/>
                    <a:pt x="0" y="210638"/>
                    <a:pt x="0" y="194546"/>
                  </a:cubicBezTo>
                  <a:lnTo>
                    <a:pt x="0" y="60675"/>
                  </a:lnTo>
                  <a:cubicBezTo>
                    <a:pt x="0" y="44583"/>
                    <a:pt x="6393" y="29150"/>
                    <a:pt x="17771" y="17771"/>
                  </a:cubicBezTo>
                  <a:cubicBezTo>
                    <a:pt x="29150" y="6393"/>
                    <a:pt x="44583" y="0"/>
                    <a:pt x="60675" y="0"/>
                  </a:cubicBezTo>
                  <a:close/>
                </a:path>
              </a:pathLst>
            </a:custGeom>
            <a:solidFill>
              <a:srgbClr val="48CFAE"/>
            </a:solidFill>
          </p:spPr>
        </p:sp>
        <p:sp>
          <p:nvSpPr>
            <p:cNvPr name="TextBox 4" id="4"/>
            <p:cNvSpPr txBox="true"/>
            <p:nvPr/>
          </p:nvSpPr>
          <p:spPr>
            <a:xfrm>
              <a:off x="0" y="19050"/>
              <a:ext cx="1584310" cy="236171"/>
            </a:xfrm>
            <a:prstGeom prst="rect">
              <a:avLst/>
            </a:prstGeom>
          </p:spPr>
          <p:txBody>
            <a:bodyPr anchor="ctr" rtlCol="false" tIns="50800" lIns="50800" bIns="50800" rIns="50800"/>
            <a:lstStyle/>
            <a:p>
              <a:pPr algn="ctr">
                <a:lnSpc>
                  <a:spcPts val="2553"/>
                </a:lnSpc>
              </a:pPr>
            </a:p>
          </p:txBody>
        </p:sp>
      </p:grpSp>
      <p:sp>
        <p:nvSpPr>
          <p:cNvPr name="Freeform 5" id="5"/>
          <p:cNvSpPr/>
          <p:nvPr/>
        </p:nvSpPr>
        <p:spPr>
          <a:xfrm flipH="false" flipV="false" rot="0">
            <a:off x="331911" y="2651488"/>
            <a:ext cx="9222971" cy="5289399"/>
          </a:xfrm>
          <a:custGeom>
            <a:avLst/>
            <a:gdLst/>
            <a:ahLst/>
            <a:cxnLst/>
            <a:rect r="r" b="b" t="t" l="l"/>
            <a:pathLst>
              <a:path h="5289399" w="9222971">
                <a:moveTo>
                  <a:pt x="0" y="0"/>
                </a:moveTo>
                <a:lnTo>
                  <a:pt x="9222971" y="0"/>
                </a:lnTo>
                <a:lnTo>
                  <a:pt x="9222971" y="5289399"/>
                </a:lnTo>
                <a:lnTo>
                  <a:pt x="0" y="5289399"/>
                </a:lnTo>
                <a:lnTo>
                  <a:pt x="0" y="0"/>
                </a:lnTo>
                <a:close/>
              </a:path>
            </a:pathLst>
          </a:custGeom>
          <a:blipFill>
            <a:blip r:embed="rId2"/>
            <a:stretch>
              <a:fillRect l="0" t="0" r="0" b="0"/>
            </a:stretch>
          </a:blipFill>
        </p:spPr>
      </p:sp>
      <p:sp>
        <p:nvSpPr>
          <p:cNvPr name="TextBox 6" id="6"/>
          <p:cNvSpPr txBox="true"/>
          <p:nvPr/>
        </p:nvSpPr>
        <p:spPr>
          <a:xfrm rot="0">
            <a:off x="873517" y="1514396"/>
            <a:ext cx="5964442" cy="668926"/>
          </a:xfrm>
          <a:prstGeom prst="rect">
            <a:avLst/>
          </a:prstGeom>
        </p:spPr>
        <p:txBody>
          <a:bodyPr anchor="t" rtlCol="false" tIns="0" lIns="0" bIns="0" rIns="0">
            <a:spAutoFit/>
          </a:bodyPr>
          <a:lstStyle/>
          <a:p>
            <a:pPr algn="l">
              <a:lnSpc>
                <a:spcPts val="2431"/>
              </a:lnSpc>
            </a:pPr>
            <a:r>
              <a:rPr lang="en-US" sz="2431" b="true">
                <a:solidFill>
                  <a:srgbClr val="FFFFFF"/>
                </a:solidFill>
                <a:latin typeface="Kollektif Bold"/>
                <a:ea typeface="Kollektif Bold"/>
                <a:cs typeface="Kollektif Bold"/>
                <a:sym typeface="Kollektif Bold"/>
              </a:rPr>
              <a:t>BIỂU ĐỒ “MIN-CONFLICTS STEPS VS N”.</a:t>
            </a:r>
          </a:p>
          <a:p>
            <a:pPr algn="l">
              <a:lnSpc>
                <a:spcPts val="2431"/>
              </a:lnSpc>
            </a:pPr>
          </a:p>
        </p:txBody>
      </p:sp>
      <p:sp>
        <p:nvSpPr>
          <p:cNvPr name="TextBox 7" id="7"/>
          <p:cNvSpPr txBox="true"/>
          <p:nvPr/>
        </p:nvSpPr>
        <p:spPr>
          <a:xfrm rot="0">
            <a:off x="511992" y="8543951"/>
            <a:ext cx="8062122" cy="1488188"/>
          </a:xfrm>
          <a:prstGeom prst="rect">
            <a:avLst/>
          </a:prstGeom>
        </p:spPr>
        <p:txBody>
          <a:bodyPr anchor="t" rtlCol="false" tIns="0" lIns="0" bIns="0" rIns="0">
            <a:spAutoFit/>
          </a:bodyPr>
          <a:lstStyle/>
          <a:p>
            <a:pPr algn="ctr">
              <a:lnSpc>
                <a:spcPts val="2997"/>
              </a:lnSpc>
              <a:spcBef>
                <a:spcPct val="0"/>
              </a:spcBef>
            </a:pPr>
            <a:r>
              <a:rPr lang="en-US" sz="2700">
                <a:solidFill>
                  <a:srgbClr val="000000"/>
                </a:solidFill>
                <a:latin typeface="DM Sans"/>
                <a:ea typeface="DM Sans"/>
                <a:cs typeface="DM Sans"/>
                <a:sym typeface="DM Sans"/>
              </a:rPr>
              <a:t>H</a:t>
            </a:r>
            <a:r>
              <a:rPr lang="en-US" sz="2700">
                <a:solidFill>
                  <a:srgbClr val="000000"/>
                </a:solidFill>
                <a:latin typeface="DM Sans"/>
                <a:ea typeface="DM Sans"/>
                <a:cs typeface="DM Sans"/>
                <a:sym typeface="DM Sans"/>
              </a:rPr>
              <a:t>iệu suất của Hill Climbing (Local Search) với heuristic Min-Conflicts — số bước và restart cần để tìm nghiệm hợp lệ.</a:t>
            </a:r>
          </a:p>
          <a:p>
            <a:pPr algn="ctr">
              <a:lnSpc>
                <a:spcPts val="2997"/>
              </a:lnSpc>
              <a:spcBef>
                <a:spcPct val="0"/>
              </a:spcBef>
            </a:pPr>
          </a:p>
        </p:txBody>
      </p:sp>
      <p:sp>
        <p:nvSpPr>
          <p:cNvPr name="TextBox 8" id="8"/>
          <p:cNvSpPr txBox="true"/>
          <p:nvPr/>
        </p:nvSpPr>
        <p:spPr>
          <a:xfrm rot="0">
            <a:off x="10010206" y="2985515"/>
            <a:ext cx="8030184" cy="3982595"/>
          </a:xfrm>
          <a:prstGeom prst="rect">
            <a:avLst/>
          </a:prstGeom>
        </p:spPr>
        <p:txBody>
          <a:bodyPr anchor="t" rtlCol="false" tIns="0" lIns="0" bIns="0" rIns="0">
            <a:spAutoFit/>
          </a:bodyPr>
          <a:lstStyle/>
          <a:p>
            <a:pPr algn="just">
              <a:lnSpc>
                <a:spcPts val="2886"/>
              </a:lnSpc>
              <a:spcBef>
                <a:spcPct val="0"/>
              </a:spcBef>
            </a:pPr>
            <a:r>
              <a:rPr lang="en-US" sz="2600">
                <a:solidFill>
                  <a:srgbClr val="000000"/>
                </a:solidFill>
                <a:latin typeface="DM Sans"/>
                <a:ea typeface="DM Sans"/>
                <a:cs typeface="DM Sans"/>
                <a:sym typeface="DM Sans"/>
              </a:rPr>
              <a:t>Nhận xét:</a:t>
            </a:r>
          </a:p>
          <a:p>
            <a:pPr algn="just">
              <a:lnSpc>
                <a:spcPts val="2886"/>
              </a:lnSpc>
              <a:spcBef>
                <a:spcPct val="0"/>
              </a:spcBef>
            </a:pPr>
            <a:r>
              <a:rPr lang="en-US" sz="2600">
                <a:solidFill>
                  <a:srgbClr val="000000"/>
                </a:solidFill>
                <a:latin typeface="DM Sans"/>
                <a:ea typeface="DM Sans"/>
                <a:cs typeface="DM Sans"/>
                <a:sym typeface="DM Sans"/>
              </a:rPr>
              <a:t>Với 3 màu, thuật toán phải chạy tới 400.000 bước và vẫn có thể không hội tụ, do không gian nghiệm bị hạn chế.</a:t>
            </a:r>
          </a:p>
          <a:p>
            <a:pPr algn="just">
              <a:lnSpc>
                <a:spcPts val="2886"/>
              </a:lnSpc>
              <a:spcBef>
                <a:spcPct val="0"/>
              </a:spcBef>
            </a:pPr>
            <a:r>
              <a:rPr lang="en-US" sz="2600">
                <a:solidFill>
                  <a:srgbClr val="000000"/>
                </a:solidFill>
                <a:latin typeface="DM Sans"/>
                <a:ea typeface="DM Sans"/>
                <a:cs typeface="DM Sans"/>
                <a:sym typeface="DM Sans"/>
              </a:rPr>
              <a:t>Với 4 màu, số bước giảm rất mạnh, chỉ vài chục đến vài nghìn bước, và gần như luôn tìm được nghiệm hợp lệ mà không cần nhiều lần restart.</a:t>
            </a:r>
          </a:p>
          <a:p>
            <a:pPr algn="just">
              <a:lnSpc>
                <a:spcPts val="2886"/>
              </a:lnSpc>
              <a:spcBef>
                <a:spcPct val="0"/>
              </a:spcBef>
            </a:pPr>
            <a:r>
              <a:rPr lang="en-US" sz="2600">
                <a:solidFill>
                  <a:srgbClr val="000000"/>
                </a:solidFill>
                <a:latin typeface="DM Sans"/>
                <a:ea typeface="DM Sans"/>
                <a:cs typeface="DM Sans"/>
                <a:sym typeface="DM Sans"/>
              </a:rPr>
              <a:t>Kết luận: Min-Conflicts rất mạnh cho các bài toán CSP lớn nếu bài toán có lời giải khả thi (nhiều màu hơn giúp tăng khả năng hội tụ).</a:t>
            </a:r>
          </a:p>
          <a:p>
            <a:pPr algn="just">
              <a:lnSpc>
                <a:spcPts val="2886"/>
              </a:lnSpc>
              <a:spcBef>
                <a:spcPct val="0"/>
              </a:spcBef>
            </a:pP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53399" y="193629"/>
            <a:ext cx="3907900" cy="835071"/>
            <a:chOff x="0" y="0"/>
            <a:chExt cx="1615044" cy="345115"/>
          </a:xfrm>
        </p:grpSpPr>
        <p:sp>
          <p:nvSpPr>
            <p:cNvPr name="Freeform 3" id="3"/>
            <p:cNvSpPr/>
            <p:nvPr/>
          </p:nvSpPr>
          <p:spPr>
            <a:xfrm flipH="false" flipV="false" rot="0">
              <a:off x="0" y="0"/>
              <a:ext cx="1615044" cy="345115"/>
            </a:xfrm>
            <a:custGeom>
              <a:avLst/>
              <a:gdLst/>
              <a:ahLst/>
              <a:cxnLst/>
              <a:rect r="r" b="b" t="t" l="l"/>
              <a:pathLst>
                <a:path h="345115" w="1615044">
                  <a:moveTo>
                    <a:pt x="101036" y="0"/>
                  </a:moveTo>
                  <a:lnTo>
                    <a:pt x="1514008" y="0"/>
                  </a:lnTo>
                  <a:cubicBezTo>
                    <a:pt x="1540805" y="0"/>
                    <a:pt x="1566503" y="10645"/>
                    <a:pt x="1585451" y="29593"/>
                  </a:cubicBezTo>
                  <a:cubicBezTo>
                    <a:pt x="1604399" y="48541"/>
                    <a:pt x="1615044" y="74239"/>
                    <a:pt x="1615044" y="101036"/>
                  </a:cubicBezTo>
                  <a:lnTo>
                    <a:pt x="1615044" y="244080"/>
                  </a:lnTo>
                  <a:cubicBezTo>
                    <a:pt x="1615044" y="270876"/>
                    <a:pt x="1604399" y="296575"/>
                    <a:pt x="1585451" y="315523"/>
                  </a:cubicBezTo>
                  <a:cubicBezTo>
                    <a:pt x="1566503" y="334471"/>
                    <a:pt x="1540805" y="345115"/>
                    <a:pt x="1514008" y="345115"/>
                  </a:cubicBezTo>
                  <a:lnTo>
                    <a:pt x="101036" y="345115"/>
                  </a:lnTo>
                  <a:cubicBezTo>
                    <a:pt x="74239" y="345115"/>
                    <a:pt x="48541" y="334471"/>
                    <a:pt x="29593" y="315523"/>
                  </a:cubicBezTo>
                  <a:cubicBezTo>
                    <a:pt x="10645" y="296575"/>
                    <a:pt x="0" y="270876"/>
                    <a:pt x="0" y="244080"/>
                  </a:cubicBezTo>
                  <a:lnTo>
                    <a:pt x="0" y="101036"/>
                  </a:lnTo>
                  <a:cubicBezTo>
                    <a:pt x="0" y="74239"/>
                    <a:pt x="10645" y="48541"/>
                    <a:pt x="29593" y="29593"/>
                  </a:cubicBezTo>
                  <a:cubicBezTo>
                    <a:pt x="48541" y="10645"/>
                    <a:pt x="74239" y="0"/>
                    <a:pt x="101036" y="0"/>
                  </a:cubicBezTo>
                  <a:close/>
                </a:path>
              </a:pathLst>
            </a:custGeom>
            <a:solidFill>
              <a:srgbClr val="FE6D73"/>
            </a:solidFill>
          </p:spPr>
        </p:sp>
        <p:sp>
          <p:nvSpPr>
            <p:cNvPr name="TextBox 4" id="4"/>
            <p:cNvSpPr txBox="true"/>
            <p:nvPr/>
          </p:nvSpPr>
          <p:spPr>
            <a:xfrm>
              <a:off x="0" y="19050"/>
              <a:ext cx="1615044" cy="326065"/>
            </a:xfrm>
            <a:prstGeom prst="rect">
              <a:avLst/>
            </a:prstGeom>
          </p:spPr>
          <p:txBody>
            <a:bodyPr anchor="ctr" rtlCol="false" tIns="50800" lIns="50800" bIns="50800" rIns="50800"/>
            <a:lstStyle/>
            <a:p>
              <a:pPr algn="ctr">
                <a:lnSpc>
                  <a:spcPts val="2553"/>
                </a:lnSpc>
              </a:pPr>
            </a:p>
          </p:txBody>
        </p:sp>
      </p:grpSp>
      <p:sp>
        <p:nvSpPr>
          <p:cNvPr name="Freeform 5" id="5"/>
          <p:cNvSpPr/>
          <p:nvPr/>
        </p:nvSpPr>
        <p:spPr>
          <a:xfrm flipH="false" flipV="false" rot="0">
            <a:off x="11134576" y="0"/>
            <a:ext cx="7153424" cy="10287000"/>
          </a:xfrm>
          <a:custGeom>
            <a:avLst/>
            <a:gdLst/>
            <a:ahLst/>
            <a:cxnLst/>
            <a:rect r="r" b="b" t="t" l="l"/>
            <a:pathLst>
              <a:path h="10287000" w="7153424">
                <a:moveTo>
                  <a:pt x="0" y="0"/>
                </a:moveTo>
                <a:lnTo>
                  <a:pt x="7153424" y="0"/>
                </a:lnTo>
                <a:lnTo>
                  <a:pt x="7153424" y="10287000"/>
                </a:lnTo>
                <a:lnTo>
                  <a:pt x="0" y="10287000"/>
                </a:lnTo>
                <a:lnTo>
                  <a:pt x="0" y="0"/>
                </a:lnTo>
                <a:close/>
              </a:path>
            </a:pathLst>
          </a:custGeom>
          <a:blipFill>
            <a:blip r:embed="rId2"/>
            <a:stretch>
              <a:fillRect l="-22795" t="0" r="-21010" b="0"/>
            </a:stretch>
          </a:blipFill>
        </p:spPr>
      </p:sp>
      <p:sp>
        <p:nvSpPr>
          <p:cNvPr name="TextBox 6" id="6"/>
          <p:cNvSpPr txBox="true"/>
          <p:nvPr/>
        </p:nvSpPr>
        <p:spPr>
          <a:xfrm rot="0">
            <a:off x="633957" y="368380"/>
            <a:ext cx="3627342" cy="660320"/>
          </a:xfrm>
          <a:prstGeom prst="rect">
            <a:avLst/>
          </a:prstGeom>
        </p:spPr>
        <p:txBody>
          <a:bodyPr anchor="t" rtlCol="false" tIns="0" lIns="0" bIns="0" rIns="0">
            <a:spAutoFit/>
          </a:bodyPr>
          <a:lstStyle/>
          <a:p>
            <a:pPr algn="l">
              <a:lnSpc>
                <a:spcPts val="2342"/>
              </a:lnSpc>
            </a:pPr>
            <a:r>
              <a:rPr lang="en-US" sz="2342" b="true">
                <a:solidFill>
                  <a:srgbClr val="FFFFFF"/>
                </a:solidFill>
                <a:latin typeface="Kollektif Bold"/>
                <a:ea typeface="Kollektif Bold"/>
                <a:cs typeface="Kollektif Bold"/>
                <a:sym typeface="Kollektif Bold"/>
              </a:rPr>
              <a:t>BÀI TOÁN N-QUEEN </a:t>
            </a:r>
          </a:p>
          <a:p>
            <a:pPr algn="l">
              <a:lnSpc>
                <a:spcPts val="2342"/>
              </a:lnSpc>
            </a:pPr>
            <a:r>
              <a:rPr lang="en-US" b="true" sz="2342">
                <a:solidFill>
                  <a:srgbClr val="FFFFFF"/>
                </a:solidFill>
                <a:latin typeface="Kollektif Bold"/>
                <a:ea typeface="Kollektif Bold"/>
                <a:cs typeface="Kollektif Bold"/>
                <a:sym typeface="Kollektif Bold"/>
              </a:rPr>
              <a:t> MÔ TẢ</a:t>
            </a:r>
          </a:p>
        </p:txBody>
      </p:sp>
      <p:sp>
        <p:nvSpPr>
          <p:cNvPr name="TextBox 7" id="7"/>
          <p:cNvSpPr txBox="true"/>
          <p:nvPr/>
        </p:nvSpPr>
        <p:spPr>
          <a:xfrm rot="0">
            <a:off x="582515" y="1529165"/>
            <a:ext cx="2671524" cy="376092"/>
          </a:xfrm>
          <a:prstGeom prst="rect">
            <a:avLst/>
          </a:prstGeom>
        </p:spPr>
        <p:txBody>
          <a:bodyPr anchor="t" rtlCol="false" tIns="0" lIns="0" bIns="0" rIns="0">
            <a:spAutoFit/>
          </a:bodyPr>
          <a:lstStyle/>
          <a:p>
            <a:pPr algn="ctr">
              <a:lnSpc>
                <a:spcPts val="2431"/>
              </a:lnSpc>
              <a:spcBef>
                <a:spcPct val="0"/>
              </a:spcBef>
            </a:pPr>
            <a:r>
              <a:rPr lang="en-US" b="true" sz="2431">
                <a:solidFill>
                  <a:srgbClr val="000000"/>
                </a:solidFill>
                <a:latin typeface="Kollektif Bold"/>
                <a:ea typeface="Kollektif Bold"/>
                <a:cs typeface="Kollektif Bold"/>
                <a:sym typeface="Kollektif Bold"/>
              </a:rPr>
              <a:t>YÊU CẦU CỐT LÕI:</a:t>
            </a:r>
          </a:p>
        </p:txBody>
      </p:sp>
      <p:sp>
        <p:nvSpPr>
          <p:cNvPr name="TextBox 8" id="8"/>
          <p:cNvSpPr txBox="true"/>
          <p:nvPr/>
        </p:nvSpPr>
        <p:spPr>
          <a:xfrm rot="0">
            <a:off x="631033" y="2253585"/>
            <a:ext cx="10326208" cy="985692"/>
          </a:xfrm>
          <a:prstGeom prst="rect">
            <a:avLst/>
          </a:prstGeom>
        </p:spPr>
        <p:txBody>
          <a:bodyPr anchor="t" rtlCol="false" tIns="0" lIns="0" bIns="0" rIns="0">
            <a:spAutoFit/>
          </a:bodyPr>
          <a:lstStyle/>
          <a:p>
            <a:pPr algn="l">
              <a:lnSpc>
                <a:spcPts val="2431"/>
              </a:lnSpc>
              <a:spcBef>
                <a:spcPct val="0"/>
              </a:spcBef>
            </a:pPr>
            <a:r>
              <a:rPr lang="en-US" b="true" sz="2431">
                <a:solidFill>
                  <a:srgbClr val="000000"/>
                </a:solidFill>
                <a:latin typeface="Kollektif Bold"/>
                <a:ea typeface="Kollektif Bold"/>
                <a:cs typeface="Kollektif Bold"/>
                <a:sym typeface="Kollektif Bold"/>
              </a:rPr>
              <a:t>ĐẶT N QUÂN HẬU TRÊN BÀN CỜ N×N SAO CHO KHÔNG CÓ HAI QUÂN NÀO TẤN CÔNG NHAU (CÙNG HÀNG, CÙNG CỘT, HOẶC CÙNG ĐƯỜNG CHÉO).</a:t>
            </a:r>
          </a:p>
        </p:txBody>
      </p:sp>
      <p:sp>
        <p:nvSpPr>
          <p:cNvPr name="TextBox 9" id="9"/>
          <p:cNvSpPr txBox="true"/>
          <p:nvPr/>
        </p:nvSpPr>
        <p:spPr>
          <a:xfrm rot="0">
            <a:off x="631033" y="3591702"/>
            <a:ext cx="9973539" cy="680892"/>
          </a:xfrm>
          <a:prstGeom prst="rect">
            <a:avLst/>
          </a:prstGeom>
        </p:spPr>
        <p:txBody>
          <a:bodyPr anchor="t" rtlCol="false" tIns="0" lIns="0" bIns="0" rIns="0">
            <a:spAutoFit/>
          </a:bodyPr>
          <a:lstStyle/>
          <a:p>
            <a:pPr algn="l">
              <a:lnSpc>
                <a:spcPts val="2431"/>
              </a:lnSpc>
              <a:spcBef>
                <a:spcPct val="0"/>
              </a:spcBef>
            </a:pPr>
            <a:r>
              <a:rPr lang="en-US" b="true" sz="2431">
                <a:solidFill>
                  <a:srgbClr val="000000"/>
                </a:solidFill>
                <a:latin typeface="Kollektif Bold"/>
                <a:ea typeface="Kollektif Bold"/>
                <a:cs typeface="Kollektif Bold"/>
                <a:sym typeface="Kollektif Bold"/>
              </a:rPr>
              <a:t>BIỂU DIỄN TRẠNG THÁI: VECTOR Q = [Q_1, ..., Q_N] (HÀNG CỦA QUÂN HẬU Ở CỘT I).</a:t>
            </a:r>
          </a:p>
        </p:txBody>
      </p:sp>
      <p:sp>
        <p:nvSpPr>
          <p:cNvPr name="TextBox 10" id="10"/>
          <p:cNvSpPr txBox="true"/>
          <p:nvPr/>
        </p:nvSpPr>
        <p:spPr>
          <a:xfrm rot="0">
            <a:off x="633957" y="4940160"/>
            <a:ext cx="9757361" cy="680892"/>
          </a:xfrm>
          <a:prstGeom prst="rect">
            <a:avLst/>
          </a:prstGeom>
        </p:spPr>
        <p:txBody>
          <a:bodyPr anchor="t" rtlCol="false" tIns="0" lIns="0" bIns="0" rIns="0">
            <a:spAutoFit/>
          </a:bodyPr>
          <a:lstStyle/>
          <a:p>
            <a:pPr algn="l">
              <a:lnSpc>
                <a:spcPts val="2431"/>
              </a:lnSpc>
              <a:spcBef>
                <a:spcPct val="0"/>
              </a:spcBef>
            </a:pPr>
            <a:r>
              <a:rPr lang="en-US" b="true" sz="2431">
                <a:solidFill>
                  <a:srgbClr val="000000"/>
                </a:solidFill>
                <a:latin typeface="Kollektif Bold"/>
                <a:ea typeface="Kollektif Bold"/>
                <a:cs typeface="Kollektif Bold"/>
                <a:sym typeface="Kollektif Bold"/>
              </a:rPr>
              <a:t>HÀM MỤC TIÊU: CONFLICTS(Q) - SỐ CẶP HẬU TẤN CÔNG NHAU. MỤC TIÊU LÀ TỐI THIỂU HÓA (VỀ 0).</a:t>
            </a:r>
          </a:p>
        </p:txBody>
      </p:sp>
      <p:sp>
        <p:nvSpPr>
          <p:cNvPr name="TextBox 11" id="11"/>
          <p:cNvSpPr txBox="true"/>
          <p:nvPr/>
        </p:nvSpPr>
        <p:spPr>
          <a:xfrm rot="0">
            <a:off x="582515" y="6288617"/>
            <a:ext cx="10022057" cy="680892"/>
          </a:xfrm>
          <a:prstGeom prst="rect">
            <a:avLst/>
          </a:prstGeom>
        </p:spPr>
        <p:txBody>
          <a:bodyPr anchor="t" rtlCol="false" tIns="0" lIns="0" bIns="0" rIns="0">
            <a:spAutoFit/>
          </a:bodyPr>
          <a:lstStyle/>
          <a:p>
            <a:pPr algn="l">
              <a:lnSpc>
                <a:spcPts val="2431"/>
              </a:lnSpc>
              <a:spcBef>
                <a:spcPct val="0"/>
              </a:spcBef>
            </a:pPr>
            <a:r>
              <a:rPr lang="en-US" b="true" sz="2431">
                <a:solidFill>
                  <a:srgbClr val="000000"/>
                </a:solidFill>
                <a:latin typeface="Kollektif Bold"/>
                <a:ea typeface="Kollektif Bold"/>
                <a:cs typeface="Kollektif Bold"/>
                <a:sym typeface="Kollektif Bold"/>
              </a:rPr>
              <a:t>PHÉP DI CHUYỂN: DI CHUYỂN MỘT QUÂN HẬU SANG HÀNG KHÁC TRONG CÙNG CỘT.</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90016" y="505627"/>
            <a:ext cx="6691391" cy="1046146"/>
            <a:chOff x="0" y="0"/>
            <a:chExt cx="2640664" cy="412847"/>
          </a:xfrm>
        </p:grpSpPr>
        <p:sp>
          <p:nvSpPr>
            <p:cNvPr name="Freeform 3" id="3"/>
            <p:cNvSpPr/>
            <p:nvPr/>
          </p:nvSpPr>
          <p:spPr>
            <a:xfrm flipH="false" flipV="false" rot="0">
              <a:off x="0" y="0"/>
              <a:ext cx="2640664" cy="412847"/>
            </a:xfrm>
            <a:custGeom>
              <a:avLst/>
              <a:gdLst/>
              <a:ahLst/>
              <a:cxnLst/>
              <a:rect r="r" b="b" t="t" l="l"/>
              <a:pathLst>
                <a:path h="412847" w="2640664">
                  <a:moveTo>
                    <a:pt x="59007" y="0"/>
                  </a:moveTo>
                  <a:lnTo>
                    <a:pt x="2581657" y="0"/>
                  </a:lnTo>
                  <a:cubicBezTo>
                    <a:pt x="2614245" y="0"/>
                    <a:pt x="2640664" y="26418"/>
                    <a:pt x="2640664" y="59007"/>
                  </a:cubicBezTo>
                  <a:lnTo>
                    <a:pt x="2640664" y="353840"/>
                  </a:lnTo>
                  <a:cubicBezTo>
                    <a:pt x="2640664" y="386428"/>
                    <a:pt x="2614245" y="412847"/>
                    <a:pt x="2581657" y="412847"/>
                  </a:cubicBezTo>
                  <a:lnTo>
                    <a:pt x="59007" y="412847"/>
                  </a:lnTo>
                  <a:cubicBezTo>
                    <a:pt x="26418" y="412847"/>
                    <a:pt x="0" y="386428"/>
                    <a:pt x="0" y="353840"/>
                  </a:cubicBezTo>
                  <a:lnTo>
                    <a:pt x="0" y="59007"/>
                  </a:lnTo>
                  <a:cubicBezTo>
                    <a:pt x="0" y="26418"/>
                    <a:pt x="26418" y="0"/>
                    <a:pt x="59007" y="0"/>
                  </a:cubicBezTo>
                  <a:close/>
                </a:path>
              </a:pathLst>
            </a:custGeom>
            <a:solidFill>
              <a:srgbClr val="FFCB77"/>
            </a:solidFill>
          </p:spPr>
        </p:sp>
        <p:sp>
          <p:nvSpPr>
            <p:cNvPr name="TextBox 4" id="4"/>
            <p:cNvSpPr txBox="true"/>
            <p:nvPr/>
          </p:nvSpPr>
          <p:spPr>
            <a:xfrm>
              <a:off x="0" y="19050"/>
              <a:ext cx="2640664" cy="393797"/>
            </a:xfrm>
            <a:prstGeom prst="rect">
              <a:avLst/>
            </a:prstGeom>
          </p:spPr>
          <p:txBody>
            <a:bodyPr anchor="ctr" rtlCol="false" tIns="50800" lIns="50800" bIns="50800" rIns="50800"/>
            <a:lstStyle/>
            <a:p>
              <a:pPr algn="ctr">
                <a:lnSpc>
                  <a:spcPts val="2553"/>
                </a:lnSpc>
              </a:pPr>
            </a:p>
          </p:txBody>
        </p:sp>
      </p:grpSp>
      <p:sp>
        <p:nvSpPr>
          <p:cNvPr name="Freeform 5" id="5"/>
          <p:cNvSpPr/>
          <p:nvPr/>
        </p:nvSpPr>
        <p:spPr>
          <a:xfrm flipH="false" flipV="false" rot="0">
            <a:off x="642690" y="2140678"/>
            <a:ext cx="1340999" cy="754587"/>
          </a:xfrm>
          <a:custGeom>
            <a:avLst/>
            <a:gdLst/>
            <a:ahLst/>
            <a:cxnLst/>
            <a:rect r="r" b="b" t="t" l="l"/>
            <a:pathLst>
              <a:path h="754587" w="1340999">
                <a:moveTo>
                  <a:pt x="0" y="0"/>
                </a:moveTo>
                <a:lnTo>
                  <a:pt x="1340999" y="0"/>
                </a:lnTo>
                <a:lnTo>
                  <a:pt x="1340999" y="754587"/>
                </a:lnTo>
                <a:lnTo>
                  <a:pt x="0" y="7545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754204" y="1901379"/>
            <a:ext cx="1233185" cy="1233185"/>
          </a:xfrm>
          <a:custGeom>
            <a:avLst/>
            <a:gdLst/>
            <a:ahLst/>
            <a:cxnLst/>
            <a:rect r="r" b="b" t="t" l="l"/>
            <a:pathLst>
              <a:path h="1233185" w="1233185">
                <a:moveTo>
                  <a:pt x="0" y="0"/>
                </a:moveTo>
                <a:lnTo>
                  <a:pt x="1233186" y="0"/>
                </a:lnTo>
                <a:lnTo>
                  <a:pt x="1233186" y="1233186"/>
                </a:lnTo>
                <a:lnTo>
                  <a:pt x="0" y="1233186"/>
                </a:lnTo>
                <a:lnTo>
                  <a:pt x="0" y="0"/>
                </a:lnTo>
                <a:close/>
              </a:path>
            </a:pathLst>
          </a:custGeom>
          <a:blipFill>
            <a:blip r:embed="rId4"/>
            <a:stretch>
              <a:fillRect l="0" t="0" r="0" b="0"/>
            </a:stretch>
          </a:blipFill>
        </p:spPr>
      </p:sp>
      <p:sp>
        <p:nvSpPr>
          <p:cNvPr name="Freeform 7" id="7"/>
          <p:cNvSpPr/>
          <p:nvPr/>
        </p:nvSpPr>
        <p:spPr>
          <a:xfrm flipH="false" flipV="false" rot="0">
            <a:off x="821985" y="5508198"/>
            <a:ext cx="1885002" cy="1776614"/>
          </a:xfrm>
          <a:custGeom>
            <a:avLst/>
            <a:gdLst/>
            <a:ahLst/>
            <a:cxnLst/>
            <a:rect r="r" b="b" t="t" l="l"/>
            <a:pathLst>
              <a:path h="1776614" w="1885002">
                <a:moveTo>
                  <a:pt x="0" y="0"/>
                </a:moveTo>
                <a:lnTo>
                  <a:pt x="1885001" y="0"/>
                </a:lnTo>
                <a:lnTo>
                  <a:pt x="1885001" y="1776614"/>
                </a:lnTo>
                <a:lnTo>
                  <a:pt x="0" y="1776614"/>
                </a:lnTo>
                <a:lnTo>
                  <a:pt x="0" y="0"/>
                </a:lnTo>
                <a:close/>
              </a:path>
            </a:pathLst>
          </a:custGeom>
          <a:blipFill>
            <a:blip r:embed="rId5"/>
            <a:stretch>
              <a:fillRect l="0" t="0" r="0" b="0"/>
            </a:stretch>
          </a:blipFill>
        </p:spPr>
      </p:sp>
      <p:sp>
        <p:nvSpPr>
          <p:cNvPr name="Freeform 8" id="8"/>
          <p:cNvSpPr/>
          <p:nvPr/>
        </p:nvSpPr>
        <p:spPr>
          <a:xfrm flipH="false" flipV="false" rot="0">
            <a:off x="9754204" y="5754129"/>
            <a:ext cx="1117700" cy="1397125"/>
          </a:xfrm>
          <a:custGeom>
            <a:avLst/>
            <a:gdLst/>
            <a:ahLst/>
            <a:cxnLst/>
            <a:rect r="r" b="b" t="t" l="l"/>
            <a:pathLst>
              <a:path h="1397125" w="1117700">
                <a:moveTo>
                  <a:pt x="0" y="0"/>
                </a:moveTo>
                <a:lnTo>
                  <a:pt x="1117700" y="0"/>
                </a:lnTo>
                <a:lnTo>
                  <a:pt x="1117700" y="1397125"/>
                </a:lnTo>
                <a:lnTo>
                  <a:pt x="0" y="13971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642690" y="891453"/>
            <a:ext cx="6186042" cy="660320"/>
          </a:xfrm>
          <a:prstGeom prst="rect">
            <a:avLst/>
          </a:prstGeom>
        </p:spPr>
        <p:txBody>
          <a:bodyPr anchor="t" rtlCol="false" tIns="0" lIns="0" bIns="0" rIns="0">
            <a:spAutoFit/>
          </a:bodyPr>
          <a:lstStyle/>
          <a:p>
            <a:pPr algn="l">
              <a:lnSpc>
                <a:spcPts val="2342"/>
              </a:lnSpc>
            </a:pPr>
            <a:r>
              <a:rPr lang="en-US" sz="2342" b="true">
                <a:solidFill>
                  <a:srgbClr val="FFFFFF"/>
                </a:solidFill>
                <a:latin typeface="Kollektif Bold"/>
                <a:ea typeface="Kollektif Bold"/>
                <a:cs typeface="Kollektif Bold"/>
                <a:sym typeface="Kollektif Bold"/>
              </a:rPr>
              <a:t>CÁC BIẾN THỂ HILL CLIMBING (N-QUEENS)</a:t>
            </a:r>
          </a:p>
          <a:p>
            <a:pPr algn="l">
              <a:lnSpc>
                <a:spcPts val="2342"/>
              </a:lnSpc>
            </a:pPr>
          </a:p>
        </p:txBody>
      </p:sp>
      <p:sp>
        <p:nvSpPr>
          <p:cNvPr name="TextBox 10" id="10"/>
          <p:cNvSpPr txBox="true"/>
          <p:nvPr/>
        </p:nvSpPr>
        <p:spPr>
          <a:xfrm rot="0">
            <a:off x="1983689" y="2214373"/>
            <a:ext cx="3209332" cy="376092"/>
          </a:xfrm>
          <a:prstGeom prst="rect">
            <a:avLst/>
          </a:prstGeom>
        </p:spPr>
        <p:txBody>
          <a:bodyPr anchor="t" rtlCol="false" tIns="0" lIns="0" bIns="0" rIns="0">
            <a:spAutoFit/>
          </a:bodyPr>
          <a:lstStyle/>
          <a:p>
            <a:pPr algn="ctr">
              <a:lnSpc>
                <a:spcPts val="2431"/>
              </a:lnSpc>
              <a:spcBef>
                <a:spcPct val="0"/>
              </a:spcBef>
            </a:pPr>
            <a:r>
              <a:rPr lang="en-US" b="true" sz="2431">
                <a:solidFill>
                  <a:srgbClr val="000000"/>
                </a:solidFill>
                <a:latin typeface="Kollektif Bold"/>
                <a:ea typeface="Kollektif Bold"/>
                <a:cs typeface="Kollektif Bold"/>
                <a:sym typeface="Kollektif Bold"/>
              </a:rPr>
              <a:t>STEEPEST-ASCENT</a:t>
            </a:r>
          </a:p>
        </p:txBody>
      </p:sp>
      <p:sp>
        <p:nvSpPr>
          <p:cNvPr name="TextBox 11" id="11"/>
          <p:cNvSpPr txBox="true"/>
          <p:nvPr/>
        </p:nvSpPr>
        <p:spPr>
          <a:xfrm rot="0">
            <a:off x="642690" y="3476290"/>
            <a:ext cx="6833448" cy="985692"/>
          </a:xfrm>
          <a:prstGeom prst="rect">
            <a:avLst/>
          </a:prstGeom>
        </p:spPr>
        <p:txBody>
          <a:bodyPr anchor="t" rtlCol="false" tIns="0" lIns="0" bIns="0" rIns="0">
            <a:spAutoFit/>
          </a:bodyPr>
          <a:lstStyle/>
          <a:p>
            <a:pPr algn="l">
              <a:lnSpc>
                <a:spcPts val="2431"/>
              </a:lnSpc>
              <a:spcBef>
                <a:spcPct val="0"/>
              </a:spcBef>
            </a:pPr>
            <a:r>
              <a:rPr lang="en-US" b="true" sz="2431">
                <a:solidFill>
                  <a:srgbClr val="000000"/>
                </a:solidFill>
                <a:latin typeface="Kollektif Bold"/>
                <a:ea typeface="Kollektif Bold"/>
                <a:cs typeface="Kollektif Bold"/>
                <a:sym typeface="Kollektif Bold"/>
              </a:rPr>
              <a:t>CHỌN NƯỚC ĐI CẢI THIỆN TỐT NHẤT (GIẢM CONFLICT NHIỀU NHẤT). NHANH NHƯNG DỄ KẸT TẠI CỰC TRỊ ĐỊA PHƯƠNG.</a:t>
            </a:r>
          </a:p>
        </p:txBody>
      </p:sp>
      <p:sp>
        <p:nvSpPr>
          <p:cNvPr name="TextBox 12" id="12"/>
          <p:cNvSpPr txBox="true"/>
          <p:nvPr/>
        </p:nvSpPr>
        <p:spPr>
          <a:xfrm rot="0">
            <a:off x="11442457" y="2214373"/>
            <a:ext cx="2831398" cy="376092"/>
          </a:xfrm>
          <a:prstGeom prst="rect">
            <a:avLst/>
          </a:prstGeom>
        </p:spPr>
        <p:txBody>
          <a:bodyPr anchor="t" rtlCol="false" tIns="0" lIns="0" bIns="0" rIns="0">
            <a:spAutoFit/>
          </a:bodyPr>
          <a:lstStyle/>
          <a:p>
            <a:pPr algn="ctr">
              <a:lnSpc>
                <a:spcPts val="2431"/>
              </a:lnSpc>
              <a:spcBef>
                <a:spcPct val="0"/>
              </a:spcBef>
            </a:pPr>
            <a:r>
              <a:rPr lang="en-US" b="true" sz="2431">
                <a:solidFill>
                  <a:srgbClr val="000000"/>
                </a:solidFill>
                <a:latin typeface="Kollektif Bold"/>
                <a:ea typeface="Kollektif Bold"/>
                <a:cs typeface="Kollektif Bold"/>
                <a:sym typeface="Kollektif Bold"/>
              </a:rPr>
              <a:t>STOCHASTIC HC</a:t>
            </a:r>
          </a:p>
        </p:txBody>
      </p:sp>
      <p:sp>
        <p:nvSpPr>
          <p:cNvPr name="TextBox 13" id="13"/>
          <p:cNvSpPr txBox="true"/>
          <p:nvPr/>
        </p:nvSpPr>
        <p:spPr>
          <a:xfrm rot="0">
            <a:off x="9754204" y="3476290"/>
            <a:ext cx="8115300" cy="985692"/>
          </a:xfrm>
          <a:prstGeom prst="rect">
            <a:avLst/>
          </a:prstGeom>
        </p:spPr>
        <p:txBody>
          <a:bodyPr anchor="t" rtlCol="false" tIns="0" lIns="0" bIns="0" rIns="0">
            <a:spAutoFit/>
          </a:bodyPr>
          <a:lstStyle/>
          <a:p>
            <a:pPr algn="l">
              <a:lnSpc>
                <a:spcPts val="2431"/>
              </a:lnSpc>
              <a:spcBef>
                <a:spcPct val="0"/>
              </a:spcBef>
            </a:pPr>
            <a:r>
              <a:rPr lang="en-US" b="true" sz="2431">
                <a:solidFill>
                  <a:srgbClr val="000000"/>
                </a:solidFill>
                <a:latin typeface="Kollektif Bold"/>
                <a:ea typeface="Kollektif Bold"/>
                <a:cs typeface="Kollektif Bold"/>
                <a:sym typeface="Kollektif Bold"/>
              </a:rPr>
              <a:t>CHỌN NGẪU NHIÊN MỘT NƯỚC ĐI CẢI THIỆN. CÓ THỂ THOÁT KHỎI MỘT SỐ CỰC TRỊ, NHƯNG KẾT QUẢ PHỤ THUỘC VÀO NGẪU NHIÊN.</a:t>
            </a:r>
          </a:p>
        </p:txBody>
      </p:sp>
      <p:sp>
        <p:nvSpPr>
          <p:cNvPr name="TextBox 14" id="14"/>
          <p:cNvSpPr txBox="true"/>
          <p:nvPr/>
        </p:nvSpPr>
        <p:spPr>
          <a:xfrm rot="0">
            <a:off x="2706986" y="5744604"/>
            <a:ext cx="3415684" cy="376092"/>
          </a:xfrm>
          <a:prstGeom prst="rect">
            <a:avLst/>
          </a:prstGeom>
        </p:spPr>
        <p:txBody>
          <a:bodyPr anchor="t" rtlCol="false" tIns="0" lIns="0" bIns="0" rIns="0">
            <a:spAutoFit/>
          </a:bodyPr>
          <a:lstStyle/>
          <a:p>
            <a:pPr algn="ctr">
              <a:lnSpc>
                <a:spcPts val="2431"/>
              </a:lnSpc>
              <a:spcBef>
                <a:spcPct val="0"/>
              </a:spcBef>
            </a:pPr>
            <a:r>
              <a:rPr lang="en-US" b="true" sz="2431">
                <a:solidFill>
                  <a:srgbClr val="000000"/>
                </a:solidFill>
                <a:latin typeface="Kollektif Bold"/>
                <a:ea typeface="Kollektif Bold"/>
                <a:cs typeface="Kollektif Bold"/>
                <a:sym typeface="Kollektif Bold"/>
              </a:rPr>
              <a:t>FIRST-CHOICE HC</a:t>
            </a:r>
          </a:p>
        </p:txBody>
      </p:sp>
      <p:sp>
        <p:nvSpPr>
          <p:cNvPr name="TextBox 15" id="15"/>
          <p:cNvSpPr txBox="true"/>
          <p:nvPr/>
        </p:nvSpPr>
        <p:spPr>
          <a:xfrm rot="0">
            <a:off x="709358" y="7679576"/>
            <a:ext cx="6052707" cy="985692"/>
          </a:xfrm>
          <a:prstGeom prst="rect">
            <a:avLst/>
          </a:prstGeom>
        </p:spPr>
        <p:txBody>
          <a:bodyPr anchor="t" rtlCol="false" tIns="0" lIns="0" bIns="0" rIns="0">
            <a:spAutoFit/>
          </a:bodyPr>
          <a:lstStyle/>
          <a:p>
            <a:pPr algn="l">
              <a:lnSpc>
                <a:spcPts val="2431"/>
              </a:lnSpc>
              <a:spcBef>
                <a:spcPct val="0"/>
              </a:spcBef>
            </a:pPr>
            <a:r>
              <a:rPr lang="en-US" b="true" sz="2431">
                <a:solidFill>
                  <a:srgbClr val="000000"/>
                </a:solidFill>
                <a:latin typeface="Kollektif Bold"/>
                <a:ea typeface="Kollektif Bold"/>
                <a:cs typeface="Kollektif Bold"/>
                <a:sym typeface="Kollektif Bold"/>
              </a:rPr>
              <a:t>CHẤP NHẬN NGAY NƯỚC ĐI NGẪU NHIÊN ĐẦU TIÊN TỐT HƠN. RẤT NHANH VÌ KHÔNG CẦN XÉT TOÀN BỘ LÂN CẬN.</a:t>
            </a:r>
          </a:p>
        </p:txBody>
      </p:sp>
      <p:sp>
        <p:nvSpPr>
          <p:cNvPr name="TextBox 16" id="16"/>
          <p:cNvSpPr txBox="true"/>
          <p:nvPr/>
        </p:nvSpPr>
        <p:spPr>
          <a:xfrm rot="0">
            <a:off x="11442457" y="5744604"/>
            <a:ext cx="3005257" cy="376092"/>
          </a:xfrm>
          <a:prstGeom prst="rect">
            <a:avLst/>
          </a:prstGeom>
        </p:spPr>
        <p:txBody>
          <a:bodyPr anchor="t" rtlCol="false" tIns="0" lIns="0" bIns="0" rIns="0">
            <a:spAutoFit/>
          </a:bodyPr>
          <a:lstStyle/>
          <a:p>
            <a:pPr algn="ctr">
              <a:lnSpc>
                <a:spcPts val="2431"/>
              </a:lnSpc>
              <a:spcBef>
                <a:spcPct val="0"/>
              </a:spcBef>
            </a:pPr>
            <a:r>
              <a:rPr lang="en-US" b="true" sz="2431">
                <a:solidFill>
                  <a:srgbClr val="000000"/>
                </a:solidFill>
                <a:latin typeface="Kollektif Bold"/>
                <a:ea typeface="Kollektif Bold"/>
                <a:cs typeface="Kollektif Bold"/>
                <a:sym typeface="Kollektif Bold"/>
              </a:rPr>
              <a:t>RANDOM RESTARTS</a:t>
            </a:r>
          </a:p>
        </p:txBody>
      </p:sp>
      <p:sp>
        <p:nvSpPr>
          <p:cNvPr name="TextBox 17" id="17"/>
          <p:cNvSpPr txBox="true"/>
          <p:nvPr/>
        </p:nvSpPr>
        <p:spPr>
          <a:xfrm rot="0">
            <a:off x="9754204" y="7527176"/>
            <a:ext cx="5413831" cy="1290492"/>
          </a:xfrm>
          <a:prstGeom prst="rect">
            <a:avLst/>
          </a:prstGeom>
        </p:spPr>
        <p:txBody>
          <a:bodyPr anchor="t" rtlCol="false" tIns="0" lIns="0" bIns="0" rIns="0">
            <a:spAutoFit/>
          </a:bodyPr>
          <a:lstStyle/>
          <a:p>
            <a:pPr algn="ctr">
              <a:lnSpc>
                <a:spcPts val="2431"/>
              </a:lnSpc>
              <a:spcBef>
                <a:spcPct val="0"/>
              </a:spcBef>
            </a:pPr>
            <a:r>
              <a:rPr lang="en-US" b="true" sz="2431">
                <a:solidFill>
                  <a:srgbClr val="000000"/>
                </a:solidFill>
                <a:latin typeface="Kollektif Bold"/>
                <a:ea typeface="Kollektif Bold"/>
                <a:cs typeface="Kollektif Bold"/>
                <a:sym typeface="Kollektif Bold"/>
              </a:rPr>
              <a:t>CHẠY LẠI HILL CLIMBING NHIỀU LẦN VỚI TRẠNG THÁI BAN ĐẦU KHÁC NHAU. TĂNG TỈ LỆ TÌM ĐƯỢC NGHIỆM TỐI ƯU GẦN 100%.</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09401" y="504551"/>
            <a:ext cx="6507412" cy="1048299"/>
            <a:chOff x="0" y="0"/>
            <a:chExt cx="1584310" cy="255221"/>
          </a:xfrm>
        </p:grpSpPr>
        <p:sp>
          <p:nvSpPr>
            <p:cNvPr name="Freeform 3" id="3"/>
            <p:cNvSpPr/>
            <p:nvPr/>
          </p:nvSpPr>
          <p:spPr>
            <a:xfrm flipH="false" flipV="false" rot="0">
              <a:off x="0" y="0"/>
              <a:ext cx="1584310" cy="255221"/>
            </a:xfrm>
            <a:custGeom>
              <a:avLst/>
              <a:gdLst/>
              <a:ahLst/>
              <a:cxnLst/>
              <a:rect r="r" b="b" t="t" l="l"/>
              <a:pathLst>
                <a:path h="255221" w="1584310">
                  <a:moveTo>
                    <a:pt x="60675" y="0"/>
                  </a:moveTo>
                  <a:lnTo>
                    <a:pt x="1523635" y="0"/>
                  </a:lnTo>
                  <a:cubicBezTo>
                    <a:pt x="1539727" y="0"/>
                    <a:pt x="1555160" y="6393"/>
                    <a:pt x="1566538" y="17771"/>
                  </a:cubicBezTo>
                  <a:cubicBezTo>
                    <a:pt x="1577917" y="29150"/>
                    <a:pt x="1584310" y="44583"/>
                    <a:pt x="1584310" y="60675"/>
                  </a:cubicBezTo>
                  <a:lnTo>
                    <a:pt x="1584310" y="194546"/>
                  </a:lnTo>
                  <a:cubicBezTo>
                    <a:pt x="1584310" y="210638"/>
                    <a:pt x="1577917" y="226071"/>
                    <a:pt x="1566538" y="237450"/>
                  </a:cubicBezTo>
                  <a:cubicBezTo>
                    <a:pt x="1555160" y="248829"/>
                    <a:pt x="1539727" y="255221"/>
                    <a:pt x="1523635" y="255221"/>
                  </a:cubicBezTo>
                  <a:lnTo>
                    <a:pt x="60675" y="255221"/>
                  </a:lnTo>
                  <a:cubicBezTo>
                    <a:pt x="44583" y="255221"/>
                    <a:pt x="29150" y="248829"/>
                    <a:pt x="17771" y="237450"/>
                  </a:cubicBezTo>
                  <a:cubicBezTo>
                    <a:pt x="6393" y="226071"/>
                    <a:pt x="0" y="210638"/>
                    <a:pt x="0" y="194546"/>
                  </a:cubicBezTo>
                  <a:lnTo>
                    <a:pt x="0" y="60675"/>
                  </a:lnTo>
                  <a:cubicBezTo>
                    <a:pt x="0" y="44583"/>
                    <a:pt x="6393" y="29150"/>
                    <a:pt x="17771" y="17771"/>
                  </a:cubicBezTo>
                  <a:cubicBezTo>
                    <a:pt x="29150" y="6393"/>
                    <a:pt x="44583" y="0"/>
                    <a:pt x="60675" y="0"/>
                  </a:cubicBezTo>
                  <a:close/>
                </a:path>
              </a:pathLst>
            </a:custGeom>
            <a:solidFill>
              <a:srgbClr val="48CFAE"/>
            </a:solidFill>
          </p:spPr>
        </p:sp>
        <p:sp>
          <p:nvSpPr>
            <p:cNvPr name="TextBox 4" id="4"/>
            <p:cNvSpPr txBox="true"/>
            <p:nvPr/>
          </p:nvSpPr>
          <p:spPr>
            <a:xfrm>
              <a:off x="0" y="19050"/>
              <a:ext cx="1584310" cy="236171"/>
            </a:xfrm>
            <a:prstGeom prst="rect">
              <a:avLst/>
            </a:prstGeom>
          </p:spPr>
          <p:txBody>
            <a:bodyPr anchor="ctr" rtlCol="false" tIns="50800" lIns="50800" bIns="50800" rIns="50800"/>
            <a:lstStyle/>
            <a:p>
              <a:pPr algn="ctr">
                <a:lnSpc>
                  <a:spcPts val="2553"/>
                </a:lnSpc>
              </a:pPr>
            </a:p>
          </p:txBody>
        </p:sp>
      </p:grpSp>
      <p:sp>
        <p:nvSpPr>
          <p:cNvPr name="Freeform 5" id="5"/>
          <p:cNvSpPr/>
          <p:nvPr/>
        </p:nvSpPr>
        <p:spPr>
          <a:xfrm flipH="false" flipV="false" rot="0">
            <a:off x="9144000" y="1293114"/>
            <a:ext cx="7633243" cy="7633243"/>
          </a:xfrm>
          <a:custGeom>
            <a:avLst/>
            <a:gdLst/>
            <a:ahLst/>
            <a:cxnLst/>
            <a:rect r="r" b="b" t="t" l="l"/>
            <a:pathLst>
              <a:path h="7633243" w="7633243">
                <a:moveTo>
                  <a:pt x="0" y="0"/>
                </a:moveTo>
                <a:lnTo>
                  <a:pt x="7633243" y="0"/>
                </a:lnTo>
                <a:lnTo>
                  <a:pt x="7633243" y="7633242"/>
                </a:lnTo>
                <a:lnTo>
                  <a:pt x="0" y="7633242"/>
                </a:lnTo>
                <a:lnTo>
                  <a:pt x="0" y="0"/>
                </a:lnTo>
                <a:close/>
              </a:path>
            </a:pathLst>
          </a:custGeom>
          <a:blipFill>
            <a:blip r:embed="rId2"/>
            <a:stretch>
              <a:fillRect l="0" t="0" r="0" b="0"/>
            </a:stretch>
          </a:blipFill>
        </p:spPr>
      </p:sp>
      <p:sp>
        <p:nvSpPr>
          <p:cNvPr name="TextBox 6" id="6"/>
          <p:cNvSpPr txBox="true"/>
          <p:nvPr/>
        </p:nvSpPr>
        <p:spPr>
          <a:xfrm rot="0">
            <a:off x="670926" y="765146"/>
            <a:ext cx="5964442" cy="668926"/>
          </a:xfrm>
          <a:prstGeom prst="rect">
            <a:avLst/>
          </a:prstGeom>
        </p:spPr>
        <p:txBody>
          <a:bodyPr anchor="t" rtlCol="false" tIns="0" lIns="0" bIns="0" rIns="0">
            <a:spAutoFit/>
          </a:bodyPr>
          <a:lstStyle/>
          <a:p>
            <a:pPr algn="l">
              <a:lnSpc>
                <a:spcPts val="2431"/>
              </a:lnSpc>
            </a:pPr>
            <a:r>
              <a:rPr lang="en-US" b="true" sz="2431">
                <a:solidFill>
                  <a:srgbClr val="FFFFFF"/>
                </a:solidFill>
                <a:latin typeface="Kollektif Bold"/>
                <a:ea typeface="Kollektif Bold"/>
                <a:cs typeface="Kollektif Bold"/>
                <a:sym typeface="Kollektif Bold"/>
              </a:rPr>
              <a:t>SIMULATED ANNEALING: THOÁT KHỎI CỰC TRỊ</a:t>
            </a:r>
          </a:p>
        </p:txBody>
      </p:sp>
      <p:sp>
        <p:nvSpPr>
          <p:cNvPr name="TextBox 7" id="7"/>
          <p:cNvSpPr txBox="true"/>
          <p:nvPr/>
        </p:nvSpPr>
        <p:spPr>
          <a:xfrm rot="0">
            <a:off x="573477" y="1934346"/>
            <a:ext cx="3079671" cy="376092"/>
          </a:xfrm>
          <a:prstGeom prst="rect">
            <a:avLst/>
          </a:prstGeom>
        </p:spPr>
        <p:txBody>
          <a:bodyPr anchor="t" rtlCol="false" tIns="0" lIns="0" bIns="0" rIns="0">
            <a:spAutoFit/>
          </a:bodyPr>
          <a:lstStyle/>
          <a:p>
            <a:pPr algn="ctr">
              <a:lnSpc>
                <a:spcPts val="2431"/>
              </a:lnSpc>
              <a:spcBef>
                <a:spcPct val="0"/>
              </a:spcBef>
            </a:pPr>
            <a:r>
              <a:rPr lang="en-US" b="true" sz="2431">
                <a:solidFill>
                  <a:srgbClr val="000000"/>
                </a:solidFill>
                <a:latin typeface="Kollektif Bold"/>
                <a:ea typeface="Kollektif Bold"/>
                <a:cs typeface="Kollektif Bold"/>
                <a:sym typeface="Kollektif Bold"/>
              </a:rPr>
              <a:t>CƠ CHẾ HOẠT ĐỘNG</a:t>
            </a:r>
          </a:p>
        </p:txBody>
      </p:sp>
      <p:sp>
        <p:nvSpPr>
          <p:cNvPr name="TextBox 8" id="8"/>
          <p:cNvSpPr txBox="true"/>
          <p:nvPr/>
        </p:nvSpPr>
        <p:spPr>
          <a:xfrm rot="0">
            <a:off x="573477" y="2519607"/>
            <a:ext cx="7662098" cy="680892"/>
          </a:xfrm>
          <a:prstGeom prst="rect">
            <a:avLst/>
          </a:prstGeom>
        </p:spPr>
        <p:txBody>
          <a:bodyPr anchor="t" rtlCol="false" tIns="0" lIns="0" bIns="0" rIns="0">
            <a:spAutoFit/>
          </a:bodyPr>
          <a:lstStyle/>
          <a:p>
            <a:pPr algn="l">
              <a:lnSpc>
                <a:spcPts val="2431"/>
              </a:lnSpc>
              <a:spcBef>
                <a:spcPct val="0"/>
              </a:spcBef>
            </a:pPr>
            <a:r>
              <a:rPr lang="en-US" b="true" sz="2431">
                <a:solidFill>
                  <a:srgbClr val="000000"/>
                </a:solidFill>
                <a:latin typeface="Kollektif Bold"/>
                <a:ea typeface="Kollektif Bold"/>
                <a:cs typeface="Kollektif Bold"/>
                <a:sym typeface="Kollektif Bold"/>
              </a:rPr>
              <a:t>GIỐNG HILL CLIMBING NHƯNG CHẤP NHẬN BƯỚC XẤU VỚI XÁC SUẤT P = E^{-DELTA E / T}.</a:t>
            </a:r>
          </a:p>
        </p:txBody>
      </p:sp>
      <p:sp>
        <p:nvSpPr>
          <p:cNvPr name="TextBox 9" id="9"/>
          <p:cNvSpPr txBox="true"/>
          <p:nvPr/>
        </p:nvSpPr>
        <p:spPr>
          <a:xfrm rot="0">
            <a:off x="670926" y="3581499"/>
            <a:ext cx="7346958" cy="680892"/>
          </a:xfrm>
          <a:prstGeom prst="rect">
            <a:avLst/>
          </a:prstGeom>
        </p:spPr>
        <p:txBody>
          <a:bodyPr anchor="t" rtlCol="false" tIns="0" lIns="0" bIns="0" rIns="0">
            <a:spAutoFit/>
          </a:bodyPr>
          <a:lstStyle/>
          <a:p>
            <a:pPr algn="l">
              <a:lnSpc>
                <a:spcPts val="2431"/>
              </a:lnSpc>
              <a:spcBef>
                <a:spcPct val="0"/>
              </a:spcBef>
            </a:pPr>
            <a:r>
              <a:rPr lang="en-US" b="true" sz="2431">
                <a:solidFill>
                  <a:srgbClr val="000000"/>
                </a:solidFill>
                <a:latin typeface="Kollektif Bold"/>
                <a:ea typeface="Kollektif Bold"/>
                <a:cs typeface="Kollektif Bold"/>
                <a:sym typeface="Kollektif Bold"/>
              </a:rPr>
              <a:t>KHI NHIỆT ĐỘ T CAO, KHẢ NĂNG CHẤP NHẬN BƯỚC XẤU CAO (KHÁM PHÁ).</a:t>
            </a:r>
          </a:p>
        </p:txBody>
      </p:sp>
      <p:sp>
        <p:nvSpPr>
          <p:cNvPr name="TextBox 10" id="10"/>
          <p:cNvSpPr txBox="true"/>
          <p:nvPr/>
        </p:nvSpPr>
        <p:spPr>
          <a:xfrm rot="0">
            <a:off x="682322" y="4767216"/>
            <a:ext cx="7444408" cy="680892"/>
          </a:xfrm>
          <a:prstGeom prst="rect">
            <a:avLst/>
          </a:prstGeom>
        </p:spPr>
        <p:txBody>
          <a:bodyPr anchor="t" rtlCol="false" tIns="0" lIns="0" bIns="0" rIns="0">
            <a:spAutoFit/>
          </a:bodyPr>
          <a:lstStyle/>
          <a:p>
            <a:pPr algn="l">
              <a:lnSpc>
                <a:spcPts val="2431"/>
              </a:lnSpc>
              <a:spcBef>
                <a:spcPct val="0"/>
              </a:spcBef>
            </a:pPr>
            <a:r>
              <a:rPr lang="en-US" b="true" sz="2431">
                <a:solidFill>
                  <a:srgbClr val="000000"/>
                </a:solidFill>
                <a:latin typeface="Kollektif Bold"/>
                <a:ea typeface="Kollektif Bold"/>
                <a:cs typeface="Kollektif Bold"/>
                <a:sym typeface="Kollektif Bold"/>
              </a:rPr>
              <a:t>KHI T GIẢM DẦN, KHẢ NĂNG CHẤP NHẬN BƯỚC XẤU GIẢM (KHAI THÁC).</a:t>
            </a:r>
          </a:p>
        </p:txBody>
      </p:sp>
      <p:sp>
        <p:nvSpPr>
          <p:cNvPr name="TextBox 11" id="11"/>
          <p:cNvSpPr txBox="true"/>
          <p:nvPr/>
        </p:nvSpPr>
        <p:spPr>
          <a:xfrm rot="0">
            <a:off x="573477" y="5952934"/>
            <a:ext cx="7245424" cy="680892"/>
          </a:xfrm>
          <a:prstGeom prst="rect">
            <a:avLst/>
          </a:prstGeom>
        </p:spPr>
        <p:txBody>
          <a:bodyPr anchor="t" rtlCol="false" tIns="0" lIns="0" bIns="0" rIns="0">
            <a:spAutoFit/>
          </a:bodyPr>
          <a:lstStyle/>
          <a:p>
            <a:pPr algn="l">
              <a:lnSpc>
                <a:spcPts val="2431"/>
              </a:lnSpc>
              <a:spcBef>
                <a:spcPct val="0"/>
              </a:spcBef>
            </a:pPr>
            <a:r>
              <a:rPr lang="en-US" b="true" sz="2431">
                <a:solidFill>
                  <a:srgbClr val="000000"/>
                </a:solidFill>
                <a:latin typeface="Kollektif Bold"/>
                <a:ea typeface="Kollektif Bold"/>
                <a:cs typeface="Kollektif Bold"/>
                <a:sym typeface="Kollektif Bold"/>
              </a:rPr>
              <a:t>ĐẶT T HỢP LÝ GIÚP THUẬT TOÁN TRÁNH MẮC KẸT SỚM VÀ HỘI TỤ VỀ NGHIỆM TỐI ƯU.</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09401" y="504551"/>
            <a:ext cx="5787091" cy="890728"/>
            <a:chOff x="0" y="0"/>
            <a:chExt cx="1408939" cy="216859"/>
          </a:xfrm>
        </p:grpSpPr>
        <p:sp>
          <p:nvSpPr>
            <p:cNvPr name="Freeform 3" id="3"/>
            <p:cNvSpPr/>
            <p:nvPr/>
          </p:nvSpPr>
          <p:spPr>
            <a:xfrm flipH="false" flipV="false" rot="0">
              <a:off x="0" y="0"/>
              <a:ext cx="1408939" cy="216859"/>
            </a:xfrm>
            <a:custGeom>
              <a:avLst/>
              <a:gdLst/>
              <a:ahLst/>
              <a:cxnLst/>
              <a:rect r="r" b="b" t="t" l="l"/>
              <a:pathLst>
                <a:path h="216859" w="1408939">
                  <a:moveTo>
                    <a:pt x="68227" y="0"/>
                  </a:moveTo>
                  <a:lnTo>
                    <a:pt x="1340711" y="0"/>
                  </a:lnTo>
                  <a:cubicBezTo>
                    <a:pt x="1358806" y="0"/>
                    <a:pt x="1376160" y="7188"/>
                    <a:pt x="1388955" y="19983"/>
                  </a:cubicBezTo>
                  <a:cubicBezTo>
                    <a:pt x="1401750" y="32778"/>
                    <a:pt x="1408939" y="50132"/>
                    <a:pt x="1408939" y="68227"/>
                  </a:cubicBezTo>
                  <a:lnTo>
                    <a:pt x="1408939" y="148631"/>
                  </a:lnTo>
                  <a:cubicBezTo>
                    <a:pt x="1408939" y="186312"/>
                    <a:pt x="1378392" y="216859"/>
                    <a:pt x="1340711" y="216859"/>
                  </a:cubicBezTo>
                  <a:lnTo>
                    <a:pt x="68227" y="216859"/>
                  </a:lnTo>
                  <a:cubicBezTo>
                    <a:pt x="30546" y="216859"/>
                    <a:pt x="0" y="186312"/>
                    <a:pt x="0" y="148631"/>
                  </a:cubicBezTo>
                  <a:lnTo>
                    <a:pt x="0" y="68227"/>
                  </a:lnTo>
                  <a:cubicBezTo>
                    <a:pt x="0" y="30546"/>
                    <a:pt x="30546" y="0"/>
                    <a:pt x="68227" y="0"/>
                  </a:cubicBezTo>
                  <a:close/>
                </a:path>
              </a:pathLst>
            </a:custGeom>
            <a:solidFill>
              <a:srgbClr val="48CFAE"/>
            </a:solidFill>
          </p:spPr>
        </p:sp>
        <p:sp>
          <p:nvSpPr>
            <p:cNvPr name="TextBox 4" id="4"/>
            <p:cNvSpPr txBox="true"/>
            <p:nvPr/>
          </p:nvSpPr>
          <p:spPr>
            <a:xfrm>
              <a:off x="0" y="19050"/>
              <a:ext cx="1408939" cy="197809"/>
            </a:xfrm>
            <a:prstGeom prst="rect">
              <a:avLst/>
            </a:prstGeom>
          </p:spPr>
          <p:txBody>
            <a:bodyPr anchor="ctr" rtlCol="false" tIns="50800" lIns="50800" bIns="50800" rIns="50800"/>
            <a:lstStyle/>
            <a:p>
              <a:pPr algn="ctr">
                <a:lnSpc>
                  <a:spcPts val="2553"/>
                </a:lnSpc>
              </a:pPr>
            </a:p>
          </p:txBody>
        </p:sp>
      </p:grpSp>
      <p:sp>
        <p:nvSpPr>
          <p:cNvPr name="Freeform 5" id="5"/>
          <p:cNvSpPr/>
          <p:nvPr/>
        </p:nvSpPr>
        <p:spPr>
          <a:xfrm flipH="false" flipV="false" rot="0">
            <a:off x="2465154" y="2717448"/>
            <a:ext cx="13357693" cy="5727111"/>
          </a:xfrm>
          <a:custGeom>
            <a:avLst/>
            <a:gdLst/>
            <a:ahLst/>
            <a:cxnLst/>
            <a:rect r="r" b="b" t="t" l="l"/>
            <a:pathLst>
              <a:path h="5727111" w="13357693">
                <a:moveTo>
                  <a:pt x="0" y="0"/>
                </a:moveTo>
                <a:lnTo>
                  <a:pt x="13357692" y="0"/>
                </a:lnTo>
                <a:lnTo>
                  <a:pt x="13357692" y="5727111"/>
                </a:lnTo>
                <a:lnTo>
                  <a:pt x="0" y="5727111"/>
                </a:lnTo>
                <a:lnTo>
                  <a:pt x="0" y="0"/>
                </a:lnTo>
                <a:close/>
              </a:path>
            </a:pathLst>
          </a:custGeom>
          <a:blipFill>
            <a:blip r:embed="rId2"/>
            <a:stretch>
              <a:fillRect l="0" t="0" r="0" b="0"/>
            </a:stretch>
          </a:blipFill>
        </p:spPr>
      </p:sp>
      <p:sp>
        <p:nvSpPr>
          <p:cNvPr name="TextBox 6" id="6"/>
          <p:cNvSpPr txBox="true"/>
          <p:nvPr/>
        </p:nvSpPr>
        <p:spPr>
          <a:xfrm rot="0">
            <a:off x="670926" y="765146"/>
            <a:ext cx="5964442" cy="370109"/>
          </a:xfrm>
          <a:prstGeom prst="rect">
            <a:avLst/>
          </a:prstGeom>
        </p:spPr>
        <p:txBody>
          <a:bodyPr anchor="t" rtlCol="false" tIns="0" lIns="0" bIns="0" rIns="0">
            <a:spAutoFit/>
          </a:bodyPr>
          <a:lstStyle/>
          <a:p>
            <a:pPr algn="l">
              <a:lnSpc>
                <a:spcPts val="2431"/>
              </a:lnSpc>
            </a:pPr>
            <a:r>
              <a:rPr lang="en-US" b="true" sz="2431">
                <a:solidFill>
                  <a:srgbClr val="FFFFFF"/>
                </a:solidFill>
                <a:latin typeface="Kollektif Bold"/>
                <a:ea typeface="Kollektif Bold"/>
                <a:cs typeface="Kollektif Bold"/>
                <a:sym typeface="Kollektif Bold"/>
              </a:rPr>
              <a:t>SO SÁNH HIỆU SUẤT (N-QUEENS)</a:t>
            </a:r>
          </a:p>
        </p:txBody>
      </p:sp>
      <p:sp>
        <p:nvSpPr>
          <p:cNvPr name="TextBox 7" id="7"/>
          <p:cNvSpPr txBox="true"/>
          <p:nvPr/>
        </p:nvSpPr>
        <p:spPr>
          <a:xfrm rot="0">
            <a:off x="489482" y="1731756"/>
            <a:ext cx="15365694" cy="376092"/>
          </a:xfrm>
          <a:prstGeom prst="rect">
            <a:avLst/>
          </a:prstGeom>
        </p:spPr>
        <p:txBody>
          <a:bodyPr anchor="t" rtlCol="false" tIns="0" lIns="0" bIns="0" rIns="0">
            <a:spAutoFit/>
          </a:bodyPr>
          <a:lstStyle/>
          <a:p>
            <a:pPr algn="l">
              <a:lnSpc>
                <a:spcPts val="2431"/>
              </a:lnSpc>
              <a:spcBef>
                <a:spcPct val="0"/>
              </a:spcBef>
            </a:pPr>
            <a:r>
              <a:rPr lang="en-US" b="true" sz="2431">
                <a:solidFill>
                  <a:srgbClr val="000000"/>
                </a:solidFill>
                <a:latin typeface="Kollektif Bold"/>
                <a:ea typeface="Kollektif Bold"/>
                <a:cs typeface="Kollektif Bold"/>
                <a:sym typeface="Kollektif Bold"/>
              </a:rPr>
              <a:t>SIMULATED ANNEALING (SA) CHO KẾT QUẢ ỔN ĐỊNH VÀ CHẤT LƯỢNG NHẤT, ĐẶC BIỆT VỚI N LỚN.</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31911" y="419559"/>
            <a:ext cx="5929304" cy="890728"/>
            <a:chOff x="0" y="0"/>
            <a:chExt cx="1443562" cy="216859"/>
          </a:xfrm>
        </p:grpSpPr>
        <p:sp>
          <p:nvSpPr>
            <p:cNvPr name="Freeform 3" id="3"/>
            <p:cNvSpPr/>
            <p:nvPr/>
          </p:nvSpPr>
          <p:spPr>
            <a:xfrm flipH="false" flipV="false" rot="0">
              <a:off x="0" y="0"/>
              <a:ext cx="1443562" cy="216859"/>
            </a:xfrm>
            <a:custGeom>
              <a:avLst/>
              <a:gdLst/>
              <a:ahLst/>
              <a:cxnLst/>
              <a:rect r="r" b="b" t="t" l="l"/>
              <a:pathLst>
                <a:path h="216859" w="1443562">
                  <a:moveTo>
                    <a:pt x="66591" y="0"/>
                  </a:moveTo>
                  <a:lnTo>
                    <a:pt x="1376971" y="0"/>
                  </a:lnTo>
                  <a:cubicBezTo>
                    <a:pt x="1413748" y="0"/>
                    <a:pt x="1443562" y="29814"/>
                    <a:pt x="1443562" y="66591"/>
                  </a:cubicBezTo>
                  <a:lnTo>
                    <a:pt x="1443562" y="150268"/>
                  </a:lnTo>
                  <a:cubicBezTo>
                    <a:pt x="1443562" y="187045"/>
                    <a:pt x="1413748" y="216859"/>
                    <a:pt x="1376971" y="216859"/>
                  </a:cubicBezTo>
                  <a:lnTo>
                    <a:pt x="66591" y="216859"/>
                  </a:lnTo>
                  <a:cubicBezTo>
                    <a:pt x="29814" y="216859"/>
                    <a:pt x="0" y="187045"/>
                    <a:pt x="0" y="150268"/>
                  </a:cubicBezTo>
                  <a:lnTo>
                    <a:pt x="0" y="66591"/>
                  </a:lnTo>
                  <a:cubicBezTo>
                    <a:pt x="0" y="29814"/>
                    <a:pt x="29814" y="0"/>
                    <a:pt x="66591" y="0"/>
                  </a:cubicBezTo>
                  <a:close/>
                </a:path>
              </a:pathLst>
            </a:custGeom>
            <a:solidFill>
              <a:srgbClr val="48CFAE"/>
            </a:solidFill>
          </p:spPr>
        </p:sp>
        <p:sp>
          <p:nvSpPr>
            <p:cNvPr name="TextBox 4" id="4"/>
            <p:cNvSpPr txBox="true"/>
            <p:nvPr/>
          </p:nvSpPr>
          <p:spPr>
            <a:xfrm>
              <a:off x="0" y="19050"/>
              <a:ext cx="1443562" cy="197809"/>
            </a:xfrm>
            <a:prstGeom prst="rect">
              <a:avLst/>
            </a:prstGeom>
          </p:spPr>
          <p:txBody>
            <a:bodyPr anchor="ctr" rtlCol="false" tIns="50800" lIns="50800" bIns="50800" rIns="50800"/>
            <a:lstStyle/>
            <a:p>
              <a:pPr algn="ctr">
                <a:lnSpc>
                  <a:spcPts val="2553"/>
                </a:lnSpc>
              </a:pPr>
            </a:p>
          </p:txBody>
        </p:sp>
      </p:grpSp>
      <p:sp>
        <p:nvSpPr>
          <p:cNvPr name="Freeform 5" id="5"/>
          <p:cNvSpPr/>
          <p:nvPr/>
        </p:nvSpPr>
        <p:spPr>
          <a:xfrm flipH="false" flipV="false" rot="0">
            <a:off x="9465890" y="0"/>
            <a:ext cx="8822110" cy="10287000"/>
          </a:xfrm>
          <a:custGeom>
            <a:avLst/>
            <a:gdLst/>
            <a:ahLst/>
            <a:cxnLst/>
            <a:rect r="r" b="b" t="t" l="l"/>
            <a:pathLst>
              <a:path h="10287000" w="8822110">
                <a:moveTo>
                  <a:pt x="0" y="0"/>
                </a:moveTo>
                <a:lnTo>
                  <a:pt x="8822110" y="0"/>
                </a:lnTo>
                <a:lnTo>
                  <a:pt x="8822110" y="10287000"/>
                </a:lnTo>
                <a:lnTo>
                  <a:pt x="0" y="10287000"/>
                </a:lnTo>
                <a:lnTo>
                  <a:pt x="0" y="0"/>
                </a:lnTo>
                <a:close/>
              </a:path>
            </a:pathLst>
          </a:custGeom>
          <a:blipFill>
            <a:blip r:embed="rId2"/>
            <a:stretch>
              <a:fillRect l="0" t="-18646" r="0" b="-10073"/>
            </a:stretch>
          </a:blipFill>
        </p:spPr>
      </p:sp>
      <p:sp>
        <p:nvSpPr>
          <p:cNvPr name="TextBox 6" id="6"/>
          <p:cNvSpPr txBox="true"/>
          <p:nvPr/>
        </p:nvSpPr>
        <p:spPr>
          <a:xfrm rot="0">
            <a:off x="535866" y="675106"/>
            <a:ext cx="5725349" cy="370109"/>
          </a:xfrm>
          <a:prstGeom prst="rect">
            <a:avLst/>
          </a:prstGeom>
        </p:spPr>
        <p:txBody>
          <a:bodyPr anchor="t" rtlCol="false" tIns="0" lIns="0" bIns="0" rIns="0">
            <a:spAutoFit/>
          </a:bodyPr>
          <a:lstStyle/>
          <a:p>
            <a:pPr algn="l">
              <a:lnSpc>
                <a:spcPts val="2431"/>
              </a:lnSpc>
            </a:pPr>
            <a:r>
              <a:rPr lang="en-US" b="true" sz="2431">
                <a:solidFill>
                  <a:srgbClr val="FFFFFF"/>
                </a:solidFill>
                <a:latin typeface="Kollektif Bold"/>
                <a:ea typeface="Kollektif Bold"/>
                <a:cs typeface="Kollektif Bold"/>
                <a:sym typeface="Kollektif Bold"/>
              </a:rPr>
              <a:t>KHẢ NĂNG MỞ RỘNG (SCALABILITY)</a:t>
            </a:r>
          </a:p>
        </p:txBody>
      </p:sp>
      <p:sp>
        <p:nvSpPr>
          <p:cNvPr name="TextBox 7" id="7"/>
          <p:cNvSpPr txBox="true"/>
          <p:nvPr/>
        </p:nvSpPr>
        <p:spPr>
          <a:xfrm rot="0">
            <a:off x="535866" y="1799286"/>
            <a:ext cx="7325303" cy="680892"/>
          </a:xfrm>
          <a:prstGeom prst="rect">
            <a:avLst/>
          </a:prstGeom>
        </p:spPr>
        <p:txBody>
          <a:bodyPr anchor="t" rtlCol="false" tIns="0" lIns="0" bIns="0" rIns="0">
            <a:spAutoFit/>
          </a:bodyPr>
          <a:lstStyle/>
          <a:p>
            <a:pPr algn="l">
              <a:lnSpc>
                <a:spcPts val="2431"/>
              </a:lnSpc>
              <a:spcBef>
                <a:spcPct val="0"/>
              </a:spcBef>
            </a:pPr>
            <a:r>
              <a:rPr lang="en-US" b="true" sz="2431">
                <a:solidFill>
                  <a:srgbClr val="000000"/>
                </a:solidFill>
                <a:latin typeface="Kollektif Bold"/>
                <a:ea typeface="Kollektif Bold"/>
                <a:cs typeface="Kollektif Bold"/>
                <a:sym typeface="Kollektif Bold"/>
              </a:rPr>
              <a:t>PHÂN TÍCH THỜI GIAN CHẠY TRUNG BÌNH THEO KÍCH THƯỚC BÀI TOÁN N (TỪ 4 ĐẾN 20).</a:t>
            </a:r>
          </a:p>
        </p:txBody>
      </p:sp>
      <p:sp>
        <p:nvSpPr>
          <p:cNvPr name="TextBox 8" id="8"/>
          <p:cNvSpPr txBox="true"/>
          <p:nvPr/>
        </p:nvSpPr>
        <p:spPr>
          <a:xfrm rot="0">
            <a:off x="535866" y="2965953"/>
            <a:ext cx="8322814" cy="985692"/>
          </a:xfrm>
          <a:prstGeom prst="rect">
            <a:avLst/>
          </a:prstGeom>
        </p:spPr>
        <p:txBody>
          <a:bodyPr anchor="t" rtlCol="false" tIns="0" lIns="0" bIns="0" rIns="0">
            <a:spAutoFit/>
          </a:bodyPr>
          <a:lstStyle/>
          <a:p>
            <a:pPr algn="l">
              <a:lnSpc>
                <a:spcPts val="2431"/>
              </a:lnSpc>
              <a:spcBef>
                <a:spcPct val="0"/>
              </a:spcBef>
            </a:pPr>
            <a:r>
              <a:rPr lang="en-US" b="true" sz="2431">
                <a:solidFill>
                  <a:srgbClr val="000000"/>
                </a:solidFill>
                <a:latin typeface="Kollektif Bold"/>
                <a:ea typeface="Kollektif Bold"/>
                <a:cs typeface="Kollektif Bold"/>
                <a:sym typeface="Kollektif Bold"/>
              </a:rPr>
              <a:t>KHI $N &gt; 12$, SIMULATED ANNEALING VÀ RANDOM RESTARTS VẪN DUY TRÌ KẾT QUẢ ỔN ĐỊNH HƠN, MẶC DÙ CÓ ĐỘ PHỨC TẠP TRUNG BÌNH $\SIM O(N^2)$.</a:t>
            </a:r>
          </a:p>
        </p:txBody>
      </p:sp>
      <p:sp>
        <p:nvSpPr>
          <p:cNvPr name="TextBox 9" id="9"/>
          <p:cNvSpPr txBox="true"/>
          <p:nvPr/>
        </p:nvSpPr>
        <p:spPr>
          <a:xfrm rot="0">
            <a:off x="487408" y="4437420"/>
            <a:ext cx="3142655" cy="376092"/>
          </a:xfrm>
          <a:prstGeom prst="rect">
            <a:avLst/>
          </a:prstGeom>
        </p:spPr>
        <p:txBody>
          <a:bodyPr anchor="t" rtlCol="false" tIns="0" lIns="0" bIns="0" rIns="0">
            <a:spAutoFit/>
          </a:bodyPr>
          <a:lstStyle/>
          <a:p>
            <a:pPr algn="ctr">
              <a:lnSpc>
                <a:spcPts val="2431"/>
              </a:lnSpc>
              <a:spcBef>
                <a:spcPct val="0"/>
              </a:spcBef>
            </a:pPr>
            <a:r>
              <a:rPr lang="en-US" b="true" sz="2431">
                <a:solidFill>
                  <a:srgbClr val="000000"/>
                </a:solidFill>
                <a:latin typeface="Kollektif Bold"/>
                <a:ea typeface="Kollektif Bold"/>
                <a:cs typeface="Kollektif Bold"/>
                <a:sym typeface="Kollektif Bold"/>
              </a:rPr>
              <a:t>KẾT LUẬN N-QUEENS:</a:t>
            </a:r>
          </a:p>
        </p:txBody>
      </p:sp>
      <p:sp>
        <p:nvSpPr>
          <p:cNvPr name="TextBox 10" id="10"/>
          <p:cNvSpPr txBox="true"/>
          <p:nvPr/>
        </p:nvSpPr>
        <p:spPr>
          <a:xfrm rot="0">
            <a:off x="535866" y="4939048"/>
            <a:ext cx="7795356" cy="680892"/>
          </a:xfrm>
          <a:prstGeom prst="rect">
            <a:avLst/>
          </a:prstGeom>
        </p:spPr>
        <p:txBody>
          <a:bodyPr anchor="t" rtlCol="false" tIns="0" lIns="0" bIns="0" rIns="0">
            <a:spAutoFit/>
          </a:bodyPr>
          <a:lstStyle/>
          <a:p>
            <a:pPr algn="l">
              <a:lnSpc>
                <a:spcPts val="2431"/>
              </a:lnSpc>
              <a:spcBef>
                <a:spcPct val="0"/>
              </a:spcBef>
            </a:pPr>
            <a:r>
              <a:rPr lang="en-US" b="true" sz="2431">
                <a:solidFill>
                  <a:srgbClr val="000000"/>
                </a:solidFill>
                <a:latin typeface="Kollektif Bold"/>
                <a:ea typeface="Kollektif Bold"/>
                <a:cs typeface="Kollektif Bold"/>
                <a:sym typeface="Kollektif Bold"/>
              </a:rPr>
              <a:t>SA LÀ LỰA CHỌN HIỆU QUẢ VÀ ỔN ĐỊNH NHẤT. HILL CLIMBING THÍCH HỢP KHI ƯU TIÊN TỐC ĐỘ.</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3833915" y="3960810"/>
            <a:ext cx="10620170" cy="1886584"/>
          </a:xfrm>
          <a:prstGeom prst="rect">
            <a:avLst/>
          </a:prstGeom>
        </p:spPr>
        <p:txBody>
          <a:bodyPr anchor="t" rtlCol="false" tIns="0" lIns="0" bIns="0" rIns="0">
            <a:spAutoFit/>
          </a:bodyPr>
          <a:lstStyle/>
          <a:p>
            <a:pPr algn="ctr">
              <a:lnSpc>
                <a:spcPts val="12399"/>
              </a:lnSpc>
            </a:pPr>
            <a:r>
              <a:rPr lang="en-US" b="true" sz="12399">
                <a:solidFill>
                  <a:srgbClr val="227C9D"/>
                </a:solidFill>
                <a:latin typeface="Kollektif Bold"/>
                <a:ea typeface="Kollektif Bold"/>
                <a:cs typeface="Kollektif Bold"/>
                <a:sym typeface="Kollektif Bold"/>
              </a:rPr>
              <a:t>THANK YOU</a:t>
            </a:r>
          </a:p>
        </p:txBody>
      </p:sp>
      <p:sp>
        <p:nvSpPr>
          <p:cNvPr name="Freeform 3" id="3"/>
          <p:cNvSpPr/>
          <p:nvPr/>
        </p:nvSpPr>
        <p:spPr>
          <a:xfrm flipH="false" flipV="false" rot="0">
            <a:off x="17204191" y="-55109"/>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7204191" y="1028700"/>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5400000">
            <a:off x="17204191" y="2112509"/>
            <a:ext cx="1083809" cy="1083809"/>
          </a:xfrm>
          <a:custGeom>
            <a:avLst/>
            <a:gdLst/>
            <a:ahLst/>
            <a:cxnLst/>
            <a:rect r="r" b="b" t="t" l="l"/>
            <a:pathLst>
              <a:path h="1083809" w="1083809">
                <a:moveTo>
                  <a:pt x="1083809" y="1083809"/>
                </a:moveTo>
                <a:lnTo>
                  <a:pt x="0" y="1083809"/>
                </a:lnTo>
                <a:lnTo>
                  <a:pt x="0" y="0"/>
                </a:lnTo>
                <a:lnTo>
                  <a:pt x="1083809" y="0"/>
                </a:lnTo>
                <a:lnTo>
                  <a:pt x="1083809" y="1083809"/>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6120382" y="-55109"/>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5400000">
            <a:off x="15036573" y="1028700"/>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10800000">
            <a:off x="16120382" y="2112509"/>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true" flipV="true" rot="-10800000">
            <a:off x="15036573" y="2112509"/>
            <a:ext cx="1083809" cy="1083809"/>
          </a:xfrm>
          <a:custGeom>
            <a:avLst/>
            <a:gdLst/>
            <a:ahLst/>
            <a:cxnLst/>
            <a:rect r="r" b="b" t="t" l="l"/>
            <a:pathLst>
              <a:path h="1083809" w="1083809">
                <a:moveTo>
                  <a:pt x="1083809" y="1083809"/>
                </a:moveTo>
                <a:lnTo>
                  <a:pt x="0" y="1083809"/>
                </a:lnTo>
                <a:lnTo>
                  <a:pt x="0" y="0"/>
                </a:lnTo>
                <a:lnTo>
                  <a:pt x="1083809" y="0"/>
                </a:lnTo>
                <a:lnTo>
                  <a:pt x="1083809" y="108380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true" rot="5400000">
            <a:off x="12770705" y="-55109"/>
            <a:ext cx="1083809" cy="1083809"/>
          </a:xfrm>
          <a:custGeom>
            <a:avLst/>
            <a:gdLst/>
            <a:ahLst/>
            <a:cxnLst/>
            <a:rect r="r" b="b" t="t" l="l"/>
            <a:pathLst>
              <a:path h="1083809" w="1083809">
                <a:moveTo>
                  <a:pt x="1083809" y="1083809"/>
                </a:moveTo>
                <a:lnTo>
                  <a:pt x="0" y="1083809"/>
                </a:lnTo>
                <a:lnTo>
                  <a:pt x="0" y="0"/>
                </a:lnTo>
                <a:lnTo>
                  <a:pt x="1083809" y="0"/>
                </a:lnTo>
                <a:lnTo>
                  <a:pt x="1083809" y="1083809"/>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true" flipV="true" rot="-10800000">
            <a:off x="12770705" y="1028700"/>
            <a:ext cx="1083809" cy="1083809"/>
          </a:xfrm>
          <a:custGeom>
            <a:avLst/>
            <a:gdLst/>
            <a:ahLst/>
            <a:cxnLst/>
            <a:rect r="r" b="b" t="t" l="l"/>
            <a:pathLst>
              <a:path h="1083809" w="1083809">
                <a:moveTo>
                  <a:pt x="1083809" y="1083809"/>
                </a:moveTo>
                <a:lnTo>
                  <a:pt x="0" y="1083809"/>
                </a:lnTo>
                <a:lnTo>
                  <a:pt x="0" y="0"/>
                </a:lnTo>
                <a:lnTo>
                  <a:pt x="1083809" y="0"/>
                </a:lnTo>
                <a:lnTo>
                  <a:pt x="1083809" y="1083809"/>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10800000">
            <a:off x="9525" y="7044155"/>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083809" y="7072730"/>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0" y="8156539"/>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10800000">
            <a:off x="0" y="9240348"/>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5400000">
            <a:off x="1083809" y="9240348"/>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10800000">
            <a:off x="3321750" y="9268923"/>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8" id="18"/>
          <p:cNvSpPr/>
          <p:nvPr/>
        </p:nvSpPr>
        <p:spPr>
          <a:xfrm flipH="false" flipV="false" rot="0">
            <a:off x="3321750" y="8185114"/>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9" id="19"/>
          <p:cNvSpPr/>
          <p:nvPr/>
        </p:nvSpPr>
        <p:spPr>
          <a:xfrm flipH="false" flipV="false" rot="5400000">
            <a:off x="4405559" y="9268923"/>
            <a:ext cx="1083809" cy="1083809"/>
          </a:xfrm>
          <a:custGeom>
            <a:avLst/>
            <a:gdLst/>
            <a:ahLst/>
            <a:cxnLst/>
            <a:rect r="r" b="b" t="t" l="l"/>
            <a:pathLst>
              <a:path h="1083809" w="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0" id="20"/>
          <p:cNvGrpSpPr/>
          <p:nvPr/>
        </p:nvGrpSpPr>
        <p:grpSpPr>
          <a:xfrm rot="0">
            <a:off x="13123603" y="5475036"/>
            <a:ext cx="8847511" cy="8855676"/>
            <a:chOff x="0" y="0"/>
            <a:chExt cx="11796681" cy="11807568"/>
          </a:xfrm>
        </p:grpSpPr>
        <p:grpSp>
          <p:nvGrpSpPr>
            <p:cNvPr name="Group 21" id="21"/>
            <p:cNvGrpSpPr/>
            <p:nvPr/>
          </p:nvGrpSpPr>
          <p:grpSpPr>
            <a:xfrm rot="2700000">
              <a:off x="1676828" y="2799524"/>
              <a:ext cx="9887197" cy="4753460"/>
              <a:chOff x="0" y="0"/>
              <a:chExt cx="660400" cy="317500"/>
            </a:xfrm>
          </p:grpSpPr>
          <p:sp>
            <p:nvSpPr>
              <p:cNvPr name="Freeform 22" id="22"/>
              <p:cNvSpPr/>
              <p:nvPr/>
            </p:nvSpPr>
            <p:spPr>
              <a:xfrm flipH="false" flipV="false" rot="0">
                <a:off x="0" y="0"/>
                <a:ext cx="660400" cy="317500"/>
              </a:xfrm>
              <a:custGeom>
                <a:avLst/>
                <a:gdLst/>
                <a:ahLst/>
                <a:cxnLst/>
                <a:rect r="r" b="b" t="t" l="l"/>
                <a:pathLst>
                  <a:path h="317500"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000000">
                  <a:alpha val="0"/>
                </a:srgbClr>
              </a:solidFill>
              <a:ln w="28575" cap="sq">
                <a:solidFill>
                  <a:srgbClr val="8CA9AD"/>
                </a:solidFill>
                <a:prstDash val="solid"/>
                <a:miter/>
              </a:ln>
            </p:spPr>
          </p:sp>
          <p:sp>
            <p:nvSpPr>
              <p:cNvPr name="TextBox 23" id="23"/>
              <p:cNvSpPr txBox="true"/>
              <p:nvPr/>
            </p:nvSpPr>
            <p:spPr>
              <a:xfrm>
                <a:off x="0" y="146050"/>
                <a:ext cx="660400" cy="171450"/>
              </a:xfrm>
              <a:prstGeom prst="rect">
                <a:avLst/>
              </a:prstGeom>
            </p:spPr>
            <p:txBody>
              <a:bodyPr anchor="ctr" rtlCol="false" tIns="50800" lIns="50800" bIns="50800" rIns="50800"/>
              <a:lstStyle/>
              <a:p>
                <a:pPr algn="ctr">
                  <a:lnSpc>
                    <a:spcPts val="2553"/>
                  </a:lnSpc>
                </a:pPr>
              </a:p>
            </p:txBody>
          </p:sp>
        </p:grpSp>
        <p:sp>
          <p:nvSpPr>
            <p:cNvPr name="AutoShape 24" id="24"/>
            <p:cNvSpPr/>
            <p:nvPr/>
          </p:nvSpPr>
          <p:spPr>
            <a:xfrm>
              <a:off x="1060010" y="3892256"/>
              <a:ext cx="6913622" cy="6843603"/>
            </a:xfrm>
            <a:prstGeom prst="line">
              <a:avLst/>
            </a:prstGeom>
            <a:ln cap="flat" w="38100">
              <a:solidFill>
                <a:srgbClr val="8CA9AD"/>
              </a:solidFill>
              <a:prstDash val="solid"/>
              <a:headEnd type="none" len="sm" w="sm"/>
              <a:tailEnd type="none" len="sm" w="sm"/>
            </a:ln>
          </p:spPr>
        </p:sp>
        <p:sp>
          <p:nvSpPr>
            <p:cNvPr name="AutoShape 25" id="25"/>
            <p:cNvSpPr/>
            <p:nvPr/>
          </p:nvSpPr>
          <p:spPr>
            <a:xfrm>
              <a:off x="774748" y="4309159"/>
              <a:ext cx="6718471" cy="6718471"/>
            </a:xfrm>
            <a:prstGeom prst="line">
              <a:avLst/>
            </a:prstGeom>
            <a:ln cap="flat" w="38100">
              <a:solidFill>
                <a:srgbClr val="8CA9AD"/>
              </a:solidFill>
              <a:prstDash val="solid"/>
              <a:headEnd type="none" len="sm" w="sm"/>
              <a:tailEnd type="none" len="sm" w="sm"/>
            </a:ln>
          </p:spPr>
        </p:sp>
        <p:sp>
          <p:nvSpPr>
            <p:cNvPr name="AutoShape 26" id="26"/>
            <p:cNvSpPr/>
            <p:nvPr/>
          </p:nvSpPr>
          <p:spPr>
            <a:xfrm>
              <a:off x="535279" y="4787119"/>
              <a:ext cx="6489522" cy="6489522"/>
            </a:xfrm>
            <a:prstGeom prst="line">
              <a:avLst/>
            </a:prstGeom>
            <a:ln cap="flat" w="38100">
              <a:solidFill>
                <a:srgbClr val="8CA9AD"/>
              </a:solidFill>
              <a:prstDash val="solid"/>
              <a:headEnd type="none" len="sm" w="sm"/>
              <a:tailEnd type="none" len="sm" w="sm"/>
            </a:ln>
          </p:spPr>
        </p:sp>
        <p:sp>
          <p:nvSpPr>
            <p:cNvPr name="AutoShape 27" id="27"/>
            <p:cNvSpPr/>
            <p:nvPr/>
          </p:nvSpPr>
          <p:spPr>
            <a:xfrm>
              <a:off x="366406" y="5302142"/>
              <a:ext cx="6254021" cy="6254021"/>
            </a:xfrm>
            <a:prstGeom prst="line">
              <a:avLst/>
            </a:prstGeom>
            <a:ln cap="flat" w="38100">
              <a:solidFill>
                <a:srgbClr val="8CA9AD"/>
              </a:solidFill>
              <a:prstDash val="solid"/>
              <a:headEnd type="none" len="sm" w="sm"/>
              <a:tailEnd type="none" len="sm" w="sm"/>
            </a:ln>
          </p:spPr>
        </p:sp>
        <p:sp>
          <p:nvSpPr>
            <p:cNvPr name="AutoShape 28" id="28"/>
            <p:cNvSpPr/>
            <p:nvPr/>
          </p:nvSpPr>
          <p:spPr>
            <a:xfrm>
              <a:off x="174601" y="5888378"/>
              <a:ext cx="5796899" cy="5796899"/>
            </a:xfrm>
            <a:prstGeom prst="line">
              <a:avLst/>
            </a:prstGeom>
            <a:ln cap="flat" w="38100">
              <a:solidFill>
                <a:srgbClr val="8CA9AD"/>
              </a:solidFill>
              <a:prstDash val="solid"/>
              <a:headEnd type="none" len="sm" w="sm"/>
              <a:tailEnd type="none" len="sm" w="sm"/>
            </a:ln>
          </p:spPr>
        </p:sp>
        <p:sp>
          <p:nvSpPr>
            <p:cNvPr name="AutoShape 29" id="29"/>
            <p:cNvSpPr/>
            <p:nvPr/>
          </p:nvSpPr>
          <p:spPr>
            <a:xfrm>
              <a:off x="13508" y="6480010"/>
              <a:ext cx="5284799" cy="5314125"/>
            </a:xfrm>
            <a:prstGeom prst="line">
              <a:avLst/>
            </a:prstGeom>
            <a:ln cap="flat" w="38100">
              <a:solidFill>
                <a:srgbClr val="8CA9AD"/>
              </a:solidFill>
              <a:prstDash val="solid"/>
              <a:headEnd type="none" len="sm" w="sm"/>
              <a:tailEnd type="none" len="sm" w="sm"/>
            </a:ln>
          </p:spPr>
        </p:sp>
        <p:sp>
          <p:nvSpPr>
            <p:cNvPr name="AutoShape 30" id="30"/>
            <p:cNvSpPr/>
            <p:nvPr/>
          </p:nvSpPr>
          <p:spPr>
            <a:xfrm>
              <a:off x="47865" y="7228854"/>
              <a:ext cx="4503313" cy="4480077"/>
            </a:xfrm>
            <a:prstGeom prst="line">
              <a:avLst/>
            </a:prstGeom>
            <a:ln cap="flat" w="38100">
              <a:solidFill>
                <a:srgbClr val="8CA9AD"/>
              </a:solidFill>
              <a:prstDash val="solid"/>
              <a:headEnd type="none" len="sm" w="sm"/>
              <a:tailEnd type="none" len="sm" w="sm"/>
            </a:ln>
          </p:spPr>
        </p:sp>
        <p:sp>
          <p:nvSpPr>
            <p:cNvPr name="AutoShape 31" id="31"/>
            <p:cNvSpPr/>
            <p:nvPr/>
          </p:nvSpPr>
          <p:spPr>
            <a:xfrm>
              <a:off x="165620" y="8131631"/>
              <a:ext cx="3504797" cy="3562626"/>
            </a:xfrm>
            <a:prstGeom prst="line">
              <a:avLst/>
            </a:prstGeom>
            <a:ln cap="flat" w="38100">
              <a:solidFill>
                <a:srgbClr val="8CA9AD"/>
              </a:solidFill>
              <a:prstDash val="solid"/>
              <a:headEnd type="none" len="sm" w="sm"/>
              <a:tailEnd type="none" len="sm" w="sm"/>
            </a:ln>
          </p:spPr>
        </p:sp>
        <p:sp>
          <p:nvSpPr>
            <p:cNvPr name="AutoShape 32" id="32"/>
            <p:cNvSpPr/>
            <p:nvPr/>
          </p:nvSpPr>
          <p:spPr>
            <a:xfrm>
              <a:off x="676661" y="9346264"/>
              <a:ext cx="1790115" cy="1790115"/>
            </a:xfrm>
            <a:prstGeom prst="line">
              <a:avLst/>
            </a:prstGeom>
            <a:ln cap="flat" w="38100">
              <a:solidFill>
                <a:srgbClr val="8CA9AD"/>
              </a:solidFill>
              <a:prstDash val="solid"/>
              <a:headEnd type="none" len="sm" w="sm"/>
              <a:tailEnd type="none" len="sm" w="sm"/>
            </a:ln>
          </p:spPr>
        </p:sp>
      </p:grpSp>
      <p:grpSp>
        <p:nvGrpSpPr>
          <p:cNvPr name="Group 33" id="33"/>
          <p:cNvGrpSpPr/>
          <p:nvPr/>
        </p:nvGrpSpPr>
        <p:grpSpPr>
          <a:xfrm rot="0">
            <a:off x="-2634012" y="-5192964"/>
            <a:ext cx="8847511" cy="8855676"/>
            <a:chOff x="0" y="0"/>
            <a:chExt cx="11796681" cy="11807568"/>
          </a:xfrm>
        </p:grpSpPr>
        <p:grpSp>
          <p:nvGrpSpPr>
            <p:cNvPr name="Group 34" id="34"/>
            <p:cNvGrpSpPr/>
            <p:nvPr/>
          </p:nvGrpSpPr>
          <p:grpSpPr>
            <a:xfrm rot="2700000">
              <a:off x="1676828" y="2799524"/>
              <a:ext cx="9887197" cy="4753460"/>
              <a:chOff x="0" y="0"/>
              <a:chExt cx="660400" cy="317500"/>
            </a:xfrm>
          </p:grpSpPr>
          <p:sp>
            <p:nvSpPr>
              <p:cNvPr name="Freeform 35" id="35"/>
              <p:cNvSpPr/>
              <p:nvPr/>
            </p:nvSpPr>
            <p:spPr>
              <a:xfrm flipH="false" flipV="false" rot="0">
                <a:off x="0" y="0"/>
                <a:ext cx="660400" cy="317500"/>
              </a:xfrm>
              <a:custGeom>
                <a:avLst/>
                <a:gdLst/>
                <a:ahLst/>
                <a:cxnLst/>
                <a:rect r="r" b="b" t="t" l="l"/>
                <a:pathLst>
                  <a:path h="317500"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000000">
                  <a:alpha val="0"/>
                </a:srgbClr>
              </a:solidFill>
              <a:ln w="28575" cap="sq">
                <a:solidFill>
                  <a:srgbClr val="8CA9AD"/>
                </a:solidFill>
                <a:prstDash val="solid"/>
                <a:miter/>
              </a:ln>
            </p:spPr>
          </p:sp>
          <p:sp>
            <p:nvSpPr>
              <p:cNvPr name="TextBox 36" id="36"/>
              <p:cNvSpPr txBox="true"/>
              <p:nvPr/>
            </p:nvSpPr>
            <p:spPr>
              <a:xfrm>
                <a:off x="0" y="146050"/>
                <a:ext cx="660400" cy="171450"/>
              </a:xfrm>
              <a:prstGeom prst="rect">
                <a:avLst/>
              </a:prstGeom>
            </p:spPr>
            <p:txBody>
              <a:bodyPr anchor="ctr" rtlCol="false" tIns="50800" lIns="50800" bIns="50800" rIns="50800"/>
              <a:lstStyle/>
              <a:p>
                <a:pPr algn="ctr">
                  <a:lnSpc>
                    <a:spcPts val="2553"/>
                  </a:lnSpc>
                </a:pPr>
              </a:p>
            </p:txBody>
          </p:sp>
        </p:grpSp>
        <p:sp>
          <p:nvSpPr>
            <p:cNvPr name="AutoShape 37" id="37"/>
            <p:cNvSpPr/>
            <p:nvPr/>
          </p:nvSpPr>
          <p:spPr>
            <a:xfrm>
              <a:off x="1060010" y="3892256"/>
              <a:ext cx="6913622" cy="6843603"/>
            </a:xfrm>
            <a:prstGeom prst="line">
              <a:avLst/>
            </a:prstGeom>
            <a:ln cap="flat" w="38100">
              <a:solidFill>
                <a:srgbClr val="8CA9AD"/>
              </a:solidFill>
              <a:prstDash val="solid"/>
              <a:headEnd type="none" len="sm" w="sm"/>
              <a:tailEnd type="none" len="sm" w="sm"/>
            </a:ln>
          </p:spPr>
        </p:sp>
        <p:sp>
          <p:nvSpPr>
            <p:cNvPr name="AutoShape 38" id="38"/>
            <p:cNvSpPr/>
            <p:nvPr/>
          </p:nvSpPr>
          <p:spPr>
            <a:xfrm>
              <a:off x="774748" y="4309159"/>
              <a:ext cx="6718471" cy="6718471"/>
            </a:xfrm>
            <a:prstGeom prst="line">
              <a:avLst/>
            </a:prstGeom>
            <a:ln cap="flat" w="38100">
              <a:solidFill>
                <a:srgbClr val="8CA9AD"/>
              </a:solidFill>
              <a:prstDash val="solid"/>
              <a:headEnd type="none" len="sm" w="sm"/>
              <a:tailEnd type="none" len="sm" w="sm"/>
            </a:ln>
          </p:spPr>
        </p:sp>
        <p:sp>
          <p:nvSpPr>
            <p:cNvPr name="AutoShape 39" id="39"/>
            <p:cNvSpPr/>
            <p:nvPr/>
          </p:nvSpPr>
          <p:spPr>
            <a:xfrm>
              <a:off x="535279" y="4787119"/>
              <a:ext cx="6489522" cy="6489522"/>
            </a:xfrm>
            <a:prstGeom prst="line">
              <a:avLst/>
            </a:prstGeom>
            <a:ln cap="flat" w="38100">
              <a:solidFill>
                <a:srgbClr val="8CA9AD"/>
              </a:solidFill>
              <a:prstDash val="solid"/>
              <a:headEnd type="none" len="sm" w="sm"/>
              <a:tailEnd type="none" len="sm" w="sm"/>
            </a:ln>
          </p:spPr>
        </p:sp>
        <p:sp>
          <p:nvSpPr>
            <p:cNvPr name="AutoShape 40" id="40"/>
            <p:cNvSpPr/>
            <p:nvPr/>
          </p:nvSpPr>
          <p:spPr>
            <a:xfrm>
              <a:off x="366406" y="5302142"/>
              <a:ext cx="6254021" cy="6254021"/>
            </a:xfrm>
            <a:prstGeom prst="line">
              <a:avLst/>
            </a:prstGeom>
            <a:ln cap="flat" w="38100">
              <a:solidFill>
                <a:srgbClr val="8CA9AD"/>
              </a:solidFill>
              <a:prstDash val="solid"/>
              <a:headEnd type="none" len="sm" w="sm"/>
              <a:tailEnd type="none" len="sm" w="sm"/>
            </a:ln>
          </p:spPr>
        </p:sp>
        <p:sp>
          <p:nvSpPr>
            <p:cNvPr name="AutoShape 41" id="41"/>
            <p:cNvSpPr/>
            <p:nvPr/>
          </p:nvSpPr>
          <p:spPr>
            <a:xfrm>
              <a:off x="174601" y="5888378"/>
              <a:ext cx="5796899" cy="5796899"/>
            </a:xfrm>
            <a:prstGeom prst="line">
              <a:avLst/>
            </a:prstGeom>
            <a:ln cap="flat" w="38100">
              <a:solidFill>
                <a:srgbClr val="8CA9AD"/>
              </a:solidFill>
              <a:prstDash val="solid"/>
              <a:headEnd type="none" len="sm" w="sm"/>
              <a:tailEnd type="none" len="sm" w="sm"/>
            </a:ln>
          </p:spPr>
        </p:sp>
        <p:sp>
          <p:nvSpPr>
            <p:cNvPr name="AutoShape 42" id="42"/>
            <p:cNvSpPr/>
            <p:nvPr/>
          </p:nvSpPr>
          <p:spPr>
            <a:xfrm>
              <a:off x="13508" y="6480010"/>
              <a:ext cx="5284799" cy="5314125"/>
            </a:xfrm>
            <a:prstGeom prst="line">
              <a:avLst/>
            </a:prstGeom>
            <a:ln cap="flat" w="38100">
              <a:solidFill>
                <a:srgbClr val="8CA9AD"/>
              </a:solidFill>
              <a:prstDash val="solid"/>
              <a:headEnd type="none" len="sm" w="sm"/>
              <a:tailEnd type="none" len="sm" w="sm"/>
            </a:ln>
          </p:spPr>
        </p:sp>
        <p:sp>
          <p:nvSpPr>
            <p:cNvPr name="AutoShape 43" id="43"/>
            <p:cNvSpPr/>
            <p:nvPr/>
          </p:nvSpPr>
          <p:spPr>
            <a:xfrm>
              <a:off x="47865" y="7228854"/>
              <a:ext cx="4503313" cy="4480077"/>
            </a:xfrm>
            <a:prstGeom prst="line">
              <a:avLst/>
            </a:prstGeom>
            <a:ln cap="flat" w="38100">
              <a:solidFill>
                <a:srgbClr val="8CA9AD"/>
              </a:solidFill>
              <a:prstDash val="solid"/>
              <a:headEnd type="none" len="sm" w="sm"/>
              <a:tailEnd type="none" len="sm" w="sm"/>
            </a:ln>
          </p:spPr>
        </p:sp>
        <p:sp>
          <p:nvSpPr>
            <p:cNvPr name="AutoShape 44" id="44"/>
            <p:cNvSpPr/>
            <p:nvPr/>
          </p:nvSpPr>
          <p:spPr>
            <a:xfrm>
              <a:off x="165620" y="8131631"/>
              <a:ext cx="3504797" cy="3562626"/>
            </a:xfrm>
            <a:prstGeom prst="line">
              <a:avLst/>
            </a:prstGeom>
            <a:ln cap="flat" w="38100">
              <a:solidFill>
                <a:srgbClr val="8CA9AD"/>
              </a:solidFill>
              <a:prstDash val="solid"/>
              <a:headEnd type="none" len="sm" w="sm"/>
              <a:tailEnd type="none" len="sm" w="sm"/>
            </a:ln>
          </p:spPr>
        </p:sp>
        <p:sp>
          <p:nvSpPr>
            <p:cNvPr name="AutoShape 45" id="45"/>
            <p:cNvSpPr/>
            <p:nvPr/>
          </p:nvSpPr>
          <p:spPr>
            <a:xfrm>
              <a:off x="676661" y="9346264"/>
              <a:ext cx="1790115" cy="1790115"/>
            </a:xfrm>
            <a:prstGeom prst="line">
              <a:avLst/>
            </a:prstGeom>
            <a:ln cap="flat" w="38100">
              <a:solidFill>
                <a:srgbClr val="8CA9AD"/>
              </a:solidFill>
              <a:prstDash val="solid"/>
              <a:headEnd type="none" len="sm" w="sm"/>
              <a:tailEnd type="none" len="sm" w="sm"/>
            </a:ln>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DAGW1lqpA7o</dc:identifier>
  <dcterms:modified xsi:type="dcterms:W3CDTF">2011-08-01T06:04:30Z</dcterms:modified>
  <cp:revision>1</cp:revision>
  <dc:title>Lab05</dc:title>
</cp:coreProperties>
</file>